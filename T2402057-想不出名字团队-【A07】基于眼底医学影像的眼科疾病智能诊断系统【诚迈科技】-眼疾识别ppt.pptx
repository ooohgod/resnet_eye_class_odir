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embeddedFontLst>
    <p:embeddedFont>
      <p:font typeface="HelloFont WenYiHei" panose="02010600030101010101" charset="-122"/>
      <p:regular r:id="rId22"/>
    </p:embeddedFont>
    <p:embeddedFont>
      <p:font typeface="OPPOSans B" panose="02010600030101010101" charset="-122"/>
      <p:regular r:id="rId23"/>
    </p:embeddedFont>
    <p:embeddedFont>
      <p:font typeface="OPPOSans H" panose="02010600030101010101" charset="-122"/>
      <p:regular r:id="rId24"/>
    </p:embeddedFont>
    <p:embeddedFont>
      <p:font typeface="Source Han Sans CN Bold Bold" panose="02010600030101010101" charset="-122"/>
      <p:regular r:id="rId25"/>
    </p:embeddedFont>
    <p:embeddedFont>
      <p:font typeface="Source Han Sans CN Normal" panose="02010600030101010101" charset="-122"/>
      <p:regular r:id="rId26"/>
    </p:embeddedFont>
    <p:embeddedFont>
      <p:font typeface="Cambria Math" panose="02040503050406030204" pitchFamily="18" charset="0"/>
      <p:regular r:id="rId2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283" autoAdjust="0"/>
  </p:normalViewPr>
  <p:slideViewPr>
    <p:cSldViewPr snapToGrid="0">
      <p:cViewPr>
        <p:scale>
          <a:sx n="75" d="100"/>
          <a:sy n="75" d="100"/>
        </p:scale>
        <p:origin x="41" y="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1650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团队编号：时间：T24020572025.4多特征融合的眼底视网膜疾病识别系统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CONTENT目录010203作品概述需求分析系统设计</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PART01作品概述</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02010304眼科疾病如糖尿病视网膜病变、青光眼、老年性黄斑变性等，是全球范围内导致失明的主要因素。据统计，糖尿病视网膜病变是糖尿病的严重并发症之一，也是中青年人群致盲的主要原因；青光眼作为一种不可逆的致盲性眼病，全球患者众多；老年性黄斑变性在老年人中发病率较高，严重影响老年人的视力和生活质量。这些疾病不仅给患者带来身体和心理上的痛苦，也给家庭和社会带来沉重的负担。背景及研发意义传统的眼疾诊断主要依赖医生经验阅片，但目前我国眼科医生资源匮乏，特别是基层医疗资源不足，导致早期筛查覆盖率低。同时，传统诊断方式还存在定量评估缺乏标准化工具、单模态影像诊断局限性等问题，容易造成误诊和漏诊。深度学习技术在医学影像分析领域表现出色，能够快速、准确地捕捉早期病变特征，为疾病的早期诊断提供了可能。它还能推动多学科诊疗模式的发展，整合不同学科的知识和技术，为患者提供更全面、更精准的治疗方案。目前已有一些AI眼科系统落地应用，如澳大利亚科研团队开发的利用人工智能分析视网膜图像识别糖尿病视网膜病变的系统，准确率达98%，这充分验证了AI技术在眼疾诊断中的可行性。研发自动化眼疾识别诊断算法，能够有效改善眼疾诊断现状，提高医疗效率和质量。它可以帮助医生快速、准确地诊断疾病，减少误诊和漏诊的发生；还能让更多患者，尤其是医疗资源匮乏地区的患者，及时得到诊断和治疗，具有重大的现实意义。</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传统的算法，包括随机森林、k-邻近、支持向量机和adaboost等，已在眼疾检测领域有所运用，它们依靠提取图像特征后用分类器来区分样本，如支持向量机通过确定最佳分类界面来分隔样本。但这些技术高度依赖人工特征工程，并且在处理高复杂性的图像数据时常常表现不佳。相比之下，深度学习技术，分为全监督和半监督学习，前者依赖大量标注数据进行训练，以获取数据的高级特征，在图像分类和目标识别等方面表现出色；后者结合了少量标注和大量未标注数据来减少对标注信息的依赖。例如，基于深度学习的眼疾检测模型能够自动地学习眼底图像特征，从而提升识别精度。尽管如此，深度学习技术也存在缺陷，比如模型的解释性不强，以及对大量计算资源和数据的需求。基于机器学习眼疾识别方法总结国内外研究现状眼底图像通常存在对比度低、光照不均匀、细节模糊等问题，这给图像分析和疾病诊断带来了困难。例如，低对比度的图像可能会掩盖病变的细节，光照不均匀会导致图像某些区域过亮或过暗，影响特征提取。
现有图像增强方法包括HCCIEE算法、CLAHE方法、基于深度学习的方法等。HCCIEE算法通过对图像的直方图进行调整，增强图像的对比度；CLAHE方法则是一种自适应的直方图均衡化方法，能够更好地保留图像的细节。基于深度学习的方法，如生成对抗网络（GAN），可以通过生成器和判别器的对抗训练，生成高质量的增强图像。这些方法各有优势和不足，例如HCCIEE算法和CLAHE方法计算相对简单，但在增强效果上可能有限；基于深度学习的方法增强效果较好，但模型训练复杂，需要大量的数据和计算资源。眼底图像增强研究现状</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数据预处理策略探究高斯、中值等滤波技术以减少图像噪声，并通过实验选取最优滤波方案提升眼底图像质量。运用直方图均衡化和自适应对比度增强优化图像细节。针对数据集类别不平衡，实施旋转、翻转、缩放等数据扩充手段，以增强模型泛化。主要研究内容多特征融合模型设计以VGG16为基础网络，结合注意力机制、残差连接等技术，从多方面构建新模型。注意力机制可以使模型更加关注图像中的关键区域，提高特征提取的效率；残差连接则有助于解决深度神经网络中的梯度消失问题，使模型能够学习到更深层次的特征。
深入剖析模型算法，包括卷积层、池化层、全连接层等的设计和参数调整，以及多特征融合的方式和策略。例如，如何将不同层次的特征进行融合，以充分利用图像的信息。通过实验不断优化模型的构建方案，提高模型的性能。模型实验分析与验证明确实验评价指标，如准确率、召回率、F1值等，全面评估模型的性能。这些指标可以从不同角度反映模型的分类能力，准确率表示模型预测正确的样本占总样本的比例，召回率表示实际为正样本且被模型正确预测的样本占实际正样本的比例，F1值则是综合考虑准确率和召回率的指标。
规划实验流程，包括数据集的划分、模型的训练、验证和测试等环节。在训练过程中，采用交叉验证的方法，提高实验结果的可靠性。通过实验探究改进模块对模型性能的影响，例如注意力机制、多特征融合等模块对模型准确率、召回率的提升效果。
筛选最佳模型，并与其他相关模型进行对比，验证模型的有效性。通过对比实验，展示所提出模型在眼底视网膜疾病识别中的优势，如更高的准确率、更好的泛化能力等。</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PART02需求分析</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随着社会的发展，医疗资源分布不均的问题日益凸显，尤其是在眼科领域。同时，人口老龄化进程加快，眼部疾病的发病率呈上升趋势，传统的人工阅片方式难以满足海量眼底影像的判读需求。例如，在一些基层医疗机构，由于缺乏专业的眼科医生，大量的眼底影像无法得到及时、准确的诊断。因此，迫切需要智能化的手段来提升诊断效率与一致性，实现对眼疾的快速、准确筛查和诊断。需求驱动因素需求概述系统应具备常见眼科疾病的自动化识别能力，能够快速、准确地判断出患者是否患有眼疾以及患有的具体疾病类型。
解决双目影像协同分析问题，充分利用左右眼图像的信息，提高诊断的准确性。例如，通过对双目眼底影像的对比分析，可以发现一些单眼影像难以察觉的病变。
实现病理特征的动态捕捉，能够实时跟踪病变的发展变化，为医生提供更全面的病情信息。
为不同医疗机构，包括基层医疗机构、综合医院、健康管理机构等，提供个性化的辅助支持，满足不同场景下的诊断需求。系统关键需求</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影像处理链路构建完整的双目眼底影像输入分析与疾病分类输出处理链路，确保系统能够高效、准确地处理眼底影像数据。该链路应具备强大的兼容性，能够同时处理左右眼图像输入，无论是不同分辨率、不同格式的图像，都能进行有效的分析和处理。功能需求特征提取与融合运用先进的深度学习技术，如卷积神经网络（CNN），对眼底图像进行特征提取。CNN能够自动学习图像中的特征，减少噪声干扰，提高特征提取的准确性。
采用多模态特征融合方法，精准融合双视角病理特征。例如，将眼底图像的颜色特征、纹理特征、结构特征等进行融合，充分利用图像的各种信息，提高疾病识别的准确率。疾病识别分类基于深度学习模型，如ResNet、Inception等，提取关键病症表征。这些模型具有强大的特征学习能力，能够准确地识别出眼底图像中的病变特征。
实现7种常见眼疾及其他疾病/异常的智能判别，包括糖尿病视网膜病变、青光眼、老年性黄斑变性、视网膜静脉阻塞、黄斑裂孔、视网膜脱离、白内障等。同时，能够准确区分正常类别，避免误诊和漏诊。</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系统应具备实时响应能力，能够在短时间内完成眼底影像的处理和分析，为医生提供及时的诊断结果。在高并发场景下，如大规模的体检筛查中，系统应保持稳定运行，保证服务的可靠性，确保每个用户都能得到准确、及时的服务。性能要求非功能需求提供贴合临床工作流程的可视化界面，界面设计应简洁明了，易于操作。医生可以通过界面方便地查看眼底影像、诊断结果和相关报告，提高工作效率。
平衡算法复杂性与结果可解释性，采用可视化技术，如热力图、特征图等，将模型的决策过程和结果以直观的方式展示给医生，帮助医生理解和信任系统的诊断结果。人机交互系统应具备良好的硬件兼容性，能够适配主流医疗影像设备，如眼底相机、光学相干断层扫描仪（OCT）等。无论设备的品牌、型号如何，系统都能与之无缝对接，实现数据的快速传输和处理。硬件兼容</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基层医疗机构在基层医疗机构中，系统可用于快速筛查。通过对大量患者的眼底影像进行自动分析，能够快速发现异常病例，提升异常病例的检出效率。这有助于缓解基层专业医师短缺的压力，使基层医生能够借助系统的力量，为患者提供更准确的诊断服务。应用场景综合医院在综合医院，系统作为辅助诊断工具，能够优化临床决策流程。医生在诊断过程中，可以参考系统提供的诊断结果和建议，降低人为误判的风险，提高诊断的准确性和可靠性。健康管理机构健康管理机构可以利用系统对高风险人群进行动态监测。例如，对患有糖尿病、高血压等慢性疾病的人群，定期进行眼底检查和分析，及时发现潜在的眼部病变，为他们提供早期预警，帮助他们采取相应的预防和治疗措施。其他领域在医疗保险领域，系统可以辅助保险公司对投保人的健康状况进行评估，降低保险欺诈的风险。在远程医疗领域，系统可以实现患者眼底影像的远程诊断，使患者无需前往大医院，就能得到专业的诊断服务，提高医疗资源的利用效率。</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PART03系统设计</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0201数据集包含八类标签，分别对应不同的眼疾类型和正常状态。通过展示部分案例，直观地呈现各类标签所代表的眼部状况。
对确诊病例的年龄分布进行分析，了解不同年龄段眼疾的发病情况。例如，发现老年性黄斑变性主要集中在老年人群，而糖尿病视网膜病变在中青年糖尿病患者中较为常见。
统计各类疾病在数据集中的占比，分析患病种类分布。这有助于了解不同眼疾的发病概率，为模型的训练和评估提供重要参考。标签信息数据集介绍数据集中的图片来源于多个医疗中心及医院，由于拍摄设备多样，导致图片的分辨率、大小存在差异。例如，有些图片分辨率较高，能够清晰地显示眼底的细节；而有些图片分辨率较低，可能会影响病变的识别。
部分图片存在阴影噪声多、对比度低等问题，这些问题会干扰图像分析和疾病诊断。例如，阴影噪声可能会掩盖病变的特征，低对比度的图像可能会使病变难以辨认。因此，需要对这些图片进行预处理，以提高图像质量。图片数据分析</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不同分辨率的图片对模型特征提取和分类指标影响较大。高分辨率图片包含更多的细节信息，但也会增加模型的计算负担；低分辨率图片虽然计算量小，但可能会丢失一些关键信息。通过展示不同分辨率图片示例，直观地说明分辨率对图像分析的影响。采集成像图片差异大数据集分类识别中的困难与挑战各类眼疾数据数量差异大，严重不平衡的数据会误导模型分类。例如，某些罕见眼疾的数据量较少，而常见眼疾的数据量较多，模型在训练过程中可能会更倾向于学习常见眼疾的特征，从而导致对罕见眼疾的识别准确率较低。通过展示数据统计图，清晰地呈现数据不平衡的情况。数据不平衡性眼部可能患多种疾病，多标签诊断具有重要实际意义。例如，一个患者可能同时患有糖尿病视网膜病变和青光眼，准确识别多种疾病对于制定治疗方案至关重要。通过展示多标签疾病图片示例，说明多标签诊断的必要性。多标签性</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首先切除图像的黑边，去除无用信息，减少数据量。然后调整数据大小，使所有图像具有统一的尺寸，方便后续的处理和分析。
通过对比度增强算法，如直方图均衡化、自适应直方图均衡化等，扩大图像的对比度，使图像的细节更加清晰。
采用降噪处理方法，如高斯滤波、中值滤波等，去除图像中的噪声，提高图像质量。
为了实现样本平衡，采用数据扩充技术，如旋转、翻转、缩放等，增加少数类别的样本数量。
最后进行数据归一化，将图像的像素值映射到一定的范围内，缩短网络训练时间，提高模型的收敛速度。展示预处理流程图，清晰地呈现整个预处理过程。预处理流程双目彩色眼底图像数据预处理拆分左右眼联合数据，将左右眼的图像分别进行处理和分析。对疾病关键词进行处理，提取关键信息，以便更好地进行疾病分类。
应用分类规则，根据图像的特征和疾病关键词，对图像进行分类。剔除无效数据，如模糊不清、无法识别的图像，确保数据集的质量。最终输出包含有效信息的表格，为后续的模型训练提供数据支持。数据拆分</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0102通过灰度阈值检测剪裁黑边，去除图像周围的无用部分。然后调整图像大小，将其统一成224×224的尺寸，这是许多深度学习模型输入图像的标准尺寸。展示黑边裁剪和统一大小前后的图像对比，直观地呈现标准化的效果。图像标准化图像标准化与归一化将像素值从[0,255]转换到[0,1]，通过归一化处理，削弱数值对模型训练的干扰，使模型更容易收敛。给出归一化公式，如$x_{norm}=\frac{x - x_{min}}{x_{max}- x_{min}}$，其中$x$为原始像素值，$x_{min}$和$x_{max}$分别为图像像素值的最小值和最大值。展示图像增强前后对比示例，说明归一化对图像特征的影响。图像归一化</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从质量增强和数据扩增两个维度进行图像增强。质量增强包括降噪、色彩校正、对比度优化等操作，通过这些操作提升图像的质量，使图像更加清晰、准确地反映眼部状况。数据扩增则采用翻转、旋转、缩放等操作，增加数据的多样性，提高模型的泛化能力。图像增强图像增强与去噪Ben Graham方法结合高斯模糊技术去噪，通过模拟散焦模糊定义，对图像进行平滑处理，去除噪声。介绍高斯模糊参数，如核大小、标准差等，以及这些参数对去噪效果的影响。例如，较大的核大小和标准差可以使图像更加平滑，但也可能会丢失一些细节信息。图像去噪 - Ben Graham方法以青光眼和糖尿病视网膜病变为例，说明智能识别技术在降噪时保留病灶形态特征的重要性。青光眼的病灶通常表现为视神经乳头的凹陷和萎缩，糖尿病视网膜病变的病灶则包括微血管瘤、出血、渗出等。在去噪过程中，要确保这些病灶的形态特征不被破坏，以便准确诊断疾病。医学适应性Ben Graham加权叠加方法通过融合原图与高斯模糊图像，提升血管对比度。介绍融合比例的选择和原理，例如，适当的融合比例可以使血管更加清晰，同时保持图像的其他细节。通过实验对比不同融合比例下的图像效果，选择最佳的融合比例。对比度增强针对数据类别不均衡问题，采用多种数据扩充手段，如随机裁剪、亮度调整、饱和度调整等。展示扩充前后的图像示例，直观地呈现数据扩增的效果。通过数据扩增，增加少数类别的样本数量，使数据集更加均衡，提高模型的分类能力。数据扩增</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基于双分支深度学习，构建包含双路特征提取器、特征融合层、分类器模块、动态阈值机制的模型架构。双路特征提取器采用骨干网络ResNet18d，能够有效地提取图像的特征。特征融合层将双路特征提取器提取的特征进行融合，充分利用图像的信息。分类器模块根据融合后的特征进行疾病分类，动态阈值机制则根据不同的疾病类型和数据分布，自适应地调整分类阈值，提高分类的准确性。介绍各模块的功能及整体架构实现框架，展示模型的结构示意图。模型架构概述眼疾识别模型设计迁移学习与微调策略：利用在大规模图像数据集上预训练的模型，如ImageNet上预训练的ResNet18d模型，将其迁移到眼疾识别任务中。然后通过微调模型的参数，使其适应眼底图像的特征和疾病分类任务。
多模态特征交互机制：通过设计特定的网络结构，如注意力机制、融合层等，实现多模态特征的交互和融合。例如，注意力机制可以使模型更加关注图像中的关键区域，提高特征提取的效率；融合层则将不同模态的特征进行融合，充分利用图像的各种信息。
类别不平衡优化（Focal Loss）：针对数据集中类别不平衡的问题，采用Focal Loss损失函数。Focal Loss通过对容易分类的样本降低权重，对难分类的样本增加权重，使模型更加关注少数类别的样本核心算法原理</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团队编号：时间：谢谢大家T24020572025.4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jp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8871626" cy="6858000"/>
          </a:xfrm>
          <a:custGeom>
            <a:avLst/>
            <a:gdLst>
              <a:gd name="connsiteX0" fmla="*/ 0 w 8871626"/>
              <a:gd name="connsiteY0" fmla="*/ 0 h 6858000"/>
              <a:gd name="connsiteX1" fmla="*/ 6674736 w 8871626"/>
              <a:gd name="connsiteY1" fmla="*/ 0 h 6858000"/>
              <a:gd name="connsiteX2" fmla="*/ 6730884 w 8871626"/>
              <a:gd name="connsiteY2" fmla="*/ 25301 h 6858000"/>
              <a:gd name="connsiteX3" fmla="*/ 8871626 w 8871626"/>
              <a:gd name="connsiteY3" fmla="*/ 3495454 h 6858000"/>
              <a:gd name="connsiteX4" fmla="*/ 7016421 w 8871626"/>
              <a:gd name="connsiteY4" fmla="*/ 6807477 h 6858000"/>
              <a:gd name="connsiteX5" fmla="*/ 6928992 w 8871626"/>
              <a:gd name="connsiteY5" fmla="*/ 6858000 h 6858000"/>
              <a:gd name="connsiteX6" fmla="*/ 0 w 8871626"/>
              <a:gd name="connsiteY6" fmla="*/ 6858000 h 6858000"/>
            </a:gdLst>
            <a:ahLst/>
            <a:cxnLst/>
            <a:rect l="l" t="t" r="r" b="b"/>
            <a:pathLst>
              <a:path w="8871626" h="6858000">
                <a:moveTo>
                  <a:pt x="0" y="0"/>
                </a:moveTo>
                <a:lnTo>
                  <a:pt x="6674736" y="0"/>
                </a:lnTo>
                <a:lnTo>
                  <a:pt x="6730884" y="25301"/>
                </a:lnTo>
                <a:cubicBezTo>
                  <a:pt x="7999672" y="658995"/>
                  <a:pt x="8871626" y="1974884"/>
                  <a:pt x="8871626" y="3495454"/>
                </a:cubicBezTo>
                <a:cubicBezTo>
                  <a:pt x="8871626" y="4899057"/>
                  <a:pt x="8128660" y="6128257"/>
                  <a:pt x="7016421" y="6807477"/>
                </a:cubicBezTo>
                <a:lnTo>
                  <a:pt x="6928992" y="6858000"/>
                </a:lnTo>
                <a:lnTo>
                  <a:pt x="0" y="6858000"/>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871626" y="0"/>
            <a:ext cx="3320374" cy="6858000"/>
          </a:xfrm>
          <a:custGeom>
            <a:avLst/>
            <a:gdLst>
              <a:gd name="connsiteX0" fmla="*/ 2872902 w 3457103"/>
              <a:gd name="connsiteY0" fmla="*/ 0 h 6858000"/>
              <a:gd name="connsiteX1" fmla="*/ 3457103 w 3457103"/>
              <a:gd name="connsiteY1" fmla="*/ 0 h 6858000"/>
              <a:gd name="connsiteX2" fmla="*/ 3457103 w 3457103"/>
              <a:gd name="connsiteY2" fmla="*/ 6858000 h 6858000"/>
              <a:gd name="connsiteX3" fmla="*/ 2872902 w 3457103"/>
              <a:gd name="connsiteY3" fmla="*/ 6858000 h 6858000"/>
              <a:gd name="connsiteX4" fmla="*/ 2661424 w 3457103"/>
              <a:gd name="connsiteY4" fmla="*/ 6858000 h 6858000"/>
              <a:gd name="connsiteX5" fmla="*/ 2524483 w 3457103"/>
              <a:gd name="connsiteY5" fmla="*/ 6853539 h 6858000"/>
              <a:gd name="connsiteX6" fmla="*/ 0 w 3457103"/>
              <a:gd name="connsiteY6" fmla="*/ 3429001 h 6858000"/>
              <a:gd name="connsiteX7" fmla="*/ 2661439 w 3457103"/>
              <a:gd name="connsiteY7" fmla="*/ 1 h 6858000"/>
              <a:gd name="connsiteX8" fmla="*/ 2872902 w 3457103"/>
              <a:gd name="connsiteY8" fmla="*/ 1 h 6858000"/>
            </a:gdLst>
            <a:ahLst/>
            <a:cxnLst/>
            <a:rect l="l" t="t" r="r" b="b"/>
            <a:pathLst>
              <a:path w="3457103" h="6858000">
                <a:moveTo>
                  <a:pt x="2872902" y="0"/>
                </a:moveTo>
                <a:lnTo>
                  <a:pt x="3457103" y="0"/>
                </a:lnTo>
                <a:lnTo>
                  <a:pt x="3457103" y="6858000"/>
                </a:lnTo>
                <a:lnTo>
                  <a:pt x="2872902" y="6858000"/>
                </a:lnTo>
                <a:lnTo>
                  <a:pt x="2661424" y="6858000"/>
                </a:lnTo>
                <a:lnTo>
                  <a:pt x="2524483" y="6853539"/>
                </a:lnTo>
                <a:cubicBezTo>
                  <a:pt x="1118259" y="6761700"/>
                  <a:pt x="0" y="5263604"/>
                  <a:pt x="0" y="3429001"/>
                </a:cubicBezTo>
                <a:cubicBezTo>
                  <a:pt x="-1" y="1535217"/>
                  <a:pt x="1191567" y="1"/>
                  <a:pt x="2661439" y="1"/>
                </a:cubicBezTo>
                <a:lnTo>
                  <a:pt x="2872902" y="1"/>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488950" y="514350"/>
            <a:ext cx="11214100" cy="5829300"/>
          </a:xfrm>
          <a:prstGeom prst="rect">
            <a:avLst/>
          </a:prstGeom>
          <a:solidFill>
            <a:schemeClr val="bg1"/>
          </a:solidFill>
          <a:ln w="9525" cap="sq">
            <a:solidFill>
              <a:schemeClr val="accent1">
                <a:lumMod val="60000"/>
                <a:lumOff val="40000"/>
              </a:schemeClr>
            </a:solidFill>
            <a:miter/>
          </a:ln>
          <a:effectLst>
            <a:outerShdw blurRad="63500" sx="101000" sy="101000" algn="ctr" rotWithShape="0">
              <a:schemeClr val="accent1">
                <a:lumMod val="60000"/>
                <a:lumOff val="40000"/>
                <a:alpha val="4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503408" y="532076"/>
            <a:ext cx="4989228" cy="5829300"/>
          </a:xfrm>
          <a:custGeom>
            <a:avLst/>
            <a:gdLst>
              <a:gd name="connsiteX0" fmla="*/ 140769 w 4989228"/>
              <a:gd name="connsiteY0" fmla="*/ 0 h 5829300"/>
              <a:gd name="connsiteX1" fmla="*/ 4989228 w 4989228"/>
              <a:gd name="connsiteY1" fmla="*/ 0 h 5829300"/>
              <a:gd name="connsiteX2" fmla="*/ 4989228 w 4989228"/>
              <a:gd name="connsiteY2" fmla="*/ 5829300 h 5829300"/>
              <a:gd name="connsiteX3" fmla="*/ 140769 w 4989228"/>
              <a:gd name="connsiteY3" fmla="*/ 5829300 h 5829300"/>
              <a:gd name="connsiteX4" fmla="*/ 140769 w 4989228"/>
              <a:gd name="connsiteY4" fmla="*/ 0 h 5829300"/>
            </a:gdLst>
            <a:ahLst/>
            <a:cxnLst/>
            <a:rect l="l" t="t" r="r" b="b"/>
            <a:pathLst>
              <a:path w="4989228" h="5829300">
                <a:moveTo>
                  <a:pt x="140769" y="0"/>
                </a:moveTo>
                <a:lnTo>
                  <a:pt x="4989228" y="0"/>
                </a:lnTo>
                <a:lnTo>
                  <a:pt x="4989228" y="5829300"/>
                </a:lnTo>
                <a:lnTo>
                  <a:pt x="140769" y="5829300"/>
                </a:lnTo>
                <a:cubicBezTo>
                  <a:pt x="-417228" y="3973986"/>
                  <a:pt x="916940" y="2135159"/>
                  <a:pt x="140769" y="0"/>
                </a:cubicBezTo>
                <a:close/>
              </a:path>
            </a:pathLst>
          </a:custGeom>
          <a:solidFill>
            <a:schemeClr val="accent1">
              <a:lumMod val="40000"/>
              <a:lumOff val="60000"/>
              <a:alpha val="58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6" name="图片 5"/>
          <p:cNvPicPr>
            <a:picLocks noChangeAspect="1"/>
          </p:cNvPicPr>
          <p:nvPr/>
        </p:nvPicPr>
        <p:blipFill>
          <a:blip r:embed="rId3">
            <a:alphaModFix/>
          </a:blip>
          <a:srcRect l="26014" r="26014"/>
          <a:stretch>
            <a:fillRect/>
          </a:stretch>
        </p:blipFill>
        <p:spPr>
          <a:xfrm>
            <a:off x="6757383" y="549802"/>
            <a:ext cx="4989229" cy="5829300"/>
          </a:xfrm>
          <a:custGeom>
            <a:avLst/>
            <a:gdLst>
              <a:gd name="connsiteX0" fmla="*/ 140770 w 4989229"/>
              <a:gd name="connsiteY0" fmla="*/ 0 h 5829300"/>
              <a:gd name="connsiteX1" fmla="*/ 4989229 w 4989229"/>
              <a:gd name="connsiteY1" fmla="*/ 0 h 5829300"/>
              <a:gd name="connsiteX2" fmla="*/ 4989229 w 4989229"/>
              <a:gd name="connsiteY2" fmla="*/ 5829300 h 5829300"/>
              <a:gd name="connsiteX3" fmla="*/ 140770 w 4989229"/>
              <a:gd name="connsiteY3" fmla="*/ 5829300 h 5829300"/>
              <a:gd name="connsiteX4" fmla="*/ 140770 w 4989229"/>
              <a:gd name="connsiteY4" fmla="*/ 0 h 5829300"/>
            </a:gdLst>
            <a:ahLst/>
            <a:cxnLst/>
            <a:rect l="l" t="t" r="r" b="b"/>
            <a:pathLst>
              <a:path w="4989229" h="5829300">
                <a:moveTo>
                  <a:pt x="140770" y="0"/>
                </a:moveTo>
                <a:lnTo>
                  <a:pt x="4989229" y="0"/>
                </a:lnTo>
                <a:lnTo>
                  <a:pt x="4989229" y="5829300"/>
                </a:lnTo>
                <a:lnTo>
                  <a:pt x="140770" y="5829300"/>
                </a:lnTo>
                <a:cubicBezTo>
                  <a:pt x="-417227" y="3973986"/>
                  <a:pt x="916941" y="2135159"/>
                  <a:pt x="140770" y="0"/>
                </a:cubicBezTo>
                <a:close/>
              </a:path>
            </a:pathLst>
          </a:custGeom>
          <a:noFill/>
          <a:ln>
            <a:noFill/>
          </a:ln>
        </p:spPr>
      </p:pic>
      <p:sp>
        <p:nvSpPr>
          <p:cNvPr id="7" name="标题 1"/>
          <p:cNvSpPr txBox="1"/>
          <p:nvPr/>
        </p:nvSpPr>
        <p:spPr>
          <a:xfrm>
            <a:off x="5500673" y="5875987"/>
            <a:ext cx="618219" cy="317684"/>
          </a:xfrm>
          <a:custGeom>
            <a:avLst/>
            <a:gdLst>
              <a:gd name="connsiteX0" fmla="*/ 323260 w 505487"/>
              <a:gd name="connsiteY0" fmla="*/ 0 h 182227"/>
              <a:gd name="connsiteX1" fmla="*/ 414374 w 505487"/>
              <a:gd name="connsiteY1" fmla="*/ 0 h 182227"/>
              <a:gd name="connsiteX2" fmla="*/ 505487 w 505487"/>
              <a:gd name="connsiteY2" fmla="*/ 91114 h 182227"/>
              <a:gd name="connsiteX3" fmla="*/ 414374 w 505487"/>
              <a:gd name="connsiteY3" fmla="*/ 182227 h 182227"/>
              <a:gd name="connsiteX4" fmla="*/ 323260 w 505487"/>
              <a:gd name="connsiteY4" fmla="*/ 182227 h 182227"/>
              <a:gd name="connsiteX5" fmla="*/ 414374 w 505487"/>
              <a:gd name="connsiteY5" fmla="*/ 91114 h 182227"/>
              <a:gd name="connsiteX6" fmla="*/ 155338 w 505487"/>
              <a:gd name="connsiteY6" fmla="*/ 0 h 182227"/>
              <a:gd name="connsiteX7" fmla="*/ 246452 w 505487"/>
              <a:gd name="connsiteY7" fmla="*/ 0 h 182227"/>
              <a:gd name="connsiteX8" fmla="*/ 337565 w 505487"/>
              <a:gd name="connsiteY8" fmla="*/ 91114 h 182227"/>
              <a:gd name="connsiteX9" fmla="*/ 246452 w 505487"/>
              <a:gd name="connsiteY9" fmla="*/ 182227 h 182227"/>
              <a:gd name="connsiteX10" fmla="*/ 155338 w 505487"/>
              <a:gd name="connsiteY10" fmla="*/ 182227 h 182227"/>
              <a:gd name="connsiteX11" fmla="*/ 246452 w 505487"/>
              <a:gd name="connsiteY11" fmla="*/ 91114 h 182227"/>
              <a:gd name="connsiteX12" fmla="*/ 0 w 505487"/>
              <a:gd name="connsiteY12" fmla="*/ 0 h 182227"/>
              <a:gd name="connsiteX13" fmla="*/ 91114 w 505487"/>
              <a:gd name="connsiteY13" fmla="*/ 0 h 182227"/>
              <a:gd name="connsiteX14" fmla="*/ 182227 w 505487"/>
              <a:gd name="connsiteY14" fmla="*/ 91114 h 182227"/>
              <a:gd name="connsiteX15" fmla="*/ 91114 w 505487"/>
              <a:gd name="connsiteY15" fmla="*/ 182227 h 182227"/>
              <a:gd name="connsiteX16" fmla="*/ 0 w 505487"/>
              <a:gd name="connsiteY16" fmla="*/ 182227 h 182227"/>
              <a:gd name="connsiteX17" fmla="*/ 91114 w 505487"/>
              <a:gd name="connsiteY17" fmla="*/ 91114 h 182227"/>
            </a:gdLst>
            <a:ahLst/>
            <a:cxnLst/>
            <a:rect l="l" t="t" r="r" b="b"/>
            <a:pathLst>
              <a:path w="505487" h="182227">
                <a:moveTo>
                  <a:pt x="323260" y="0"/>
                </a:moveTo>
                <a:lnTo>
                  <a:pt x="414374" y="0"/>
                </a:lnTo>
                <a:lnTo>
                  <a:pt x="505487" y="91114"/>
                </a:lnTo>
                <a:lnTo>
                  <a:pt x="414374" y="182227"/>
                </a:lnTo>
                <a:lnTo>
                  <a:pt x="323260" y="182227"/>
                </a:lnTo>
                <a:lnTo>
                  <a:pt x="414374" y="91114"/>
                </a:lnTo>
                <a:close/>
                <a:moveTo>
                  <a:pt x="155338" y="0"/>
                </a:moveTo>
                <a:lnTo>
                  <a:pt x="246452" y="0"/>
                </a:lnTo>
                <a:lnTo>
                  <a:pt x="337565" y="91114"/>
                </a:lnTo>
                <a:lnTo>
                  <a:pt x="246452" y="182227"/>
                </a:lnTo>
                <a:lnTo>
                  <a:pt x="155338" y="182227"/>
                </a:lnTo>
                <a:lnTo>
                  <a:pt x="246452" y="91114"/>
                </a:lnTo>
                <a:close/>
                <a:moveTo>
                  <a:pt x="0" y="0"/>
                </a:moveTo>
                <a:lnTo>
                  <a:pt x="91114" y="0"/>
                </a:lnTo>
                <a:lnTo>
                  <a:pt x="182227" y="91114"/>
                </a:lnTo>
                <a:lnTo>
                  <a:pt x="91114" y="182227"/>
                </a:lnTo>
                <a:lnTo>
                  <a:pt x="0" y="182227"/>
                </a:lnTo>
                <a:lnTo>
                  <a:pt x="91114" y="91114"/>
                </a:lnTo>
                <a:close/>
              </a:path>
            </a:pathLst>
          </a:custGeom>
          <a:gradFill>
            <a:gsLst>
              <a:gs pos="9000">
                <a:schemeClr val="accent1"/>
              </a:gs>
              <a:gs pos="96000">
                <a:schemeClr val="accent1">
                  <a:lumMod val="20000"/>
                  <a:lumOff val="80000"/>
                </a:schemeClr>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724972" y="4375456"/>
            <a:ext cx="5017703" cy="132727"/>
          </a:xfrm>
          <a:custGeom>
            <a:avLst/>
            <a:gdLst>
              <a:gd name="connsiteX0" fmla="*/ 4821290 w 5017703"/>
              <a:gd name="connsiteY0" fmla="*/ 0 h 132727"/>
              <a:gd name="connsiteX1" fmla="*/ 4900540 w 5017703"/>
              <a:gd name="connsiteY1" fmla="*/ 0 h 132727"/>
              <a:gd name="connsiteX2" fmla="*/ 5017703 w 5017703"/>
              <a:gd name="connsiteY2" fmla="*/ 66364 h 132727"/>
              <a:gd name="connsiteX3" fmla="*/ 4900540 w 5017703"/>
              <a:gd name="connsiteY3" fmla="*/ 132727 h 132727"/>
              <a:gd name="connsiteX4" fmla="*/ 4821290 w 5017703"/>
              <a:gd name="connsiteY4" fmla="*/ 132727 h 132727"/>
              <a:gd name="connsiteX5" fmla="*/ 4882184 w 5017703"/>
              <a:gd name="connsiteY5" fmla="*/ 98236 h 132727"/>
              <a:gd name="connsiteX6" fmla="*/ 31873 w 5017703"/>
              <a:gd name="connsiteY6" fmla="*/ 98236 h 132727"/>
              <a:gd name="connsiteX7" fmla="*/ 0 w 5017703"/>
              <a:gd name="connsiteY7" fmla="*/ 66363 h 132727"/>
              <a:gd name="connsiteX8" fmla="*/ 31873 w 5017703"/>
              <a:gd name="connsiteY8" fmla="*/ 34490 h 132727"/>
              <a:gd name="connsiteX9" fmla="*/ 4882181 w 5017703"/>
              <a:gd name="connsiteY9" fmla="*/ 34490 h 132727"/>
            </a:gdLst>
            <a:ahLst/>
            <a:cxnLst/>
            <a:rect l="l" t="t" r="r" b="b"/>
            <a:pathLst>
              <a:path w="5017703" h="132727">
                <a:moveTo>
                  <a:pt x="4821290" y="0"/>
                </a:moveTo>
                <a:lnTo>
                  <a:pt x="4900540" y="0"/>
                </a:lnTo>
                <a:lnTo>
                  <a:pt x="5017703" y="66364"/>
                </a:lnTo>
                <a:lnTo>
                  <a:pt x="4900540" y="132727"/>
                </a:lnTo>
                <a:lnTo>
                  <a:pt x="4821290" y="132727"/>
                </a:lnTo>
                <a:lnTo>
                  <a:pt x="4882184" y="98236"/>
                </a:lnTo>
                <a:lnTo>
                  <a:pt x="31873" y="98236"/>
                </a:lnTo>
                <a:cubicBezTo>
                  <a:pt x="14270" y="98236"/>
                  <a:pt x="0" y="83966"/>
                  <a:pt x="0" y="66363"/>
                </a:cubicBezTo>
                <a:cubicBezTo>
                  <a:pt x="0" y="48760"/>
                  <a:pt x="14270" y="34490"/>
                  <a:pt x="31873" y="34490"/>
                </a:cubicBezTo>
                <a:lnTo>
                  <a:pt x="4882181" y="34490"/>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729392" y="4775932"/>
            <a:ext cx="2413000" cy="397668"/>
          </a:xfrm>
          <a:prstGeom prst="roundRect">
            <a:avLst>
              <a:gd name="adj" fmla="val 20292"/>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3336033" y="4775932"/>
            <a:ext cx="2413000" cy="397667"/>
          </a:xfrm>
          <a:prstGeom prst="roundRect">
            <a:avLst>
              <a:gd name="adj" fmla="val 20292"/>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3388055" y="4815612"/>
            <a:ext cx="318308" cy="318308"/>
          </a:xfrm>
          <a:prstGeom prst="ellipse">
            <a:avLst/>
          </a:prstGeom>
          <a:gradFill>
            <a:gsLst>
              <a:gs pos="10000">
                <a:schemeClr val="accent2">
                  <a:lumMod val="90000"/>
                </a:schemeClr>
              </a:gs>
              <a:gs pos="59000">
                <a:schemeClr val="accent2">
                  <a:lumMod val="20000"/>
                  <a:lumOff val="80000"/>
                </a:schemeClr>
              </a:gs>
              <a:gs pos="88000">
                <a:schemeClr val="accent2">
                  <a:lumMod val="90000"/>
                </a:schemeClr>
              </a:gs>
            </a:gsLst>
            <a:lin ang="2700000" scaled="0"/>
          </a:gradFill>
          <a:ln w="635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796390" y="4815612"/>
            <a:ext cx="318308" cy="318308"/>
          </a:xfrm>
          <a:prstGeom prst="ellipse">
            <a:avLst/>
          </a:prstGeom>
          <a:gradFill>
            <a:gsLst>
              <a:gs pos="10000">
                <a:schemeClr val="accent2">
                  <a:lumMod val="90000"/>
                </a:schemeClr>
              </a:gs>
              <a:gs pos="59000">
                <a:schemeClr val="accent2">
                  <a:lumMod val="20000"/>
                  <a:lumOff val="80000"/>
                </a:schemeClr>
              </a:gs>
              <a:gs pos="88000">
                <a:schemeClr val="accent2">
                  <a:lumMod val="90000"/>
                </a:schemeClr>
              </a:gs>
            </a:gsLst>
            <a:lin ang="2700000" scaled="0"/>
          </a:gradFill>
          <a:ln w="635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869390" y="4881440"/>
            <a:ext cx="172309" cy="186652"/>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4" name="标题 1"/>
          <p:cNvSpPr txBox="1"/>
          <p:nvPr/>
        </p:nvSpPr>
        <p:spPr>
          <a:xfrm>
            <a:off x="3465420" y="4892976"/>
            <a:ext cx="163579" cy="163579"/>
          </a:xfrm>
          <a:custGeom>
            <a:avLst/>
            <a:gdLst>
              <a:gd name="connsiteX0" fmla="*/ 2136435 w 5834559"/>
              <a:gd name="connsiteY0" fmla="*/ 643126 h 5397372"/>
              <a:gd name="connsiteX1" fmla="*/ 3716657 w 5834559"/>
              <a:gd name="connsiteY1" fmla="*/ 643126 h 5397372"/>
              <a:gd name="connsiteX2" fmla="*/ 3716657 w 5834559"/>
              <a:gd name="connsiteY2" fmla="*/ 1064855 h 5397372"/>
              <a:gd name="connsiteX3" fmla="*/ 2136435 w 5834559"/>
              <a:gd name="connsiteY3" fmla="*/ 1064855 h 5397372"/>
              <a:gd name="connsiteX4" fmla="*/ 693741 w 5834559"/>
              <a:gd name="connsiteY4" fmla="*/ 643126 h 5397372"/>
              <a:gd name="connsiteX5" fmla="*/ 1550121 w 5834559"/>
              <a:gd name="connsiteY5" fmla="*/ 643126 h 5397372"/>
              <a:gd name="connsiteX6" fmla="*/ 1550121 w 5834559"/>
              <a:gd name="connsiteY6" fmla="*/ 1064855 h 5397372"/>
              <a:gd name="connsiteX7" fmla="*/ 693741 w 5834559"/>
              <a:gd name="connsiteY7" fmla="*/ 1064855 h 5397372"/>
              <a:gd name="connsiteX8" fmla="*/ 421729 w 5834559"/>
              <a:gd name="connsiteY8" fmla="*/ 1336867 h 5397372"/>
              <a:gd name="connsiteX9" fmla="*/ 421729 w 5834559"/>
              <a:gd name="connsiteY9" fmla="*/ 2079805 h 5397372"/>
              <a:gd name="connsiteX10" fmla="*/ 5412133 w 5834559"/>
              <a:gd name="connsiteY10" fmla="*/ 2079805 h 5397372"/>
              <a:gd name="connsiteX11" fmla="*/ 5412133 w 5834559"/>
              <a:gd name="connsiteY11" fmla="*/ 1336867 h 5397372"/>
              <a:gd name="connsiteX12" fmla="*/ 5140113 w 5834559"/>
              <a:gd name="connsiteY12" fmla="*/ 1064855 h 5397372"/>
              <a:gd name="connsiteX13" fmla="*/ 4302971 w 5834559"/>
              <a:gd name="connsiteY13" fmla="*/ 1064855 h 5397372"/>
              <a:gd name="connsiteX14" fmla="*/ 4302971 w 5834559"/>
              <a:gd name="connsiteY14" fmla="*/ 643126 h 5397372"/>
              <a:gd name="connsiteX15" fmla="*/ 5140113 w 5834559"/>
              <a:gd name="connsiteY15" fmla="*/ 643126 h 5397372"/>
              <a:gd name="connsiteX16" fmla="*/ 5834559 w 5834559"/>
              <a:gd name="connsiteY16" fmla="*/ 1336867 h 5397372"/>
              <a:gd name="connsiteX17" fmla="*/ 5834559 w 5834559"/>
              <a:gd name="connsiteY17" fmla="*/ 4703631 h 5397372"/>
              <a:gd name="connsiteX18" fmla="*/ 5140818 w 5834559"/>
              <a:gd name="connsiteY18" fmla="*/ 5397372 h 5397372"/>
              <a:gd name="connsiteX19" fmla="*/ 693741 w 5834559"/>
              <a:gd name="connsiteY19" fmla="*/ 5397372 h 5397372"/>
              <a:gd name="connsiteX20" fmla="*/ 0 w 5834559"/>
              <a:gd name="connsiteY20" fmla="*/ 4703631 h 5397372"/>
              <a:gd name="connsiteX21" fmla="*/ 0 w 5834559"/>
              <a:gd name="connsiteY21" fmla="*/ 2501529 h 5397372"/>
              <a:gd name="connsiteX22" fmla="*/ 0 w 5834559"/>
              <a:gd name="connsiteY22" fmla="*/ 2079805 h 5397372"/>
              <a:gd name="connsiteX23" fmla="*/ 0 w 5834559"/>
              <a:gd name="connsiteY23" fmla="*/ 1336867 h 5397372"/>
              <a:gd name="connsiteX24" fmla="*/ 693741 w 5834559"/>
              <a:gd name="connsiteY24" fmla="*/ 643126 h 5397372"/>
              <a:gd name="connsiteX25" fmla="*/ 3997242 w 5834559"/>
              <a:gd name="connsiteY25" fmla="*/ 0 h 5397372"/>
              <a:gd name="connsiteX26" fmla="*/ 4208106 w 5834559"/>
              <a:gd name="connsiteY26" fmla="*/ 210864 h 5397372"/>
              <a:gd name="connsiteX27" fmla="*/ 4208106 w 5834559"/>
              <a:gd name="connsiteY27" fmla="*/ 1506961 h 5397372"/>
              <a:gd name="connsiteX28" fmla="*/ 3997242 w 5834559"/>
              <a:gd name="connsiteY28" fmla="*/ 1718528 h 5397372"/>
              <a:gd name="connsiteX29" fmla="*/ 3786378 w 5834559"/>
              <a:gd name="connsiteY29" fmla="*/ 1507664 h 5397372"/>
              <a:gd name="connsiteX30" fmla="*/ 3786378 w 5834559"/>
              <a:gd name="connsiteY30" fmla="*/ 210864 h 5397372"/>
              <a:gd name="connsiteX31" fmla="*/ 3997242 w 5834559"/>
              <a:gd name="connsiteY31" fmla="*/ 0 h 5397372"/>
              <a:gd name="connsiteX32" fmla="*/ 1836609 w 5834559"/>
              <a:gd name="connsiteY32" fmla="*/ 0 h 5397372"/>
              <a:gd name="connsiteX33" fmla="*/ 2047469 w 5834559"/>
              <a:gd name="connsiteY33" fmla="*/ 210864 h 5397372"/>
              <a:gd name="connsiteX34" fmla="*/ 2047469 w 5834559"/>
              <a:gd name="connsiteY34" fmla="*/ 1506961 h 5397372"/>
              <a:gd name="connsiteX35" fmla="*/ 1836609 w 5834559"/>
              <a:gd name="connsiteY35" fmla="*/ 1718528 h 5397372"/>
              <a:gd name="connsiteX36" fmla="*/ 1625745 w 5834559"/>
              <a:gd name="connsiteY36" fmla="*/ 1507664 h 5397372"/>
              <a:gd name="connsiteX37" fmla="*/ 1625745 w 5834559"/>
              <a:gd name="connsiteY37" fmla="*/ 210864 h 5397372"/>
              <a:gd name="connsiteX38" fmla="*/ 1836609 w 5834559"/>
              <a:gd name="connsiteY38" fmla="*/ 0 h 5397372"/>
            </a:gdLst>
            <a:ahLst/>
            <a:cxnLst/>
            <a:rect l="l" t="t" r="r" b="b"/>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5" name="标题 1"/>
          <p:cNvSpPr txBox="1"/>
          <p:nvPr/>
        </p:nvSpPr>
        <p:spPr>
          <a:xfrm>
            <a:off x="699364" y="5880628"/>
            <a:ext cx="1018346" cy="234109"/>
          </a:xfrm>
          <a:custGeom>
            <a:avLst/>
            <a:gdLst>
              <a:gd name="connsiteX0" fmla="*/ 844757 w 1018346"/>
              <a:gd name="connsiteY0" fmla="*/ 0 h 234109"/>
              <a:gd name="connsiteX1" fmla="*/ 1018346 w 1018346"/>
              <a:gd name="connsiteY1" fmla="*/ 0 h 234109"/>
              <a:gd name="connsiteX2" fmla="*/ 960483 w 1018346"/>
              <a:gd name="connsiteY2" fmla="*/ 234109 h 234109"/>
              <a:gd name="connsiteX3" fmla="*/ 786894 w 1018346"/>
              <a:gd name="connsiteY3" fmla="*/ 234109 h 234109"/>
              <a:gd name="connsiteX4" fmla="*/ 582459 w 1018346"/>
              <a:gd name="connsiteY4" fmla="*/ 0 h 234109"/>
              <a:gd name="connsiteX5" fmla="*/ 756048 w 1018346"/>
              <a:gd name="connsiteY5" fmla="*/ 0 h 234109"/>
              <a:gd name="connsiteX6" fmla="*/ 698185 w 1018346"/>
              <a:gd name="connsiteY6" fmla="*/ 234109 h 234109"/>
              <a:gd name="connsiteX7" fmla="*/ 524596 w 1018346"/>
              <a:gd name="connsiteY7" fmla="*/ 234109 h 234109"/>
              <a:gd name="connsiteX8" fmla="*/ 320161 w 1018346"/>
              <a:gd name="connsiteY8" fmla="*/ 0 h 234109"/>
              <a:gd name="connsiteX9" fmla="*/ 493750 w 1018346"/>
              <a:gd name="connsiteY9" fmla="*/ 0 h 234109"/>
              <a:gd name="connsiteX10" fmla="*/ 435887 w 1018346"/>
              <a:gd name="connsiteY10" fmla="*/ 234109 h 234109"/>
              <a:gd name="connsiteX11" fmla="*/ 262298 w 1018346"/>
              <a:gd name="connsiteY11" fmla="*/ 234109 h 234109"/>
              <a:gd name="connsiteX12" fmla="*/ 57863 w 1018346"/>
              <a:gd name="connsiteY12" fmla="*/ 0 h 234109"/>
              <a:gd name="connsiteX13" fmla="*/ 231452 w 1018346"/>
              <a:gd name="connsiteY13" fmla="*/ 0 h 234109"/>
              <a:gd name="connsiteX14" fmla="*/ 173589 w 1018346"/>
              <a:gd name="connsiteY14" fmla="*/ 234109 h 234109"/>
              <a:gd name="connsiteX15" fmla="*/ 0 w 1018346"/>
              <a:gd name="connsiteY15" fmla="*/ 234109 h 234109"/>
            </a:gdLst>
            <a:ahLst/>
            <a:cxnLst/>
            <a:rect l="l" t="t" r="r" b="b"/>
            <a:pathLst>
              <a:path w="1018346" h="234109">
                <a:moveTo>
                  <a:pt x="844757" y="0"/>
                </a:moveTo>
                <a:lnTo>
                  <a:pt x="1018346" y="0"/>
                </a:lnTo>
                <a:lnTo>
                  <a:pt x="960483" y="234109"/>
                </a:lnTo>
                <a:lnTo>
                  <a:pt x="786894" y="234109"/>
                </a:lnTo>
                <a:close/>
                <a:moveTo>
                  <a:pt x="582459" y="0"/>
                </a:moveTo>
                <a:lnTo>
                  <a:pt x="756048" y="0"/>
                </a:lnTo>
                <a:lnTo>
                  <a:pt x="698185" y="234109"/>
                </a:lnTo>
                <a:lnTo>
                  <a:pt x="524596" y="234109"/>
                </a:lnTo>
                <a:close/>
                <a:moveTo>
                  <a:pt x="320161" y="0"/>
                </a:moveTo>
                <a:lnTo>
                  <a:pt x="493750" y="0"/>
                </a:lnTo>
                <a:lnTo>
                  <a:pt x="435887" y="234109"/>
                </a:lnTo>
                <a:lnTo>
                  <a:pt x="262298" y="234109"/>
                </a:lnTo>
                <a:close/>
                <a:moveTo>
                  <a:pt x="57863" y="0"/>
                </a:moveTo>
                <a:lnTo>
                  <a:pt x="231452" y="0"/>
                </a:lnTo>
                <a:lnTo>
                  <a:pt x="173589" y="234109"/>
                </a:lnTo>
                <a:lnTo>
                  <a:pt x="0" y="234109"/>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833607" y="5999530"/>
            <a:ext cx="3431412" cy="45719"/>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rot="15136073">
            <a:off x="659433" y="822887"/>
            <a:ext cx="770021" cy="770021"/>
          </a:xfrm>
          <a:prstGeom prst="donut">
            <a:avLst>
              <a:gd name="adj" fmla="val 11757"/>
            </a:avLst>
          </a:prstGeom>
          <a:gradFill>
            <a:gsLst>
              <a:gs pos="5000">
                <a:schemeClr val="accent1">
                  <a:lumMod val="5000"/>
                  <a:lumOff val="95000"/>
                  <a:alpha val="0"/>
                </a:schemeClr>
              </a:gs>
              <a:gs pos="40000">
                <a:schemeClr val="accent2"/>
              </a:gs>
            </a:gsLst>
            <a:lin ang="0" scaled="0"/>
          </a:gradFill>
          <a:ln w="28575" cap="sq">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5923664" y="1370929"/>
            <a:ext cx="896246" cy="571074"/>
          </a:xfrm>
          <a:custGeom>
            <a:avLst/>
            <a:gdLst>
              <a:gd name="connsiteX0" fmla="*/ 860553 w 896246"/>
              <a:gd name="connsiteY0" fmla="*/ 499536 h 571074"/>
              <a:gd name="connsiteX1" fmla="*/ 896246 w 896246"/>
              <a:gd name="connsiteY1" fmla="*/ 535305 h 571074"/>
              <a:gd name="connsiteX2" fmla="*/ 860553 w 896246"/>
              <a:gd name="connsiteY2" fmla="*/ 571074 h 571074"/>
              <a:gd name="connsiteX3" fmla="*/ 824860 w 896246"/>
              <a:gd name="connsiteY3" fmla="*/ 535305 h 571074"/>
              <a:gd name="connsiteX4" fmla="*/ 860553 w 896246"/>
              <a:gd name="connsiteY4" fmla="*/ 499536 h 571074"/>
              <a:gd name="connsiteX5" fmla="*/ 695581 w 896246"/>
              <a:gd name="connsiteY5" fmla="*/ 499536 h 571074"/>
              <a:gd name="connsiteX6" fmla="*/ 731274 w 896246"/>
              <a:gd name="connsiteY6" fmla="*/ 535305 h 571074"/>
              <a:gd name="connsiteX7" fmla="*/ 695581 w 896246"/>
              <a:gd name="connsiteY7" fmla="*/ 571074 h 571074"/>
              <a:gd name="connsiteX8" fmla="*/ 659888 w 896246"/>
              <a:gd name="connsiteY8" fmla="*/ 535305 h 571074"/>
              <a:gd name="connsiteX9" fmla="*/ 695581 w 896246"/>
              <a:gd name="connsiteY9" fmla="*/ 499536 h 571074"/>
              <a:gd name="connsiteX10" fmla="*/ 530609 w 896246"/>
              <a:gd name="connsiteY10" fmla="*/ 499536 h 571074"/>
              <a:gd name="connsiteX11" fmla="*/ 566302 w 896246"/>
              <a:gd name="connsiteY11" fmla="*/ 535305 h 571074"/>
              <a:gd name="connsiteX12" fmla="*/ 530609 w 896246"/>
              <a:gd name="connsiteY12" fmla="*/ 571074 h 571074"/>
              <a:gd name="connsiteX13" fmla="*/ 494916 w 896246"/>
              <a:gd name="connsiteY13" fmla="*/ 535305 h 571074"/>
              <a:gd name="connsiteX14" fmla="*/ 530609 w 896246"/>
              <a:gd name="connsiteY14" fmla="*/ 499536 h 571074"/>
              <a:gd name="connsiteX15" fmla="*/ 365637 w 896246"/>
              <a:gd name="connsiteY15" fmla="*/ 499536 h 571074"/>
              <a:gd name="connsiteX16" fmla="*/ 401330 w 896246"/>
              <a:gd name="connsiteY16" fmla="*/ 535305 h 571074"/>
              <a:gd name="connsiteX17" fmla="*/ 365637 w 896246"/>
              <a:gd name="connsiteY17" fmla="*/ 571074 h 571074"/>
              <a:gd name="connsiteX18" fmla="*/ 329944 w 896246"/>
              <a:gd name="connsiteY18" fmla="*/ 535305 h 571074"/>
              <a:gd name="connsiteX19" fmla="*/ 365637 w 896246"/>
              <a:gd name="connsiteY19" fmla="*/ 499536 h 571074"/>
              <a:gd name="connsiteX20" fmla="*/ 200665 w 896246"/>
              <a:gd name="connsiteY20" fmla="*/ 499536 h 571074"/>
              <a:gd name="connsiteX21" fmla="*/ 236358 w 896246"/>
              <a:gd name="connsiteY21" fmla="*/ 535305 h 571074"/>
              <a:gd name="connsiteX22" fmla="*/ 200665 w 896246"/>
              <a:gd name="connsiteY22" fmla="*/ 571074 h 571074"/>
              <a:gd name="connsiteX23" fmla="*/ 164972 w 896246"/>
              <a:gd name="connsiteY23" fmla="*/ 535305 h 571074"/>
              <a:gd name="connsiteX24" fmla="*/ 200665 w 896246"/>
              <a:gd name="connsiteY24" fmla="*/ 499536 h 571074"/>
              <a:gd name="connsiteX25" fmla="*/ 35693 w 896246"/>
              <a:gd name="connsiteY25" fmla="*/ 499536 h 571074"/>
              <a:gd name="connsiteX26" fmla="*/ 71386 w 896246"/>
              <a:gd name="connsiteY26" fmla="*/ 535305 h 571074"/>
              <a:gd name="connsiteX27" fmla="*/ 35693 w 896246"/>
              <a:gd name="connsiteY27" fmla="*/ 571074 h 571074"/>
              <a:gd name="connsiteX28" fmla="*/ 0 w 896246"/>
              <a:gd name="connsiteY28" fmla="*/ 535305 h 571074"/>
              <a:gd name="connsiteX29" fmla="*/ 35693 w 896246"/>
              <a:gd name="connsiteY29" fmla="*/ 499536 h 571074"/>
              <a:gd name="connsiteX30" fmla="*/ 860553 w 896246"/>
              <a:gd name="connsiteY30" fmla="*/ 333024 h 571074"/>
              <a:gd name="connsiteX31" fmla="*/ 896246 w 896246"/>
              <a:gd name="connsiteY31" fmla="*/ 368793 h 571074"/>
              <a:gd name="connsiteX32" fmla="*/ 860553 w 896246"/>
              <a:gd name="connsiteY32" fmla="*/ 404562 h 571074"/>
              <a:gd name="connsiteX33" fmla="*/ 824860 w 896246"/>
              <a:gd name="connsiteY33" fmla="*/ 368793 h 571074"/>
              <a:gd name="connsiteX34" fmla="*/ 860553 w 896246"/>
              <a:gd name="connsiteY34" fmla="*/ 333024 h 571074"/>
              <a:gd name="connsiteX35" fmla="*/ 695581 w 896246"/>
              <a:gd name="connsiteY35" fmla="*/ 333024 h 571074"/>
              <a:gd name="connsiteX36" fmla="*/ 731274 w 896246"/>
              <a:gd name="connsiteY36" fmla="*/ 368793 h 571074"/>
              <a:gd name="connsiteX37" fmla="*/ 695581 w 896246"/>
              <a:gd name="connsiteY37" fmla="*/ 404562 h 571074"/>
              <a:gd name="connsiteX38" fmla="*/ 659888 w 896246"/>
              <a:gd name="connsiteY38" fmla="*/ 368793 h 571074"/>
              <a:gd name="connsiteX39" fmla="*/ 695581 w 896246"/>
              <a:gd name="connsiteY39" fmla="*/ 333024 h 571074"/>
              <a:gd name="connsiteX40" fmla="*/ 530609 w 896246"/>
              <a:gd name="connsiteY40" fmla="*/ 333024 h 571074"/>
              <a:gd name="connsiteX41" fmla="*/ 566302 w 896246"/>
              <a:gd name="connsiteY41" fmla="*/ 368793 h 571074"/>
              <a:gd name="connsiteX42" fmla="*/ 530609 w 896246"/>
              <a:gd name="connsiteY42" fmla="*/ 404562 h 571074"/>
              <a:gd name="connsiteX43" fmla="*/ 494916 w 896246"/>
              <a:gd name="connsiteY43" fmla="*/ 368793 h 571074"/>
              <a:gd name="connsiteX44" fmla="*/ 530609 w 896246"/>
              <a:gd name="connsiteY44" fmla="*/ 333024 h 571074"/>
              <a:gd name="connsiteX45" fmla="*/ 365637 w 896246"/>
              <a:gd name="connsiteY45" fmla="*/ 333024 h 571074"/>
              <a:gd name="connsiteX46" fmla="*/ 401330 w 896246"/>
              <a:gd name="connsiteY46" fmla="*/ 368793 h 571074"/>
              <a:gd name="connsiteX47" fmla="*/ 365637 w 896246"/>
              <a:gd name="connsiteY47" fmla="*/ 404562 h 571074"/>
              <a:gd name="connsiteX48" fmla="*/ 329944 w 896246"/>
              <a:gd name="connsiteY48" fmla="*/ 368793 h 571074"/>
              <a:gd name="connsiteX49" fmla="*/ 365637 w 896246"/>
              <a:gd name="connsiteY49" fmla="*/ 333024 h 571074"/>
              <a:gd name="connsiteX50" fmla="*/ 200665 w 896246"/>
              <a:gd name="connsiteY50" fmla="*/ 333024 h 571074"/>
              <a:gd name="connsiteX51" fmla="*/ 236358 w 896246"/>
              <a:gd name="connsiteY51" fmla="*/ 368793 h 571074"/>
              <a:gd name="connsiteX52" fmla="*/ 200665 w 896246"/>
              <a:gd name="connsiteY52" fmla="*/ 404562 h 571074"/>
              <a:gd name="connsiteX53" fmla="*/ 164972 w 896246"/>
              <a:gd name="connsiteY53" fmla="*/ 368793 h 571074"/>
              <a:gd name="connsiteX54" fmla="*/ 200665 w 896246"/>
              <a:gd name="connsiteY54" fmla="*/ 333024 h 571074"/>
              <a:gd name="connsiteX55" fmla="*/ 35693 w 896246"/>
              <a:gd name="connsiteY55" fmla="*/ 333024 h 571074"/>
              <a:gd name="connsiteX56" fmla="*/ 71386 w 896246"/>
              <a:gd name="connsiteY56" fmla="*/ 368793 h 571074"/>
              <a:gd name="connsiteX57" fmla="*/ 35693 w 896246"/>
              <a:gd name="connsiteY57" fmla="*/ 404562 h 571074"/>
              <a:gd name="connsiteX58" fmla="*/ 0 w 896246"/>
              <a:gd name="connsiteY58" fmla="*/ 368793 h 571074"/>
              <a:gd name="connsiteX59" fmla="*/ 35693 w 896246"/>
              <a:gd name="connsiteY59" fmla="*/ 333024 h 571074"/>
              <a:gd name="connsiteX60" fmla="*/ 860553 w 896246"/>
              <a:gd name="connsiteY60" fmla="*/ 166512 h 571074"/>
              <a:gd name="connsiteX61" fmla="*/ 896246 w 896246"/>
              <a:gd name="connsiteY61" fmla="*/ 202281 h 571074"/>
              <a:gd name="connsiteX62" fmla="*/ 860553 w 896246"/>
              <a:gd name="connsiteY62" fmla="*/ 238050 h 571074"/>
              <a:gd name="connsiteX63" fmla="*/ 824860 w 896246"/>
              <a:gd name="connsiteY63" fmla="*/ 202281 h 571074"/>
              <a:gd name="connsiteX64" fmla="*/ 860553 w 896246"/>
              <a:gd name="connsiteY64" fmla="*/ 166512 h 571074"/>
              <a:gd name="connsiteX65" fmla="*/ 695581 w 896246"/>
              <a:gd name="connsiteY65" fmla="*/ 166512 h 571074"/>
              <a:gd name="connsiteX66" fmla="*/ 731274 w 896246"/>
              <a:gd name="connsiteY66" fmla="*/ 202281 h 571074"/>
              <a:gd name="connsiteX67" fmla="*/ 695581 w 896246"/>
              <a:gd name="connsiteY67" fmla="*/ 238050 h 571074"/>
              <a:gd name="connsiteX68" fmla="*/ 659888 w 896246"/>
              <a:gd name="connsiteY68" fmla="*/ 202281 h 571074"/>
              <a:gd name="connsiteX69" fmla="*/ 695581 w 896246"/>
              <a:gd name="connsiteY69" fmla="*/ 166512 h 571074"/>
              <a:gd name="connsiteX70" fmla="*/ 530609 w 896246"/>
              <a:gd name="connsiteY70" fmla="*/ 166512 h 571074"/>
              <a:gd name="connsiteX71" fmla="*/ 566302 w 896246"/>
              <a:gd name="connsiteY71" fmla="*/ 202281 h 571074"/>
              <a:gd name="connsiteX72" fmla="*/ 530609 w 896246"/>
              <a:gd name="connsiteY72" fmla="*/ 238050 h 571074"/>
              <a:gd name="connsiteX73" fmla="*/ 494916 w 896246"/>
              <a:gd name="connsiteY73" fmla="*/ 202281 h 571074"/>
              <a:gd name="connsiteX74" fmla="*/ 530609 w 896246"/>
              <a:gd name="connsiteY74" fmla="*/ 166512 h 571074"/>
              <a:gd name="connsiteX75" fmla="*/ 365637 w 896246"/>
              <a:gd name="connsiteY75" fmla="*/ 166512 h 571074"/>
              <a:gd name="connsiteX76" fmla="*/ 401330 w 896246"/>
              <a:gd name="connsiteY76" fmla="*/ 202281 h 571074"/>
              <a:gd name="connsiteX77" fmla="*/ 365637 w 896246"/>
              <a:gd name="connsiteY77" fmla="*/ 238050 h 571074"/>
              <a:gd name="connsiteX78" fmla="*/ 329944 w 896246"/>
              <a:gd name="connsiteY78" fmla="*/ 202281 h 571074"/>
              <a:gd name="connsiteX79" fmla="*/ 365637 w 896246"/>
              <a:gd name="connsiteY79" fmla="*/ 166512 h 571074"/>
              <a:gd name="connsiteX80" fmla="*/ 200665 w 896246"/>
              <a:gd name="connsiteY80" fmla="*/ 166512 h 571074"/>
              <a:gd name="connsiteX81" fmla="*/ 236358 w 896246"/>
              <a:gd name="connsiteY81" fmla="*/ 202281 h 571074"/>
              <a:gd name="connsiteX82" fmla="*/ 200665 w 896246"/>
              <a:gd name="connsiteY82" fmla="*/ 238050 h 571074"/>
              <a:gd name="connsiteX83" fmla="*/ 164972 w 896246"/>
              <a:gd name="connsiteY83" fmla="*/ 202281 h 571074"/>
              <a:gd name="connsiteX84" fmla="*/ 200665 w 896246"/>
              <a:gd name="connsiteY84" fmla="*/ 166512 h 571074"/>
              <a:gd name="connsiteX85" fmla="*/ 35693 w 896246"/>
              <a:gd name="connsiteY85" fmla="*/ 166512 h 571074"/>
              <a:gd name="connsiteX86" fmla="*/ 71386 w 896246"/>
              <a:gd name="connsiteY86" fmla="*/ 202281 h 571074"/>
              <a:gd name="connsiteX87" fmla="*/ 35693 w 896246"/>
              <a:gd name="connsiteY87" fmla="*/ 238050 h 571074"/>
              <a:gd name="connsiteX88" fmla="*/ 0 w 896246"/>
              <a:gd name="connsiteY88" fmla="*/ 202281 h 571074"/>
              <a:gd name="connsiteX89" fmla="*/ 35693 w 896246"/>
              <a:gd name="connsiteY89" fmla="*/ 166512 h 571074"/>
              <a:gd name="connsiteX90" fmla="*/ 860553 w 896246"/>
              <a:gd name="connsiteY90" fmla="*/ 0 h 571074"/>
              <a:gd name="connsiteX91" fmla="*/ 896246 w 896246"/>
              <a:gd name="connsiteY91" fmla="*/ 35769 h 571074"/>
              <a:gd name="connsiteX92" fmla="*/ 860553 w 896246"/>
              <a:gd name="connsiteY92" fmla="*/ 71538 h 571074"/>
              <a:gd name="connsiteX93" fmla="*/ 824860 w 896246"/>
              <a:gd name="connsiteY93" fmla="*/ 35769 h 571074"/>
              <a:gd name="connsiteX94" fmla="*/ 860553 w 896246"/>
              <a:gd name="connsiteY94" fmla="*/ 0 h 571074"/>
              <a:gd name="connsiteX95" fmla="*/ 695581 w 896246"/>
              <a:gd name="connsiteY95" fmla="*/ 0 h 571074"/>
              <a:gd name="connsiteX96" fmla="*/ 731274 w 896246"/>
              <a:gd name="connsiteY96" fmla="*/ 35769 h 571074"/>
              <a:gd name="connsiteX97" fmla="*/ 695581 w 896246"/>
              <a:gd name="connsiteY97" fmla="*/ 71538 h 571074"/>
              <a:gd name="connsiteX98" fmla="*/ 659888 w 896246"/>
              <a:gd name="connsiteY98" fmla="*/ 35769 h 571074"/>
              <a:gd name="connsiteX99" fmla="*/ 695581 w 896246"/>
              <a:gd name="connsiteY99" fmla="*/ 0 h 571074"/>
              <a:gd name="connsiteX100" fmla="*/ 530609 w 896246"/>
              <a:gd name="connsiteY100" fmla="*/ 0 h 571074"/>
              <a:gd name="connsiteX101" fmla="*/ 566302 w 896246"/>
              <a:gd name="connsiteY101" fmla="*/ 35769 h 571074"/>
              <a:gd name="connsiteX102" fmla="*/ 530609 w 896246"/>
              <a:gd name="connsiteY102" fmla="*/ 71538 h 571074"/>
              <a:gd name="connsiteX103" fmla="*/ 494916 w 896246"/>
              <a:gd name="connsiteY103" fmla="*/ 35769 h 571074"/>
              <a:gd name="connsiteX104" fmla="*/ 530609 w 896246"/>
              <a:gd name="connsiteY104" fmla="*/ 0 h 571074"/>
              <a:gd name="connsiteX105" fmla="*/ 365637 w 896246"/>
              <a:gd name="connsiteY105" fmla="*/ 0 h 571074"/>
              <a:gd name="connsiteX106" fmla="*/ 401330 w 896246"/>
              <a:gd name="connsiteY106" fmla="*/ 35769 h 571074"/>
              <a:gd name="connsiteX107" fmla="*/ 365637 w 896246"/>
              <a:gd name="connsiteY107" fmla="*/ 71538 h 571074"/>
              <a:gd name="connsiteX108" fmla="*/ 329944 w 896246"/>
              <a:gd name="connsiteY108" fmla="*/ 35769 h 571074"/>
              <a:gd name="connsiteX109" fmla="*/ 365637 w 896246"/>
              <a:gd name="connsiteY109" fmla="*/ 0 h 571074"/>
              <a:gd name="connsiteX110" fmla="*/ 200665 w 896246"/>
              <a:gd name="connsiteY110" fmla="*/ 0 h 571074"/>
              <a:gd name="connsiteX111" fmla="*/ 236358 w 896246"/>
              <a:gd name="connsiteY111" fmla="*/ 35769 h 571074"/>
              <a:gd name="connsiteX112" fmla="*/ 200665 w 896246"/>
              <a:gd name="connsiteY112" fmla="*/ 71538 h 571074"/>
              <a:gd name="connsiteX113" fmla="*/ 164972 w 896246"/>
              <a:gd name="connsiteY113" fmla="*/ 35769 h 571074"/>
              <a:gd name="connsiteX114" fmla="*/ 200665 w 896246"/>
              <a:gd name="connsiteY114" fmla="*/ 0 h 571074"/>
              <a:gd name="connsiteX115" fmla="*/ 35693 w 896246"/>
              <a:gd name="connsiteY115" fmla="*/ 0 h 571074"/>
              <a:gd name="connsiteX116" fmla="*/ 71386 w 896246"/>
              <a:gd name="connsiteY116" fmla="*/ 35769 h 571074"/>
              <a:gd name="connsiteX117" fmla="*/ 35693 w 896246"/>
              <a:gd name="connsiteY117" fmla="*/ 71538 h 571074"/>
              <a:gd name="connsiteX118" fmla="*/ 0 w 896246"/>
              <a:gd name="connsiteY118" fmla="*/ 35769 h 571074"/>
              <a:gd name="connsiteX119" fmla="*/ 35693 w 896246"/>
              <a:gd name="connsiteY119" fmla="*/ 0 h 571074"/>
            </a:gdLst>
            <a:ahLst/>
            <a:cxnLst/>
            <a:rect l="l" t="t" r="r" b="b"/>
            <a:pathLst>
              <a:path w="896246" h="571074">
                <a:moveTo>
                  <a:pt x="860553" y="499536"/>
                </a:moveTo>
                <a:cubicBezTo>
                  <a:pt x="880266" y="499536"/>
                  <a:pt x="896246" y="515550"/>
                  <a:pt x="896246" y="535305"/>
                </a:cubicBezTo>
                <a:cubicBezTo>
                  <a:pt x="896246" y="555060"/>
                  <a:pt x="880266" y="571074"/>
                  <a:pt x="860553" y="571074"/>
                </a:cubicBezTo>
                <a:cubicBezTo>
                  <a:pt x="840840" y="571074"/>
                  <a:pt x="824860" y="555060"/>
                  <a:pt x="824860" y="535305"/>
                </a:cubicBezTo>
                <a:cubicBezTo>
                  <a:pt x="824860" y="515550"/>
                  <a:pt x="840840" y="499536"/>
                  <a:pt x="860553" y="499536"/>
                </a:cubicBezTo>
                <a:close/>
                <a:moveTo>
                  <a:pt x="695581" y="499536"/>
                </a:moveTo>
                <a:cubicBezTo>
                  <a:pt x="715294" y="499536"/>
                  <a:pt x="731274" y="515550"/>
                  <a:pt x="731274" y="535305"/>
                </a:cubicBezTo>
                <a:cubicBezTo>
                  <a:pt x="731274" y="555060"/>
                  <a:pt x="715294" y="571074"/>
                  <a:pt x="695581" y="571074"/>
                </a:cubicBezTo>
                <a:cubicBezTo>
                  <a:pt x="675868" y="571074"/>
                  <a:pt x="659888" y="555060"/>
                  <a:pt x="659888" y="535305"/>
                </a:cubicBezTo>
                <a:cubicBezTo>
                  <a:pt x="659888" y="515550"/>
                  <a:pt x="675868" y="499536"/>
                  <a:pt x="695581" y="499536"/>
                </a:cubicBezTo>
                <a:close/>
                <a:moveTo>
                  <a:pt x="530609" y="499536"/>
                </a:moveTo>
                <a:cubicBezTo>
                  <a:pt x="550322" y="499536"/>
                  <a:pt x="566302" y="515550"/>
                  <a:pt x="566302" y="535305"/>
                </a:cubicBezTo>
                <a:cubicBezTo>
                  <a:pt x="566302" y="555060"/>
                  <a:pt x="550322" y="571074"/>
                  <a:pt x="530609" y="571074"/>
                </a:cubicBezTo>
                <a:cubicBezTo>
                  <a:pt x="510896" y="571074"/>
                  <a:pt x="494916" y="555060"/>
                  <a:pt x="494916" y="535305"/>
                </a:cubicBezTo>
                <a:cubicBezTo>
                  <a:pt x="494916" y="515550"/>
                  <a:pt x="510896" y="499536"/>
                  <a:pt x="530609" y="499536"/>
                </a:cubicBezTo>
                <a:close/>
                <a:moveTo>
                  <a:pt x="365637" y="499536"/>
                </a:moveTo>
                <a:cubicBezTo>
                  <a:pt x="385350" y="499536"/>
                  <a:pt x="401330" y="515550"/>
                  <a:pt x="401330" y="535305"/>
                </a:cubicBezTo>
                <a:cubicBezTo>
                  <a:pt x="401330" y="555060"/>
                  <a:pt x="385350" y="571074"/>
                  <a:pt x="365637" y="571074"/>
                </a:cubicBezTo>
                <a:cubicBezTo>
                  <a:pt x="345924" y="571074"/>
                  <a:pt x="329944" y="555060"/>
                  <a:pt x="329944" y="535305"/>
                </a:cubicBezTo>
                <a:cubicBezTo>
                  <a:pt x="329944" y="515550"/>
                  <a:pt x="345924" y="499536"/>
                  <a:pt x="365637" y="499536"/>
                </a:cubicBezTo>
                <a:close/>
                <a:moveTo>
                  <a:pt x="200665" y="499536"/>
                </a:moveTo>
                <a:cubicBezTo>
                  <a:pt x="220378" y="499536"/>
                  <a:pt x="236358" y="515550"/>
                  <a:pt x="236358" y="535305"/>
                </a:cubicBezTo>
                <a:cubicBezTo>
                  <a:pt x="236358" y="555060"/>
                  <a:pt x="220378" y="571074"/>
                  <a:pt x="200665" y="571074"/>
                </a:cubicBezTo>
                <a:cubicBezTo>
                  <a:pt x="180952" y="571074"/>
                  <a:pt x="164972" y="555060"/>
                  <a:pt x="164972" y="535305"/>
                </a:cubicBezTo>
                <a:cubicBezTo>
                  <a:pt x="164972" y="515550"/>
                  <a:pt x="180952" y="499536"/>
                  <a:pt x="200665" y="499536"/>
                </a:cubicBezTo>
                <a:close/>
                <a:moveTo>
                  <a:pt x="35693" y="499536"/>
                </a:moveTo>
                <a:cubicBezTo>
                  <a:pt x="55406" y="499536"/>
                  <a:pt x="71386" y="515550"/>
                  <a:pt x="71386" y="535305"/>
                </a:cubicBezTo>
                <a:cubicBezTo>
                  <a:pt x="71386" y="555060"/>
                  <a:pt x="55406" y="571074"/>
                  <a:pt x="35693" y="571074"/>
                </a:cubicBezTo>
                <a:cubicBezTo>
                  <a:pt x="15980" y="571074"/>
                  <a:pt x="0" y="555060"/>
                  <a:pt x="0" y="535305"/>
                </a:cubicBezTo>
                <a:cubicBezTo>
                  <a:pt x="0" y="515550"/>
                  <a:pt x="15980" y="499536"/>
                  <a:pt x="35693" y="499536"/>
                </a:cubicBezTo>
                <a:close/>
                <a:moveTo>
                  <a:pt x="860553" y="333024"/>
                </a:moveTo>
                <a:cubicBezTo>
                  <a:pt x="880266" y="333024"/>
                  <a:pt x="896246" y="349038"/>
                  <a:pt x="896246" y="368793"/>
                </a:cubicBezTo>
                <a:cubicBezTo>
                  <a:pt x="896246" y="388548"/>
                  <a:pt x="880266" y="404562"/>
                  <a:pt x="860553" y="404562"/>
                </a:cubicBezTo>
                <a:cubicBezTo>
                  <a:pt x="840840" y="404562"/>
                  <a:pt x="824860" y="388548"/>
                  <a:pt x="824860" y="368793"/>
                </a:cubicBezTo>
                <a:cubicBezTo>
                  <a:pt x="824860" y="349038"/>
                  <a:pt x="840840" y="333024"/>
                  <a:pt x="860553" y="333024"/>
                </a:cubicBezTo>
                <a:close/>
                <a:moveTo>
                  <a:pt x="695581" y="333024"/>
                </a:moveTo>
                <a:cubicBezTo>
                  <a:pt x="715294" y="333024"/>
                  <a:pt x="731274" y="349038"/>
                  <a:pt x="731274" y="368793"/>
                </a:cubicBezTo>
                <a:cubicBezTo>
                  <a:pt x="731274" y="388548"/>
                  <a:pt x="715294" y="404562"/>
                  <a:pt x="695581" y="404562"/>
                </a:cubicBezTo>
                <a:cubicBezTo>
                  <a:pt x="675868" y="404562"/>
                  <a:pt x="659888" y="388548"/>
                  <a:pt x="659888" y="368793"/>
                </a:cubicBezTo>
                <a:cubicBezTo>
                  <a:pt x="659888" y="349038"/>
                  <a:pt x="675868" y="333024"/>
                  <a:pt x="695581" y="333024"/>
                </a:cubicBezTo>
                <a:close/>
                <a:moveTo>
                  <a:pt x="530609" y="333024"/>
                </a:moveTo>
                <a:cubicBezTo>
                  <a:pt x="550322" y="333024"/>
                  <a:pt x="566302" y="349038"/>
                  <a:pt x="566302" y="368793"/>
                </a:cubicBezTo>
                <a:cubicBezTo>
                  <a:pt x="566302" y="388548"/>
                  <a:pt x="550322" y="404562"/>
                  <a:pt x="530609" y="404562"/>
                </a:cubicBezTo>
                <a:cubicBezTo>
                  <a:pt x="510896" y="404562"/>
                  <a:pt x="494916" y="388548"/>
                  <a:pt x="494916" y="368793"/>
                </a:cubicBezTo>
                <a:cubicBezTo>
                  <a:pt x="494916" y="349038"/>
                  <a:pt x="510896" y="333024"/>
                  <a:pt x="530609" y="333024"/>
                </a:cubicBezTo>
                <a:close/>
                <a:moveTo>
                  <a:pt x="365637" y="333024"/>
                </a:moveTo>
                <a:cubicBezTo>
                  <a:pt x="385350" y="333024"/>
                  <a:pt x="401330" y="349038"/>
                  <a:pt x="401330" y="368793"/>
                </a:cubicBezTo>
                <a:cubicBezTo>
                  <a:pt x="401330" y="388548"/>
                  <a:pt x="385350" y="404562"/>
                  <a:pt x="365637" y="404562"/>
                </a:cubicBezTo>
                <a:cubicBezTo>
                  <a:pt x="345924" y="404562"/>
                  <a:pt x="329944" y="388548"/>
                  <a:pt x="329944" y="368793"/>
                </a:cubicBezTo>
                <a:cubicBezTo>
                  <a:pt x="329944" y="349038"/>
                  <a:pt x="345924" y="333024"/>
                  <a:pt x="365637" y="333024"/>
                </a:cubicBezTo>
                <a:close/>
                <a:moveTo>
                  <a:pt x="200665" y="333024"/>
                </a:moveTo>
                <a:cubicBezTo>
                  <a:pt x="220378" y="333024"/>
                  <a:pt x="236358" y="349038"/>
                  <a:pt x="236358" y="368793"/>
                </a:cubicBezTo>
                <a:cubicBezTo>
                  <a:pt x="236358" y="388548"/>
                  <a:pt x="220378" y="404562"/>
                  <a:pt x="200665" y="404562"/>
                </a:cubicBezTo>
                <a:cubicBezTo>
                  <a:pt x="180952" y="404562"/>
                  <a:pt x="164972" y="388548"/>
                  <a:pt x="164972" y="368793"/>
                </a:cubicBezTo>
                <a:cubicBezTo>
                  <a:pt x="164972" y="349038"/>
                  <a:pt x="180952" y="333024"/>
                  <a:pt x="200665" y="333024"/>
                </a:cubicBezTo>
                <a:close/>
                <a:moveTo>
                  <a:pt x="35693" y="333024"/>
                </a:moveTo>
                <a:cubicBezTo>
                  <a:pt x="55406" y="333024"/>
                  <a:pt x="71386" y="349038"/>
                  <a:pt x="71386" y="368793"/>
                </a:cubicBezTo>
                <a:cubicBezTo>
                  <a:pt x="71386" y="388548"/>
                  <a:pt x="55406" y="404562"/>
                  <a:pt x="35693" y="404562"/>
                </a:cubicBezTo>
                <a:cubicBezTo>
                  <a:pt x="15980" y="404562"/>
                  <a:pt x="0" y="388548"/>
                  <a:pt x="0" y="368793"/>
                </a:cubicBezTo>
                <a:cubicBezTo>
                  <a:pt x="0" y="349038"/>
                  <a:pt x="15980" y="333024"/>
                  <a:pt x="35693" y="333024"/>
                </a:cubicBezTo>
                <a:close/>
                <a:moveTo>
                  <a:pt x="860553" y="166512"/>
                </a:moveTo>
                <a:cubicBezTo>
                  <a:pt x="880266" y="166512"/>
                  <a:pt x="896246" y="182526"/>
                  <a:pt x="896246" y="202281"/>
                </a:cubicBezTo>
                <a:cubicBezTo>
                  <a:pt x="896246" y="222036"/>
                  <a:pt x="880266" y="238050"/>
                  <a:pt x="860553" y="238050"/>
                </a:cubicBezTo>
                <a:cubicBezTo>
                  <a:pt x="840840" y="238050"/>
                  <a:pt x="824860" y="222036"/>
                  <a:pt x="824860" y="202281"/>
                </a:cubicBezTo>
                <a:cubicBezTo>
                  <a:pt x="824860" y="182526"/>
                  <a:pt x="840840" y="166512"/>
                  <a:pt x="860553" y="166512"/>
                </a:cubicBezTo>
                <a:close/>
                <a:moveTo>
                  <a:pt x="695581" y="166512"/>
                </a:moveTo>
                <a:cubicBezTo>
                  <a:pt x="715294" y="166512"/>
                  <a:pt x="731274" y="182526"/>
                  <a:pt x="731274" y="202281"/>
                </a:cubicBezTo>
                <a:cubicBezTo>
                  <a:pt x="731274" y="222036"/>
                  <a:pt x="715294" y="238050"/>
                  <a:pt x="695581" y="238050"/>
                </a:cubicBezTo>
                <a:cubicBezTo>
                  <a:pt x="675868" y="238050"/>
                  <a:pt x="659888" y="222036"/>
                  <a:pt x="659888" y="202281"/>
                </a:cubicBezTo>
                <a:cubicBezTo>
                  <a:pt x="659888" y="182526"/>
                  <a:pt x="675868" y="166512"/>
                  <a:pt x="695581" y="166512"/>
                </a:cubicBezTo>
                <a:close/>
                <a:moveTo>
                  <a:pt x="530609" y="166512"/>
                </a:moveTo>
                <a:cubicBezTo>
                  <a:pt x="550322" y="166512"/>
                  <a:pt x="566302" y="182526"/>
                  <a:pt x="566302" y="202281"/>
                </a:cubicBezTo>
                <a:cubicBezTo>
                  <a:pt x="566302" y="222036"/>
                  <a:pt x="550322" y="238050"/>
                  <a:pt x="530609" y="238050"/>
                </a:cubicBezTo>
                <a:cubicBezTo>
                  <a:pt x="510896" y="238050"/>
                  <a:pt x="494916" y="222036"/>
                  <a:pt x="494916" y="202281"/>
                </a:cubicBezTo>
                <a:cubicBezTo>
                  <a:pt x="494916" y="182526"/>
                  <a:pt x="510896" y="166512"/>
                  <a:pt x="530609" y="166512"/>
                </a:cubicBezTo>
                <a:close/>
                <a:moveTo>
                  <a:pt x="365637" y="166512"/>
                </a:moveTo>
                <a:cubicBezTo>
                  <a:pt x="385350" y="166512"/>
                  <a:pt x="401330" y="182526"/>
                  <a:pt x="401330" y="202281"/>
                </a:cubicBezTo>
                <a:cubicBezTo>
                  <a:pt x="401330" y="222036"/>
                  <a:pt x="385350" y="238050"/>
                  <a:pt x="365637" y="238050"/>
                </a:cubicBezTo>
                <a:cubicBezTo>
                  <a:pt x="345924" y="238050"/>
                  <a:pt x="329944" y="222036"/>
                  <a:pt x="329944" y="202281"/>
                </a:cubicBezTo>
                <a:cubicBezTo>
                  <a:pt x="329944" y="182526"/>
                  <a:pt x="345924" y="166512"/>
                  <a:pt x="365637" y="166512"/>
                </a:cubicBezTo>
                <a:close/>
                <a:moveTo>
                  <a:pt x="200665" y="166512"/>
                </a:moveTo>
                <a:cubicBezTo>
                  <a:pt x="220378" y="166512"/>
                  <a:pt x="236358" y="182526"/>
                  <a:pt x="236358" y="202281"/>
                </a:cubicBezTo>
                <a:cubicBezTo>
                  <a:pt x="236358" y="222036"/>
                  <a:pt x="220378" y="238050"/>
                  <a:pt x="200665" y="238050"/>
                </a:cubicBezTo>
                <a:cubicBezTo>
                  <a:pt x="180952" y="238050"/>
                  <a:pt x="164972" y="222036"/>
                  <a:pt x="164972" y="202281"/>
                </a:cubicBezTo>
                <a:cubicBezTo>
                  <a:pt x="164972" y="182526"/>
                  <a:pt x="180952" y="166512"/>
                  <a:pt x="200665" y="166512"/>
                </a:cubicBezTo>
                <a:close/>
                <a:moveTo>
                  <a:pt x="35693" y="166512"/>
                </a:moveTo>
                <a:cubicBezTo>
                  <a:pt x="55406" y="166512"/>
                  <a:pt x="71386" y="182526"/>
                  <a:pt x="71386" y="202281"/>
                </a:cubicBezTo>
                <a:cubicBezTo>
                  <a:pt x="71386" y="222036"/>
                  <a:pt x="55406" y="238050"/>
                  <a:pt x="35693" y="238050"/>
                </a:cubicBezTo>
                <a:cubicBezTo>
                  <a:pt x="15980" y="238050"/>
                  <a:pt x="0" y="222036"/>
                  <a:pt x="0" y="202281"/>
                </a:cubicBezTo>
                <a:cubicBezTo>
                  <a:pt x="0" y="182526"/>
                  <a:pt x="15980" y="166512"/>
                  <a:pt x="35693" y="166512"/>
                </a:cubicBezTo>
                <a:close/>
                <a:moveTo>
                  <a:pt x="860553" y="0"/>
                </a:moveTo>
                <a:cubicBezTo>
                  <a:pt x="880266" y="0"/>
                  <a:pt x="896246" y="16014"/>
                  <a:pt x="896246" y="35769"/>
                </a:cubicBezTo>
                <a:cubicBezTo>
                  <a:pt x="896246" y="55524"/>
                  <a:pt x="880266" y="71538"/>
                  <a:pt x="860553" y="71538"/>
                </a:cubicBezTo>
                <a:cubicBezTo>
                  <a:pt x="840840" y="71538"/>
                  <a:pt x="824860" y="55524"/>
                  <a:pt x="824860" y="35769"/>
                </a:cubicBezTo>
                <a:cubicBezTo>
                  <a:pt x="824860" y="16014"/>
                  <a:pt x="840840" y="0"/>
                  <a:pt x="860553" y="0"/>
                </a:cubicBezTo>
                <a:close/>
                <a:moveTo>
                  <a:pt x="695581" y="0"/>
                </a:moveTo>
                <a:cubicBezTo>
                  <a:pt x="715294" y="0"/>
                  <a:pt x="731274" y="16014"/>
                  <a:pt x="731274" y="35769"/>
                </a:cubicBezTo>
                <a:cubicBezTo>
                  <a:pt x="731274" y="55524"/>
                  <a:pt x="715294" y="71538"/>
                  <a:pt x="695581" y="71538"/>
                </a:cubicBezTo>
                <a:cubicBezTo>
                  <a:pt x="675868" y="71538"/>
                  <a:pt x="659888" y="55524"/>
                  <a:pt x="659888" y="35769"/>
                </a:cubicBezTo>
                <a:cubicBezTo>
                  <a:pt x="659888" y="16014"/>
                  <a:pt x="675868" y="0"/>
                  <a:pt x="695581" y="0"/>
                </a:cubicBezTo>
                <a:close/>
                <a:moveTo>
                  <a:pt x="530609" y="0"/>
                </a:moveTo>
                <a:cubicBezTo>
                  <a:pt x="550322" y="0"/>
                  <a:pt x="566302" y="16014"/>
                  <a:pt x="566302" y="35769"/>
                </a:cubicBezTo>
                <a:cubicBezTo>
                  <a:pt x="566302" y="55524"/>
                  <a:pt x="550322" y="71538"/>
                  <a:pt x="530609" y="71538"/>
                </a:cubicBezTo>
                <a:cubicBezTo>
                  <a:pt x="510896" y="71538"/>
                  <a:pt x="494916" y="55524"/>
                  <a:pt x="494916" y="35769"/>
                </a:cubicBezTo>
                <a:cubicBezTo>
                  <a:pt x="494916" y="16014"/>
                  <a:pt x="510896" y="0"/>
                  <a:pt x="530609" y="0"/>
                </a:cubicBezTo>
                <a:close/>
                <a:moveTo>
                  <a:pt x="365637" y="0"/>
                </a:moveTo>
                <a:cubicBezTo>
                  <a:pt x="385350" y="0"/>
                  <a:pt x="401330" y="16014"/>
                  <a:pt x="401330" y="35769"/>
                </a:cubicBezTo>
                <a:cubicBezTo>
                  <a:pt x="401330" y="55524"/>
                  <a:pt x="385350" y="71538"/>
                  <a:pt x="365637" y="71538"/>
                </a:cubicBezTo>
                <a:cubicBezTo>
                  <a:pt x="345924" y="71538"/>
                  <a:pt x="329944" y="55524"/>
                  <a:pt x="329944" y="35769"/>
                </a:cubicBezTo>
                <a:cubicBezTo>
                  <a:pt x="329944" y="16014"/>
                  <a:pt x="345924" y="0"/>
                  <a:pt x="365637" y="0"/>
                </a:cubicBezTo>
                <a:close/>
                <a:moveTo>
                  <a:pt x="200665" y="0"/>
                </a:moveTo>
                <a:cubicBezTo>
                  <a:pt x="220378" y="0"/>
                  <a:pt x="236358" y="16014"/>
                  <a:pt x="236358" y="35769"/>
                </a:cubicBezTo>
                <a:cubicBezTo>
                  <a:pt x="236358" y="55524"/>
                  <a:pt x="220378" y="71538"/>
                  <a:pt x="200665" y="71538"/>
                </a:cubicBezTo>
                <a:cubicBezTo>
                  <a:pt x="180952" y="71538"/>
                  <a:pt x="164972" y="55524"/>
                  <a:pt x="164972" y="35769"/>
                </a:cubicBezTo>
                <a:cubicBezTo>
                  <a:pt x="164972" y="16014"/>
                  <a:pt x="180952" y="0"/>
                  <a:pt x="200665" y="0"/>
                </a:cubicBezTo>
                <a:close/>
                <a:moveTo>
                  <a:pt x="35693" y="0"/>
                </a:moveTo>
                <a:cubicBezTo>
                  <a:pt x="55406" y="0"/>
                  <a:pt x="71386" y="16014"/>
                  <a:pt x="71386" y="35769"/>
                </a:cubicBezTo>
                <a:cubicBezTo>
                  <a:pt x="71386" y="55524"/>
                  <a:pt x="55406" y="71538"/>
                  <a:pt x="35693" y="71538"/>
                </a:cubicBezTo>
                <a:cubicBezTo>
                  <a:pt x="15980" y="71538"/>
                  <a:pt x="0" y="55524"/>
                  <a:pt x="0" y="35769"/>
                </a:cubicBezTo>
                <a:cubicBezTo>
                  <a:pt x="0" y="16014"/>
                  <a:pt x="15980" y="0"/>
                  <a:pt x="35693" y="0"/>
                </a:cubicBezTo>
                <a:close/>
              </a:path>
            </a:pathLst>
          </a:custGeom>
          <a:solidFill>
            <a:schemeClr val="accent1">
              <a:alpha val="53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892968" y="2626702"/>
            <a:ext cx="3393945" cy="45719"/>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flipH="1">
            <a:off x="4185381" y="3986456"/>
            <a:ext cx="1077549" cy="166303"/>
          </a:xfrm>
          <a:custGeom>
            <a:avLst/>
            <a:gdLst>
              <a:gd name="connsiteX0" fmla="*/ 123233 w 1077549"/>
              <a:gd name="connsiteY0" fmla="*/ 0 h 166303"/>
              <a:gd name="connsiteX1" fmla="*/ 44332 w 1077549"/>
              <a:gd name="connsiteY1" fmla="*/ 0 h 166303"/>
              <a:gd name="connsiteX2" fmla="*/ 0 w 1077549"/>
              <a:gd name="connsiteY2" fmla="*/ 166303 h 166303"/>
              <a:gd name="connsiteX3" fmla="*/ 78901 w 1077549"/>
              <a:gd name="connsiteY3" fmla="*/ 166303 h 166303"/>
              <a:gd name="connsiteX4" fmla="*/ 361812 w 1077549"/>
              <a:gd name="connsiteY4" fmla="*/ 0 h 166303"/>
              <a:gd name="connsiteX5" fmla="*/ 282911 w 1077549"/>
              <a:gd name="connsiteY5" fmla="*/ 0 h 166303"/>
              <a:gd name="connsiteX6" fmla="*/ 238579 w 1077549"/>
              <a:gd name="connsiteY6" fmla="*/ 166303 h 166303"/>
              <a:gd name="connsiteX7" fmla="*/ 317480 w 1077549"/>
              <a:gd name="connsiteY7" fmla="*/ 166303 h 166303"/>
              <a:gd name="connsiteX8" fmla="*/ 600391 w 1077549"/>
              <a:gd name="connsiteY8" fmla="*/ 0 h 166303"/>
              <a:gd name="connsiteX9" fmla="*/ 521490 w 1077549"/>
              <a:gd name="connsiteY9" fmla="*/ 0 h 166303"/>
              <a:gd name="connsiteX10" fmla="*/ 477158 w 1077549"/>
              <a:gd name="connsiteY10" fmla="*/ 166303 h 166303"/>
              <a:gd name="connsiteX11" fmla="*/ 556059 w 1077549"/>
              <a:gd name="connsiteY11" fmla="*/ 166303 h 166303"/>
              <a:gd name="connsiteX12" fmla="*/ 838970 w 1077549"/>
              <a:gd name="connsiteY12" fmla="*/ 0 h 166303"/>
              <a:gd name="connsiteX13" fmla="*/ 760069 w 1077549"/>
              <a:gd name="connsiteY13" fmla="*/ 0 h 166303"/>
              <a:gd name="connsiteX14" fmla="*/ 715737 w 1077549"/>
              <a:gd name="connsiteY14" fmla="*/ 166303 h 166303"/>
              <a:gd name="connsiteX15" fmla="*/ 794638 w 1077549"/>
              <a:gd name="connsiteY15" fmla="*/ 166303 h 166303"/>
              <a:gd name="connsiteX16" fmla="*/ 1077549 w 1077549"/>
              <a:gd name="connsiteY16" fmla="*/ 0 h 166303"/>
              <a:gd name="connsiteX17" fmla="*/ 998648 w 1077549"/>
              <a:gd name="connsiteY17" fmla="*/ 0 h 166303"/>
              <a:gd name="connsiteX18" fmla="*/ 954316 w 1077549"/>
              <a:gd name="connsiteY18" fmla="*/ 166303 h 166303"/>
              <a:gd name="connsiteX19" fmla="*/ 1033217 w 1077549"/>
              <a:gd name="connsiteY19" fmla="*/ 166303 h 166303"/>
            </a:gdLst>
            <a:ahLst/>
            <a:cxnLst/>
            <a:rect l="l" t="t" r="r" b="b"/>
            <a:pathLst>
              <a:path w="1077549" h="166303">
                <a:moveTo>
                  <a:pt x="123233" y="0"/>
                </a:moveTo>
                <a:lnTo>
                  <a:pt x="44332" y="0"/>
                </a:lnTo>
                <a:lnTo>
                  <a:pt x="0" y="166303"/>
                </a:lnTo>
                <a:lnTo>
                  <a:pt x="78901" y="166303"/>
                </a:lnTo>
                <a:close/>
                <a:moveTo>
                  <a:pt x="361812" y="0"/>
                </a:moveTo>
                <a:lnTo>
                  <a:pt x="282911" y="0"/>
                </a:lnTo>
                <a:lnTo>
                  <a:pt x="238579" y="166303"/>
                </a:lnTo>
                <a:lnTo>
                  <a:pt x="317480" y="166303"/>
                </a:lnTo>
                <a:close/>
                <a:moveTo>
                  <a:pt x="600391" y="0"/>
                </a:moveTo>
                <a:lnTo>
                  <a:pt x="521490" y="0"/>
                </a:lnTo>
                <a:lnTo>
                  <a:pt x="477158" y="166303"/>
                </a:lnTo>
                <a:lnTo>
                  <a:pt x="556059" y="166303"/>
                </a:lnTo>
                <a:close/>
                <a:moveTo>
                  <a:pt x="838970" y="0"/>
                </a:moveTo>
                <a:lnTo>
                  <a:pt x="760069" y="0"/>
                </a:lnTo>
                <a:lnTo>
                  <a:pt x="715737" y="166303"/>
                </a:lnTo>
                <a:lnTo>
                  <a:pt x="794638" y="166303"/>
                </a:lnTo>
                <a:close/>
                <a:moveTo>
                  <a:pt x="1077549" y="0"/>
                </a:moveTo>
                <a:lnTo>
                  <a:pt x="998648" y="0"/>
                </a:lnTo>
                <a:lnTo>
                  <a:pt x="954316" y="166303"/>
                </a:lnTo>
                <a:lnTo>
                  <a:pt x="1033217" y="166303"/>
                </a:lnTo>
                <a:close/>
              </a:path>
            </a:pathLst>
          </a:custGeom>
          <a:solidFill>
            <a:schemeClr val="accent2">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1934918" y="4841872"/>
            <a:ext cx="971952" cy="280759"/>
          </a:xfrm>
          <a:prstGeom prst="rect">
            <a:avLst/>
          </a:prstGeom>
          <a:noFill/>
          <a:ln>
            <a:noFill/>
          </a:ln>
        </p:spPr>
        <p:txBody>
          <a:bodyPr vert="horz" wrap="square" lIns="0" tIns="0" rIns="0" bIns="0" rtlCol="0" anchor="ctr"/>
          <a:lstStyle/>
          <a:p>
            <a:pPr algn="l">
              <a:lnSpc>
                <a:spcPct val="110000"/>
              </a:lnSpc>
            </a:pPr>
            <a:r>
              <a:rPr kumimoji="1" lang="en-US" altLang="zh-CN" sz="1700">
                <a:ln w="12700">
                  <a:noFill/>
                </a:ln>
                <a:solidFill>
                  <a:srgbClr val="FFFFFF">
                    <a:alpha val="100000"/>
                  </a:srgbClr>
                </a:solidFill>
                <a:latin typeface="Source Han Sans CN Normal"/>
                <a:ea typeface="Source Han Sans CN Normal"/>
                <a:cs typeface="Source Han Sans CN Normal"/>
              </a:rPr>
              <a:t>T2402057</a:t>
            </a:r>
            <a:endParaRPr kumimoji="1" lang="zh-CN" altLang="en-US"/>
          </a:p>
        </p:txBody>
      </p:sp>
      <p:sp>
        <p:nvSpPr>
          <p:cNvPr id="22" name="标题 1"/>
          <p:cNvSpPr txBox="1"/>
          <p:nvPr/>
        </p:nvSpPr>
        <p:spPr>
          <a:xfrm>
            <a:off x="1111767" y="4841872"/>
            <a:ext cx="899351" cy="280759"/>
          </a:xfrm>
          <a:prstGeom prst="rect">
            <a:avLst/>
          </a:prstGeom>
          <a:noFill/>
          <a:ln>
            <a:noFill/>
          </a:ln>
        </p:spPr>
        <p:txBody>
          <a:bodyPr vert="horz" wrap="square" lIns="0" tIns="0" rIns="0" bIns="0" rtlCol="0" anchor="ctr"/>
          <a:lstStyle/>
          <a:p>
            <a:pPr algn="l">
              <a:lnSpc>
                <a:spcPct val="110000"/>
              </a:lnSpc>
            </a:pPr>
            <a:r>
              <a:rPr kumimoji="1" lang="en-US" altLang="zh-CN" sz="1400">
                <a:ln w="12700">
                  <a:noFill/>
                </a:ln>
                <a:solidFill>
                  <a:srgbClr val="FFFFFF">
                    <a:alpha val="100000"/>
                  </a:srgbClr>
                </a:solidFill>
                <a:latin typeface="Source Han Sans CN Normal"/>
                <a:ea typeface="Source Han Sans CN Normal"/>
                <a:cs typeface="Source Han Sans CN Normal"/>
              </a:rPr>
              <a:t>团队编号：</a:t>
            </a:r>
            <a:endParaRPr kumimoji="1" lang="zh-CN" altLang="en-US"/>
          </a:p>
        </p:txBody>
      </p:sp>
      <p:sp>
        <p:nvSpPr>
          <p:cNvPr id="23" name="标题 1"/>
          <p:cNvSpPr txBox="1"/>
          <p:nvPr/>
        </p:nvSpPr>
        <p:spPr>
          <a:xfrm>
            <a:off x="4003306" y="4851292"/>
            <a:ext cx="679552" cy="261918"/>
          </a:xfrm>
          <a:prstGeom prst="rect">
            <a:avLst/>
          </a:prstGeom>
          <a:noFill/>
          <a:ln>
            <a:noFill/>
          </a:ln>
        </p:spPr>
        <p:txBody>
          <a:bodyPr vert="horz" wrap="square" lIns="0" tIns="0" rIns="0" bIns="0" rtlCol="0" anchor="ctr"/>
          <a:lstStyle/>
          <a:p>
            <a:pPr algn="l">
              <a:lnSpc>
                <a:spcPct val="110000"/>
              </a:lnSpc>
            </a:pPr>
            <a:r>
              <a:rPr kumimoji="1" lang="en-US" altLang="zh-CN" sz="1700">
                <a:ln w="12700">
                  <a:noFill/>
                </a:ln>
                <a:solidFill>
                  <a:srgbClr val="FFFFFF">
                    <a:alpha val="100000"/>
                  </a:srgbClr>
                </a:solidFill>
                <a:latin typeface="Source Han Sans CN Normal"/>
                <a:ea typeface="Source Han Sans CN Normal"/>
                <a:cs typeface="Source Han Sans CN Normal"/>
              </a:rPr>
              <a:t>时间：</a:t>
            </a:r>
            <a:endParaRPr kumimoji="1" lang="zh-CN" altLang="en-US"/>
          </a:p>
        </p:txBody>
      </p:sp>
      <p:sp>
        <p:nvSpPr>
          <p:cNvPr id="24" name="标题 1"/>
          <p:cNvSpPr txBox="1"/>
          <p:nvPr/>
        </p:nvSpPr>
        <p:spPr>
          <a:xfrm>
            <a:off x="4687045" y="4851292"/>
            <a:ext cx="742969" cy="261918"/>
          </a:xfrm>
          <a:prstGeom prst="rect">
            <a:avLst/>
          </a:prstGeom>
          <a:noFill/>
          <a:ln>
            <a:noFill/>
          </a:ln>
        </p:spPr>
        <p:txBody>
          <a:bodyPr vert="horz" wrap="square" lIns="0" tIns="0" rIns="0" bIns="0" rtlCol="0" anchor="ctr"/>
          <a:lstStyle/>
          <a:p>
            <a:pPr algn="l">
              <a:lnSpc>
                <a:spcPct val="110000"/>
              </a:lnSpc>
            </a:pPr>
            <a:r>
              <a:rPr kumimoji="1" lang="en-US" altLang="zh-CN" sz="1700">
                <a:ln w="12700">
                  <a:noFill/>
                </a:ln>
                <a:solidFill>
                  <a:srgbClr val="FFFFFF">
                    <a:alpha val="100000"/>
                  </a:srgbClr>
                </a:solidFill>
                <a:latin typeface="Source Han Sans CN Normal"/>
                <a:ea typeface="Source Han Sans CN Normal"/>
                <a:cs typeface="Source Han Sans CN Normal"/>
              </a:rPr>
              <a:t>2025.4</a:t>
            </a:r>
            <a:endParaRPr kumimoji="1" lang="zh-CN" altLang="en-US"/>
          </a:p>
        </p:txBody>
      </p:sp>
      <p:sp>
        <p:nvSpPr>
          <p:cNvPr id="25" name="标题 1"/>
          <p:cNvSpPr txBox="1"/>
          <p:nvPr/>
        </p:nvSpPr>
        <p:spPr>
          <a:xfrm>
            <a:off x="557530" y="1946969"/>
            <a:ext cx="7137148" cy="1597125"/>
          </a:xfrm>
          <a:prstGeom prst="rect">
            <a:avLst/>
          </a:prstGeom>
          <a:noFill/>
          <a:ln>
            <a:noFill/>
          </a:ln>
        </p:spPr>
        <p:txBody>
          <a:bodyPr vert="horz" wrap="square" lIns="0" tIns="0" rIns="0" bIns="0" rtlCol="0" anchor="t"/>
          <a:lstStyle/>
          <a:p>
            <a:pPr algn="l">
              <a:lnSpc>
                <a:spcPct val="130000"/>
              </a:lnSpc>
            </a:pPr>
            <a:r>
              <a:rPr kumimoji="1" lang="en-US" altLang="zh-CN" sz="3234">
                <a:ln w="12700">
                  <a:noFill/>
                </a:ln>
                <a:solidFill>
                  <a:srgbClr val="0451C5">
                    <a:alpha val="100000"/>
                  </a:srgbClr>
                </a:solidFill>
                <a:latin typeface="Source Han Sans CN Bold Bold"/>
                <a:ea typeface="Source Han Sans CN Bold Bold"/>
                <a:cs typeface="Source Han Sans CN Bold Bold"/>
              </a:rPr>
              <a:t>多特征融合的眼底视网膜疾病识别系统</a:t>
            </a:r>
            <a:endParaRPr kumimoji="1" lang="zh-CN" altLang="en-US"/>
          </a:p>
        </p:txBody>
      </p:sp>
      <p:sp>
        <p:nvSpPr>
          <p:cNvPr id="26" name="标题 1"/>
          <p:cNvSpPr txBox="1"/>
          <p:nvPr/>
        </p:nvSpPr>
        <p:spPr>
          <a:xfrm>
            <a:off x="722630" y="3891216"/>
            <a:ext cx="3399641" cy="356782"/>
          </a:xfrm>
          <a:prstGeom prst="rect">
            <a:avLst/>
          </a:prstGeom>
          <a:noFill/>
          <a:ln>
            <a:noFill/>
          </a:ln>
        </p:spPr>
        <p:txBody>
          <a:bodyPr vert="horz" wrap="square" lIns="0" tIns="0" rIns="0" bIns="0" rtlCol="0" anchor="t"/>
          <a:lstStyle/>
          <a:p>
            <a:pPr algn="l">
              <a:lnSpc>
                <a:spcPct val="110000"/>
              </a:lnSpc>
            </a:pPr>
            <a:endParaRPr kumimoji="1"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3167381" y="2438624"/>
            <a:ext cx="2692400" cy="457200"/>
          </a:xfrm>
          <a:prstGeom prst="rect">
            <a:avLst/>
          </a:prstGeom>
          <a:noFill/>
          <a:ln>
            <a:noFill/>
          </a:ln>
        </p:spPr>
        <p:txBody>
          <a:bodyPr vert="horz" wrap="square" lIns="0" tIns="0" rIns="0" bIns="0" rtlCol="0" anchor="t">
            <a:spAutoFit/>
          </a:bodyPr>
          <a:lstStyle/>
          <a:p>
            <a:pPr algn="dist">
              <a:lnSpc>
                <a:spcPct val="100000"/>
              </a:lnSpc>
            </a:pPr>
            <a:r>
              <a:rPr kumimoji="1" lang="en-US" altLang="zh-CN" sz="3600">
                <a:ln w="12700">
                  <a:solidFill>
                    <a:srgbClr val="5FAEDE">
                      <a:alpha val="50000"/>
                    </a:srgbClr>
                  </a:solidFill>
                </a:ln>
                <a:noFill/>
                <a:latin typeface="HelloFont WenYiHei"/>
                <a:ea typeface="HelloFont WenYiHei"/>
                <a:cs typeface="HelloFont WenYiHei"/>
              </a:rPr>
              <a:t>CONTENT</a:t>
            </a:r>
            <a:endParaRPr kumimoji="1" lang="zh-CN" altLang="en-US"/>
          </a:p>
        </p:txBody>
      </p:sp>
      <p:sp>
        <p:nvSpPr>
          <p:cNvPr id="4" name="标题 1"/>
          <p:cNvSpPr txBox="1"/>
          <p:nvPr/>
        </p:nvSpPr>
        <p:spPr>
          <a:xfrm>
            <a:off x="2942672" y="826704"/>
            <a:ext cx="2984500" cy="1460500"/>
          </a:xfrm>
          <a:prstGeom prst="rect">
            <a:avLst/>
          </a:prstGeom>
          <a:noFill/>
          <a:ln>
            <a:noFill/>
          </a:ln>
        </p:spPr>
        <p:txBody>
          <a:bodyPr vert="horz" wrap="square" lIns="0" tIns="0" rIns="0" bIns="0" rtlCol="0" anchor="t">
            <a:spAutoFit/>
          </a:bodyPr>
          <a:lstStyle/>
          <a:p>
            <a:pPr algn="ctr">
              <a:lnSpc>
                <a:spcPct val="100000"/>
              </a:lnSpc>
            </a:pPr>
            <a:r>
              <a:rPr kumimoji="1" lang="en-US" altLang="zh-CN" sz="11500">
                <a:ln w="12700">
                  <a:noFill/>
                </a:ln>
                <a:solidFill>
                  <a:srgbClr val="0451C5">
                    <a:alpha val="100000"/>
                  </a:srgbClr>
                </a:solidFill>
                <a:latin typeface="HelloFont WenYiHei"/>
                <a:ea typeface="HelloFont WenYiHei"/>
                <a:cs typeface="HelloFont WenYiHei"/>
              </a:rPr>
              <a:t>目录</a:t>
            </a:r>
            <a:endParaRPr kumimoji="1" lang="zh-CN" altLang="en-US"/>
          </a:p>
        </p:txBody>
      </p:sp>
      <p:grpSp>
        <p:nvGrpSpPr>
          <p:cNvPr id="5" name="组合 4"/>
          <p:cNvGrpSpPr/>
          <p:nvPr/>
        </p:nvGrpSpPr>
        <p:grpSpPr>
          <a:xfrm>
            <a:off x="11125200" y="476250"/>
            <a:ext cx="371475" cy="123824"/>
            <a:chOff x="11125200" y="476250"/>
            <a:chExt cx="371475" cy="123824"/>
          </a:xfrm>
        </p:grpSpPr>
        <p:cxnSp>
          <p:nvCxnSpPr>
            <p:cNvPr id="6" name="标题 1"/>
            <p:cNvCxnSpPr/>
            <p:nvPr/>
          </p:nvCxnSpPr>
          <p:spPr>
            <a:xfrm>
              <a:off x="11125200" y="476250"/>
              <a:ext cx="371475" cy="0"/>
            </a:xfrm>
            <a:prstGeom prst="line">
              <a:avLst/>
            </a:prstGeom>
            <a:noFill/>
            <a:ln w="19050" cap="rnd">
              <a:solidFill>
                <a:schemeClr val="accent2">
                  <a:lumMod val="90000"/>
                  <a:lumOff val="10000"/>
                </a:schemeClr>
              </a:solidFill>
              <a:miter/>
            </a:ln>
          </p:spPr>
        </p:cxnSp>
        <p:cxnSp>
          <p:nvCxnSpPr>
            <p:cNvPr id="7" name="标题 1"/>
            <p:cNvCxnSpPr/>
            <p:nvPr/>
          </p:nvCxnSpPr>
          <p:spPr>
            <a:xfrm>
              <a:off x="11125200" y="538162"/>
              <a:ext cx="371475" cy="0"/>
            </a:xfrm>
            <a:prstGeom prst="line">
              <a:avLst/>
            </a:prstGeom>
            <a:noFill/>
            <a:ln w="19050" cap="rnd">
              <a:solidFill>
                <a:schemeClr val="accent2">
                  <a:lumMod val="90000"/>
                  <a:lumOff val="10000"/>
                </a:schemeClr>
              </a:solidFill>
              <a:miter/>
            </a:ln>
          </p:spPr>
        </p:cxnSp>
        <p:cxnSp>
          <p:nvCxnSpPr>
            <p:cNvPr id="8" name="标题 1"/>
            <p:cNvCxnSpPr/>
            <p:nvPr/>
          </p:nvCxnSpPr>
          <p:spPr>
            <a:xfrm>
              <a:off x="11125200" y="600074"/>
              <a:ext cx="371475" cy="0"/>
            </a:xfrm>
            <a:prstGeom prst="line">
              <a:avLst/>
            </a:prstGeom>
            <a:noFill/>
            <a:ln w="19050" cap="rnd">
              <a:solidFill>
                <a:schemeClr val="accent2">
                  <a:lumMod val="90000"/>
                  <a:lumOff val="10000"/>
                </a:schemeClr>
              </a:solidFill>
              <a:miter/>
            </a:ln>
          </p:spPr>
        </p:cxnSp>
      </p:grpSp>
      <p:sp>
        <p:nvSpPr>
          <p:cNvPr id="9" name="标题 1"/>
          <p:cNvSpPr txBox="1"/>
          <p:nvPr/>
        </p:nvSpPr>
        <p:spPr>
          <a:xfrm>
            <a:off x="658815" y="0"/>
            <a:ext cx="2680302" cy="6858000"/>
          </a:xfrm>
          <a:custGeom>
            <a:avLst/>
            <a:gdLst>
              <a:gd name="connsiteX0" fmla="*/ 0 w 2680302"/>
              <a:gd name="connsiteY0" fmla="*/ 0 h 6858000"/>
              <a:gd name="connsiteX1" fmla="*/ 929583 w 2680302"/>
              <a:gd name="connsiteY1" fmla="*/ 0 h 6858000"/>
              <a:gd name="connsiteX2" fmla="*/ 2680302 w 2680302"/>
              <a:gd name="connsiteY2" fmla="*/ 5159300 h 6858000"/>
              <a:gd name="connsiteX3" fmla="*/ 2103878 w 2680302"/>
              <a:gd name="connsiteY3" fmla="*/ 6858000 h 6858000"/>
              <a:gd name="connsiteX4" fmla="*/ 1174294 w 2680302"/>
              <a:gd name="connsiteY4" fmla="*/ 6858000 h 6858000"/>
              <a:gd name="connsiteX5" fmla="*/ 1750719 w 2680302"/>
              <a:gd name="connsiteY5" fmla="*/ 5159300 h 6858000"/>
            </a:gdLst>
            <a:ahLst/>
            <a:cxnLst/>
            <a:rect l="l" t="t" r="r" b="b"/>
            <a:pathLst>
              <a:path w="2680302" h="6858000">
                <a:moveTo>
                  <a:pt x="0" y="0"/>
                </a:moveTo>
                <a:lnTo>
                  <a:pt x="929583" y="0"/>
                </a:lnTo>
                <a:lnTo>
                  <a:pt x="2680302" y="5159300"/>
                </a:lnTo>
                <a:lnTo>
                  <a:pt x="2103878" y="6858000"/>
                </a:lnTo>
                <a:lnTo>
                  <a:pt x="1174294" y="6858000"/>
                </a:lnTo>
                <a:lnTo>
                  <a:pt x="1750719" y="5159300"/>
                </a:lnTo>
                <a:close/>
              </a:path>
            </a:pathLst>
          </a:custGeom>
          <a:solidFill>
            <a:schemeClr val="accent2"/>
          </a:solidFill>
          <a:ln w="9525"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flipH="1">
            <a:off x="658813" y="0"/>
            <a:ext cx="2159307" cy="5159301"/>
          </a:xfrm>
          <a:prstGeom prst="parallelogram">
            <a:avLst>
              <a:gd name="adj" fmla="val 65318"/>
            </a:avLst>
          </a:prstGeom>
          <a:solidFill>
            <a:schemeClr val="accent1"/>
          </a:solidFill>
          <a:ln w="9525"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604850" y="5159301"/>
            <a:ext cx="1213270" cy="1698699"/>
          </a:xfrm>
          <a:custGeom>
            <a:avLst/>
            <a:gdLst>
              <a:gd name="connsiteX0" fmla="*/ 464379 w 1213270"/>
              <a:gd name="connsiteY0" fmla="*/ 0 h 1698699"/>
              <a:gd name="connsiteX1" fmla="*/ 1213270 w 1213270"/>
              <a:gd name="connsiteY1" fmla="*/ 0 h 1698699"/>
              <a:gd name="connsiteX2" fmla="*/ 748891 w 1213270"/>
              <a:gd name="connsiteY2" fmla="*/ 1698699 h 1698699"/>
              <a:gd name="connsiteX3" fmla="*/ 0 w 1213270"/>
              <a:gd name="connsiteY3" fmla="*/ 1698699 h 1698699"/>
            </a:gdLst>
            <a:ahLst/>
            <a:cxnLst/>
            <a:rect l="l" t="t" r="r" b="b"/>
            <a:pathLst>
              <a:path w="1213270" h="1698699">
                <a:moveTo>
                  <a:pt x="464379" y="0"/>
                </a:moveTo>
                <a:lnTo>
                  <a:pt x="1213270" y="0"/>
                </a:lnTo>
                <a:lnTo>
                  <a:pt x="748891" y="1698699"/>
                </a:lnTo>
                <a:lnTo>
                  <a:pt x="0" y="1698699"/>
                </a:lnTo>
                <a:close/>
              </a:path>
            </a:pathLst>
          </a:custGeom>
          <a:solidFill>
            <a:schemeClr val="accent1">
              <a:lumMod val="75000"/>
            </a:schemeClr>
          </a:solidFill>
          <a:ln w="9525"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6774606" y="1577250"/>
            <a:ext cx="629493" cy="629493"/>
          </a:xfrm>
          <a:prstGeom prst="roundRect">
            <a:avLst/>
          </a:prstGeom>
          <a:gradFill>
            <a:gsLst>
              <a:gs pos="0">
                <a:schemeClr val="accent1">
                  <a:lumMod val="80000"/>
                  <a:lumOff val="20000"/>
                </a:schemeClr>
              </a:gs>
              <a:gs pos="100000">
                <a:schemeClr val="accent1"/>
              </a:gs>
            </a:gsLst>
            <a:lin ang="2700000" scaled="0"/>
          </a:gradFill>
          <a:ln w="38100" cap="flat">
            <a:solidFill>
              <a:schemeClr val="bg1"/>
            </a:solidFill>
            <a:miter/>
          </a:ln>
          <a:effectLst>
            <a:outerShdw blurRad="177800" dist="38100" dir="5400000" algn="t" rotWithShape="0">
              <a:schemeClr val="accent1">
                <a:alpha val="20000"/>
              </a:schemeClr>
            </a:outerShdw>
          </a:effectLst>
        </p:spPr>
        <p:txBody>
          <a:bodyPr vert="horz" wrap="square" lIns="0" tIns="0" rIns="0" bIns="0" rtlCol="0" anchor="ctr"/>
          <a:lstStyle/>
          <a:p>
            <a:pPr algn="ctr">
              <a:lnSpc>
                <a:spcPct val="110000"/>
              </a:lnSpc>
            </a:pPr>
            <a:r>
              <a:rPr kumimoji="1" lang="en-US" altLang="zh-CN" sz="2000">
                <a:ln w="12700">
                  <a:noFill/>
                </a:ln>
                <a:solidFill>
                  <a:srgbClr val="FFFFFF">
                    <a:alpha val="100000"/>
                  </a:srgbClr>
                </a:solidFill>
                <a:latin typeface="OPPOSans B"/>
                <a:ea typeface="OPPOSans B"/>
                <a:cs typeface="OPPOSans B"/>
              </a:rPr>
              <a:t>01</a:t>
            </a:r>
            <a:endParaRPr kumimoji="1" lang="zh-CN" altLang="en-US"/>
          </a:p>
        </p:txBody>
      </p:sp>
      <p:sp>
        <p:nvSpPr>
          <p:cNvPr id="13" name="标题 1"/>
          <p:cNvSpPr txBox="1"/>
          <p:nvPr/>
        </p:nvSpPr>
        <p:spPr>
          <a:xfrm>
            <a:off x="6774606" y="3227170"/>
            <a:ext cx="629493" cy="629493"/>
          </a:xfrm>
          <a:prstGeom prst="roundRect">
            <a:avLst/>
          </a:prstGeom>
          <a:gradFill>
            <a:gsLst>
              <a:gs pos="0">
                <a:schemeClr val="accent1">
                  <a:lumMod val="80000"/>
                  <a:lumOff val="20000"/>
                </a:schemeClr>
              </a:gs>
              <a:gs pos="100000">
                <a:schemeClr val="accent1"/>
              </a:gs>
            </a:gsLst>
            <a:lin ang="2700000" scaled="0"/>
          </a:gradFill>
          <a:ln w="38100" cap="flat">
            <a:solidFill>
              <a:schemeClr val="bg1"/>
            </a:solidFill>
            <a:miter/>
          </a:ln>
          <a:effectLst>
            <a:outerShdw blurRad="177800" dist="38100" dir="5400000" algn="t" rotWithShape="0">
              <a:schemeClr val="accent1">
                <a:alpha val="20000"/>
              </a:schemeClr>
            </a:outerShdw>
          </a:effectLst>
        </p:spPr>
        <p:txBody>
          <a:bodyPr vert="horz" wrap="square" lIns="0" tIns="0" rIns="0" bIns="0" rtlCol="0" anchor="ctr"/>
          <a:lstStyle/>
          <a:p>
            <a:pPr algn="ctr">
              <a:lnSpc>
                <a:spcPct val="110000"/>
              </a:lnSpc>
            </a:pPr>
            <a:r>
              <a:rPr kumimoji="1" lang="en-US" altLang="zh-CN" sz="2000">
                <a:ln w="12700">
                  <a:noFill/>
                </a:ln>
                <a:solidFill>
                  <a:srgbClr val="FFFFFF">
                    <a:alpha val="100000"/>
                  </a:srgbClr>
                </a:solidFill>
                <a:latin typeface="OPPOSans B"/>
                <a:ea typeface="OPPOSans B"/>
                <a:cs typeface="OPPOSans B"/>
              </a:rPr>
              <a:t>02</a:t>
            </a:r>
            <a:endParaRPr kumimoji="1" lang="zh-CN" altLang="en-US"/>
          </a:p>
        </p:txBody>
      </p:sp>
      <p:sp>
        <p:nvSpPr>
          <p:cNvPr id="14" name="标题 1"/>
          <p:cNvSpPr txBox="1"/>
          <p:nvPr/>
        </p:nvSpPr>
        <p:spPr>
          <a:xfrm>
            <a:off x="6774606" y="4869829"/>
            <a:ext cx="629493" cy="629493"/>
          </a:xfrm>
          <a:prstGeom prst="roundRect">
            <a:avLst/>
          </a:prstGeom>
          <a:gradFill>
            <a:gsLst>
              <a:gs pos="0">
                <a:schemeClr val="accent1">
                  <a:lumMod val="80000"/>
                  <a:lumOff val="20000"/>
                </a:schemeClr>
              </a:gs>
              <a:gs pos="100000">
                <a:schemeClr val="accent1"/>
              </a:gs>
            </a:gsLst>
            <a:lin ang="2700000" scaled="0"/>
          </a:gradFill>
          <a:ln w="38100" cap="flat">
            <a:solidFill>
              <a:schemeClr val="bg1"/>
            </a:solidFill>
            <a:miter/>
          </a:ln>
          <a:effectLst>
            <a:outerShdw blurRad="177800" dist="38100" dir="5400000" algn="t" rotWithShape="0">
              <a:schemeClr val="accent1">
                <a:alpha val="20000"/>
              </a:schemeClr>
            </a:outerShdw>
          </a:effectLst>
        </p:spPr>
        <p:txBody>
          <a:bodyPr vert="horz" wrap="square" lIns="0" tIns="0" rIns="0" bIns="0" rtlCol="0" anchor="ctr"/>
          <a:lstStyle/>
          <a:p>
            <a:pPr algn="ctr">
              <a:lnSpc>
                <a:spcPct val="110000"/>
              </a:lnSpc>
            </a:pPr>
            <a:r>
              <a:rPr kumimoji="1" lang="en-US" altLang="zh-CN" sz="2000">
                <a:ln w="12700">
                  <a:noFill/>
                </a:ln>
                <a:solidFill>
                  <a:srgbClr val="FFFFFF">
                    <a:alpha val="100000"/>
                  </a:srgbClr>
                </a:solidFill>
                <a:latin typeface="OPPOSans B"/>
                <a:ea typeface="OPPOSans B"/>
                <a:cs typeface="OPPOSans B"/>
              </a:rPr>
              <a:t>03</a:t>
            </a:r>
            <a:endParaRPr kumimoji="1" lang="zh-CN" altLang="en-US"/>
          </a:p>
        </p:txBody>
      </p:sp>
      <p:sp>
        <p:nvSpPr>
          <p:cNvPr id="15" name="标题 1"/>
          <p:cNvSpPr txBox="1"/>
          <p:nvPr/>
        </p:nvSpPr>
        <p:spPr>
          <a:xfrm>
            <a:off x="7638092" y="1163896"/>
            <a:ext cx="3677608" cy="1472493"/>
          </a:xfrm>
          <a:prstGeom prst="rect">
            <a:avLst/>
          </a:prstGeom>
          <a:noFill/>
          <a:ln>
            <a:noFill/>
          </a:ln>
        </p:spPr>
        <p:txBody>
          <a:bodyPr vert="horz" wrap="square" lIns="0" tIns="0" rIns="0" bIns="0" rtlCol="0" anchor="ctr"/>
          <a:lstStyle/>
          <a:p>
            <a:pPr algn="l">
              <a:lnSpc>
                <a:spcPct val="120000"/>
              </a:lnSpc>
            </a:pPr>
            <a:r>
              <a:rPr kumimoji="1" lang="en-US" altLang="zh-CN" sz="2400">
                <a:ln w="12700">
                  <a:noFill/>
                </a:ln>
                <a:solidFill>
                  <a:srgbClr val="0451C5">
                    <a:alpha val="100000"/>
                  </a:srgbClr>
                </a:solidFill>
                <a:latin typeface="Source Han Sans CN Bold Bold"/>
                <a:ea typeface="Source Han Sans CN Bold Bold"/>
                <a:cs typeface="Source Han Sans CN Bold Bold"/>
              </a:rPr>
              <a:t>作品概述</a:t>
            </a:r>
            <a:endParaRPr kumimoji="1" lang="zh-CN" altLang="en-US"/>
          </a:p>
        </p:txBody>
      </p:sp>
      <p:sp>
        <p:nvSpPr>
          <p:cNvPr id="16" name="标题 1"/>
          <p:cNvSpPr txBox="1"/>
          <p:nvPr/>
        </p:nvSpPr>
        <p:spPr>
          <a:xfrm>
            <a:off x="7638092" y="2814094"/>
            <a:ext cx="3677608" cy="1472493"/>
          </a:xfrm>
          <a:prstGeom prst="rect">
            <a:avLst/>
          </a:prstGeom>
          <a:noFill/>
          <a:ln>
            <a:noFill/>
          </a:ln>
        </p:spPr>
        <p:txBody>
          <a:bodyPr vert="horz" wrap="square" lIns="0" tIns="0" rIns="0" bIns="0" rtlCol="0" anchor="ctr"/>
          <a:lstStyle/>
          <a:p>
            <a:pPr algn="l">
              <a:lnSpc>
                <a:spcPct val="120000"/>
              </a:lnSpc>
            </a:pPr>
            <a:r>
              <a:rPr kumimoji="1" lang="en-US" altLang="zh-CN" sz="2400">
                <a:ln w="12700">
                  <a:noFill/>
                </a:ln>
                <a:solidFill>
                  <a:srgbClr val="0451C5">
                    <a:alpha val="100000"/>
                  </a:srgbClr>
                </a:solidFill>
                <a:latin typeface="Source Han Sans CN Bold Bold"/>
                <a:ea typeface="Source Han Sans CN Bold Bold"/>
                <a:cs typeface="Source Han Sans CN Bold Bold"/>
              </a:rPr>
              <a:t>需求分析</a:t>
            </a:r>
            <a:endParaRPr kumimoji="1" lang="zh-CN" altLang="en-US"/>
          </a:p>
        </p:txBody>
      </p:sp>
      <p:sp>
        <p:nvSpPr>
          <p:cNvPr id="17" name="标题 1"/>
          <p:cNvSpPr txBox="1"/>
          <p:nvPr/>
        </p:nvSpPr>
        <p:spPr>
          <a:xfrm>
            <a:off x="7638092" y="4457031"/>
            <a:ext cx="3677608" cy="1472493"/>
          </a:xfrm>
          <a:prstGeom prst="rect">
            <a:avLst/>
          </a:prstGeom>
          <a:noFill/>
          <a:ln>
            <a:noFill/>
          </a:ln>
        </p:spPr>
        <p:txBody>
          <a:bodyPr vert="horz" wrap="square" lIns="0" tIns="0" rIns="0" bIns="0" rtlCol="0" anchor="ctr"/>
          <a:lstStyle/>
          <a:p>
            <a:pPr algn="l">
              <a:lnSpc>
                <a:spcPct val="120000"/>
              </a:lnSpc>
            </a:pPr>
            <a:r>
              <a:rPr kumimoji="1" lang="en-US" altLang="zh-CN" sz="2400">
                <a:ln w="12700">
                  <a:noFill/>
                </a:ln>
                <a:solidFill>
                  <a:srgbClr val="0451C5">
                    <a:alpha val="100000"/>
                  </a:srgbClr>
                </a:solidFill>
                <a:latin typeface="Source Han Sans CN Bold Bold"/>
                <a:ea typeface="Source Han Sans CN Bold Bold"/>
                <a:cs typeface="Source Han Sans CN Bold Bold"/>
              </a:rPr>
              <a:t>系统设计</a:t>
            </a:r>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8871626" cy="6858000"/>
          </a:xfrm>
          <a:custGeom>
            <a:avLst/>
            <a:gdLst>
              <a:gd name="connsiteX0" fmla="*/ 0 w 8871626"/>
              <a:gd name="connsiteY0" fmla="*/ 0 h 6858000"/>
              <a:gd name="connsiteX1" fmla="*/ 6674736 w 8871626"/>
              <a:gd name="connsiteY1" fmla="*/ 0 h 6858000"/>
              <a:gd name="connsiteX2" fmla="*/ 6730884 w 8871626"/>
              <a:gd name="connsiteY2" fmla="*/ 25301 h 6858000"/>
              <a:gd name="connsiteX3" fmla="*/ 8871626 w 8871626"/>
              <a:gd name="connsiteY3" fmla="*/ 3495454 h 6858000"/>
              <a:gd name="connsiteX4" fmla="*/ 7016421 w 8871626"/>
              <a:gd name="connsiteY4" fmla="*/ 6807477 h 6858000"/>
              <a:gd name="connsiteX5" fmla="*/ 6928992 w 8871626"/>
              <a:gd name="connsiteY5" fmla="*/ 6858000 h 6858000"/>
              <a:gd name="connsiteX6" fmla="*/ 0 w 8871626"/>
              <a:gd name="connsiteY6" fmla="*/ 6858000 h 6858000"/>
            </a:gdLst>
            <a:ahLst/>
            <a:cxnLst/>
            <a:rect l="l" t="t" r="r" b="b"/>
            <a:pathLst>
              <a:path w="8871626" h="6858000">
                <a:moveTo>
                  <a:pt x="0" y="0"/>
                </a:moveTo>
                <a:lnTo>
                  <a:pt x="6674736" y="0"/>
                </a:lnTo>
                <a:lnTo>
                  <a:pt x="6730884" y="25301"/>
                </a:lnTo>
                <a:cubicBezTo>
                  <a:pt x="7999672" y="658995"/>
                  <a:pt x="8871626" y="1974884"/>
                  <a:pt x="8871626" y="3495454"/>
                </a:cubicBezTo>
                <a:cubicBezTo>
                  <a:pt x="8871626" y="4899057"/>
                  <a:pt x="8128660" y="6128257"/>
                  <a:pt x="7016421" y="6807477"/>
                </a:cubicBezTo>
                <a:lnTo>
                  <a:pt x="6928992" y="6858000"/>
                </a:lnTo>
                <a:lnTo>
                  <a:pt x="0" y="6858000"/>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871626" y="0"/>
            <a:ext cx="3320374" cy="6858000"/>
          </a:xfrm>
          <a:custGeom>
            <a:avLst/>
            <a:gdLst>
              <a:gd name="connsiteX0" fmla="*/ 2872902 w 3457103"/>
              <a:gd name="connsiteY0" fmla="*/ 0 h 6858000"/>
              <a:gd name="connsiteX1" fmla="*/ 3457103 w 3457103"/>
              <a:gd name="connsiteY1" fmla="*/ 0 h 6858000"/>
              <a:gd name="connsiteX2" fmla="*/ 3457103 w 3457103"/>
              <a:gd name="connsiteY2" fmla="*/ 6858000 h 6858000"/>
              <a:gd name="connsiteX3" fmla="*/ 2872902 w 3457103"/>
              <a:gd name="connsiteY3" fmla="*/ 6858000 h 6858000"/>
              <a:gd name="connsiteX4" fmla="*/ 2661424 w 3457103"/>
              <a:gd name="connsiteY4" fmla="*/ 6858000 h 6858000"/>
              <a:gd name="connsiteX5" fmla="*/ 2524483 w 3457103"/>
              <a:gd name="connsiteY5" fmla="*/ 6853539 h 6858000"/>
              <a:gd name="connsiteX6" fmla="*/ 0 w 3457103"/>
              <a:gd name="connsiteY6" fmla="*/ 3429001 h 6858000"/>
              <a:gd name="connsiteX7" fmla="*/ 2661439 w 3457103"/>
              <a:gd name="connsiteY7" fmla="*/ 1 h 6858000"/>
              <a:gd name="connsiteX8" fmla="*/ 2872902 w 3457103"/>
              <a:gd name="connsiteY8" fmla="*/ 1 h 6858000"/>
            </a:gdLst>
            <a:ahLst/>
            <a:cxnLst/>
            <a:rect l="l" t="t" r="r" b="b"/>
            <a:pathLst>
              <a:path w="3457103" h="6858000">
                <a:moveTo>
                  <a:pt x="2872902" y="0"/>
                </a:moveTo>
                <a:lnTo>
                  <a:pt x="3457103" y="0"/>
                </a:lnTo>
                <a:lnTo>
                  <a:pt x="3457103" y="6858000"/>
                </a:lnTo>
                <a:lnTo>
                  <a:pt x="2872902" y="6858000"/>
                </a:lnTo>
                <a:lnTo>
                  <a:pt x="2661424" y="6858000"/>
                </a:lnTo>
                <a:lnTo>
                  <a:pt x="2524483" y="6853539"/>
                </a:lnTo>
                <a:cubicBezTo>
                  <a:pt x="1118259" y="6761700"/>
                  <a:pt x="0" y="5263604"/>
                  <a:pt x="0" y="3429001"/>
                </a:cubicBezTo>
                <a:cubicBezTo>
                  <a:pt x="-1" y="1535217"/>
                  <a:pt x="1191567" y="1"/>
                  <a:pt x="2661439" y="1"/>
                </a:cubicBezTo>
                <a:lnTo>
                  <a:pt x="2872902" y="1"/>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489979" y="527998"/>
            <a:ext cx="11214100" cy="5829300"/>
          </a:xfrm>
          <a:prstGeom prst="rect">
            <a:avLst/>
          </a:prstGeom>
          <a:solidFill>
            <a:schemeClr val="bg1"/>
          </a:solidFill>
          <a:ln w="9525" cap="sq">
            <a:solidFill>
              <a:schemeClr val="accent1">
                <a:lumMod val="60000"/>
                <a:lumOff val="40000"/>
                <a:alpha val="100000"/>
              </a:schemeClr>
            </a:solidFill>
            <a:miter/>
          </a:ln>
          <a:effectLst>
            <a:outerShdw blurRad="63500" sx="101000" sy="101000" algn="ctr" rotWithShape="0">
              <a:schemeClr val="accent1">
                <a:lumMod val="60000"/>
                <a:lumOff val="40000"/>
                <a:alpha val="4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flipH="1">
            <a:off x="487921" y="514350"/>
            <a:ext cx="5218612" cy="5829300"/>
          </a:xfrm>
          <a:custGeom>
            <a:avLst/>
            <a:gdLst>
              <a:gd name="connsiteX0" fmla="*/ 140769 w 4989228"/>
              <a:gd name="connsiteY0" fmla="*/ 0 h 5829300"/>
              <a:gd name="connsiteX1" fmla="*/ 4989228 w 4989228"/>
              <a:gd name="connsiteY1" fmla="*/ 0 h 5829300"/>
              <a:gd name="connsiteX2" fmla="*/ 4989228 w 4989228"/>
              <a:gd name="connsiteY2" fmla="*/ 5829300 h 5829300"/>
              <a:gd name="connsiteX3" fmla="*/ 140769 w 4989228"/>
              <a:gd name="connsiteY3" fmla="*/ 5829300 h 5829300"/>
              <a:gd name="connsiteX4" fmla="*/ 140769 w 4989228"/>
              <a:gd name="connsiteY4" fmla="*/ 0 h 5829300"/>
            </a:gdLst>
            <a:ahLst/>
            <a:cxnLst/>
            <a:rect l="l" t="t" r="r" b="b"/>
            <a:pathLst>
              <a:path w="4989228" h="5829300">
                <a:moveTo>
                  <a:pt x="140769" y="0"/>
                </a:moveTo>
                <a:lnTo>
                  <a:pt x="4989228" y="0"/>
                </a:lnTo>
                <a:lnTo>
                  <a:pt x="4989228" y="5829300"/>
                </a:lnTo>
                <a:lnTo>
                  <a:pt x="140769" y="5829300"/>
                </a:lnTo>
                <a:cubicBezTo>
                  <a:pt x="-417228" y="3973986"/>
                  <a:pt x="916940" y="2135159"/>
                  <a:pt x="140769" y="0"/>
                </a:cubicBezTo>
                <a:close/>
              </a:path>
            </a:pathLst>
          </a:custGeom>
          <a:solidFill>
            <a:schemeClr val="accent1">
              <a:lumMod val="40000"/>
              <a:lumOff val="60000"/>
              <a:alpha val="58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5637609" y="648697"/>
            <a:ext cx="1485150" cy="2468596"/>
          </a:xfrm>
          <a:prstGeom prst="rect">
            <a:avLst/>
          </a:prstGeom>
          <a:noFill/>
          <a:ln>
            <a:noFill/>
          </a:ln>
          <a:effectLst/>
        </p:spPr>
        <p:txBody>
          <a:bodyPr vert="horz" wrap="square" lIns="0" tIns="0" rIns="0" bIns="0" rtlCol="0" anchor="b"/>
          <a:lstStyle/>
          <a:p>
            <a:pPr algn="r">
              <a:lnSpc>
                <a:spcPct val="110000"/>
              </a:lnSpc>
            </a:pPr>
            <a:r>
              <a:rPr kumimoji="1" lang="en-US" altLang="zh-CN" sz="7200">
                <a:ln w="12700">
                  <a:noFill/>
                </a:ln>
                <a:solidFill>
                  <a:srgbClr val="316826">
                    <a:alpha val="100000"/>
                  </a:srgbClr>
                </a:solidFill>
                <a:latin typeface="Source Han Sans CN Bold Bold"/>
                <a:ea typeface="Source Han Sans CN Bold Bold"/>
                <a:cs typeface="Source Han Sans CN Bold Bold"/>
              </a:rPr>
              <a:t>01</a:t>
            </a:r>
            <a:endParaRPr kumimoji="1" lang="zh-CN" altLang="en-US"/>
          </a:p>
        </p:txBody>
      </p:sp>
      <p:sp>
        <p:nvSpPr>
          <p:cNvPr id="7" name="标题 1"/>
          <p:cNvSpPr txBox="1"/>
          <p:nvPr/>
        </p:nvSpPr>
        <p:spPr>
          <a:xfrm>
            <a:off x="7309635" y="2106521"/>
            <a:ext cx="1710232" cy="913787"/>
          </a:xfrm>
          <a:prstGeom prst="rect">
            <a:avLst/>
          </a:prstGeom>
          <a:noFill/>
          <a:ln>
            <a:noFill/>
          </a:ln>
        </p:spPr>
        <p:txBody>
          <a:bodyPr vert="horz" wrap="square" lIns="0" tIns="0" rIns="0" bIns="0" rtlCol="0" anchor="b"/>
          <a:lstStyle/>
          <a:p>
            <a:pPr algn="l">
              <a:lnSpc>
                <a:spcPct val="110000"/>
              </a:lnSpc>
            </a:pPr>
            <a:r>
              <a:rPr kumimoji="1" lang="en-US" altLang="zh-CN" sz="4800">
                <a:ln w="15875">
                  <a:solidFill>
                    <a:srgbClr val="428A33">
                      <a:alpha val="100000"/>
                    </a:srgbClr>
                  </a:solidFill>
                </a:ln>
                <a:noFill/>
                <a:latin typeface="Source Han Sans CN Bold Bold"/>
                <a:ea typeface="Source Han Sans CN Bold Bold"/>
                <a:cs typeface="Source Han Sans CN Bold Bold"/>
              </a:rPr>
              <a:t>PART</a:t>
            </a:r>
            <a:endParaRPr kumimoji="1" lang="zh-CN" altLang="en-US"/>
          </a:p>
        </p:txBody>
      </p:sp>
      <p:sp>
        <p:nvSpPr>
          <p:cNvPr id="8" name="标题 1"/>
          <p:cNvSpPr txBox="1"/>
          <p:nvPr/>
        </p:nvSpPr>
        <p:spPr>
          <a:xfrm>
            <a:off x="6108789" y="4664355"/>
            <a:ext cx="5143411" cy="152643"/>
          </a:xfrm>
          <a:custGeom>
            <a:avLst/>
            <a:gdLst>
              <a:gd name="connsiteX0" fmla="*/ 4821290 w 5017703"/>
              <a:gd name="connsiteY0" fmla="*/ 0 h 132727"/>
              <a:gd name="connsiteX1" fmla="*/ 4900540 w 5017703"/>
              <a:gd name="connsiteY1" fmla="*/ 0 h 132727"/>
              <a:gd name="connsiteX2" fmla="*/ 5017703 w 5017703"/>
              <a:gd name="connsiteY2" fmla="*/ 66364 h 132727"/>
              <a:gd name="connsiteX3" fmla="*/ 4900540 w 5017703"/>
              <a:gd name="connsiteY3" fmla="*/ 132727 h 132727"/>
              <a:gd name="connsiteX4" fmla="*/ 4821290 w 5017703"/>
              <a:gd name="connsiteY4" fmla="*/ 132727 h 132727"/>
              <a:gd name="connsiteX5" fmla="*/ 4882184 w 5017703"/>
              <a:gd name="connsiteY5" fmla="*/ 98236 h 132727"/>
              <a:gd name="connsiteX6" fmla="*/ 31873 w 5017703"/>
              <a:gd name="connsiteY6" fmla="*/ 98236 h 132727"/>
              <a:gd name="connsiteX7" fmla="*/ 0 w 5017703"/>
              <a:gd name="connsiteY7" fmla="*/ 66363 h 132727"/>
              <a:gd name="connsiteX8" fmla="*/ 31873 w 5017703"/>
              <a:gd name="connsiteY8" fmla="*/ 34490 h 132727"/>
              <a:gd name="connsiteX9" fmla="*/ 4882181 w 5017703"/>
              <a:gd name="connsiteY9" fmla="*/ 34490 h 132727"/>
            </a:gdLst>
            <a:ahLst/>
            <a:cxnLst/>
            <a:rect l="l" t="t" r="r" b="b"/>
            <a:pathLst>
              <a:path w="5017703" h="132727">
                <a:moveTo>
                  <a:pt x="4821290" y="0"/>
                </a:moveTo>
                <a:lnTo>
                  <a:pt x="4900540" y="0"/>
                </a:lnTo>
                <a:lnTo>
                  <a:pt x="5017703" y="66364"/>
                </a:lnTo>
                <a:lnTo>
                  <a:pt x="4900540" y="132727"/>
                </a:lnTo>
                <a:lnTo>
                  <a:pt x="4821290" y="132727"/>
                </a:lnTo>
                <a:lnTo>
                  <a:pt x="4882184" y="98236"/>
                </a:lnTo>
                <a:lnTo>
                  <a:pt x="31873" y="98236"/>
                </a:lnTo>
                <a:cubicBezTo>
                  <a:pt x="14270" y="98236"/>
                  <a:pt x="0" y="83966"/>
                  <a:pt x="0" y="66363"/>
                </a:cubicBezTo>
                <a:cubicBezTo>
                  <a:pt x="0" y="48760"/>
                  <a:pt x="14270" y="34490"/>
                  <a:pt x="31873" y="34490"/>
                </a:cubicBezTo>
                <a:lnTo>
                  <a:pt x="4882181" y="34490"/>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6071793" y="3076644"/>
            <a:ext cx="4791826" cy="1532544"/>
          </a:xfrm>
          <a:prstGeom prst="rect">
            <a:avLst/>
          </a:prstGeom>
          <a:noFill/>
          <a:ln>
            <a:noFill/>
          </a:ln>
          <a:effectLst/>
        </p:spPr>
        <p:txBody>
          <a:bodyPr vert="horz" wrap="square" lIns="0" tIns="0" rIns="0" bIns="0" rtlCol="0" anchor="ctr"/>
          <a:lstStyle/>
          <a:p>
            <a:pPr algn="l">
              <a:lnSpc>
                <a:spcPct val="130000"/>
              </a:lnSpc>
            </a:pPr>
            <a:r>
              <a:rPr kumimoji="1" lang="en-US" altLang="zh-CN" sz="4000">
                <a:ln w="12700">
                  <a:noFill/>
                </a:ln>
                <a:solidFill>
                  <a:srgbClr val="0451C5">
                    <a:alpha val="100000"/>
                  </a:srgbClr>
                </a:solidFill>
                <a:latin typeface="Source Han Sans CN Bold Bold"/>
                <a:ea typeface="Source Han Sans CN Bold Bold"/>
                <a:cs typeface="Source Han Sans CN Bold Bold"/>
              </a:rPr>
              <a:t>作品概述</a:t>
            </a:r>
            <a:endParaRPr kumimoji="1" lang="zh-CN" altLang="en-US"/>
          </a:p>
        </p:txBody>
      </p:sp>
      <p:pic>
        <p:nvPicPr>
          <p:cNvPr id="10" name="图片 9"/>
          <p:cNvPicPr>
            <a:picLocks noChangeAspect="1"/>
          </p:cNvPicPr>
          <p:nvPr/>
        </p:nvPicPr>
        <p:blipFill>
          <a:blip r:embed="rId3">
            <a:alphaModFix/>
          </a:blip>
          <a:srcRect/>
          <a:stretch>
            <a:fillRect/>
          </a:stretch>
        </p:blipFill>
        <p:spPr>
          <a:xfrm>
            <a:off x="696111" y="389880"/>
            <a:ext cx="4576239" cy="607823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a:spLocks noGrp="1" noRot="1" noMove="1" noResize="1" noEditPoints="1" noAdjustHandles="1" noChangeArrowheads="1" noChangeShapeType="1"/>
          </p:cNvSpPr>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30" name="图片 29" descr="IMG_256">
            <a:extLst>
              <a:ext uri="{FF2B5EF4-FFF2-40B4-BE49-F238E27FC236}">
                <a16:creationId xmlns:a16="http://schemas.microsoft.com/office/drawing/2014/main" id="{E5D3E99D-AAE9-C07F-511C-0D7A40424B5C}"/>
              </a:ext>
            </a:extLst>
          </p:cNvPr>
          <p:cNvPicPr>
            <a:picLocks noChangeAspect="1"/>
          </p:cNvPicPr>
          <p:nvPr/>
        </p:nvPicPr>
        <p:blipFill>
          <a:blip r:embed="rId3">
            <a:alphaModFix amt="48000"/>
          </a:blip>
          <a:stretch>
            <a:fillRect/>
          </a:stretch>
        </p:blipFill>
        <p:spPr>
          <a:xfrm>
            <a:off x="1661629" y="935274"/>
            <a:ext cx="8868742" cy="5906441"/>
          </a:xfrm>
          <a:prstGeom prst="rect">
            <a:avLst/>
          </a:prstGeom>
          <a:noFill/>
          <a:ln w="9525">
            <a:noFill/>
          </a:ln>
        </p:spPr>
      </p:pic>
      <p:sp>
        <p:nvSpPr>
          <p:cNvPr id="3" name="标题 1"/>
          <p:cNvSpPr txBox="1"/>
          <p:nvPr/>
        </p:nvSpPr>
        <p:spPr>
          <a:xfrm>
            <a:off x="638631" y="2089190"/>
            <a:ext cx="2612836" cy="3757255"/>
          </a:xfrm>
          <a:prstGeom prst="roundRect">
            <a:avLst>
              <a:gd name="adj" fmla="val 2930"/>
            </a:avLst>
          </a:pr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756458" y="2550855"/>
            <a:ext cx="2377183" cy="3164144"/>
          </a:xfrm>
          <a:prstGeom prst="rect">
            <a:avLst/>
          </a:prstGeom>
          <a:noFill/>
          <a:ln>
            <a:noFill/>
          </a:ln>
        </p:spPr>
        <p:txBody>
          <a:bodyPr vert="horz" wrap="square" lIns="91440" tIns="45720" rIns="91440" bIns="45720" rtlCol="0" anchor="ctr"/>
          <a:lstStyle/>
          <a:p>
            <a:pPr algn="ctr">
              <a:lnSpc>
                <a:spcPct val="150000"/>
              </a:lnSpc>
            </a:pPr>
            <a:r>
              <a:rPr kumimoji="1" lang="en-US" altLang="zh-CN" sz="1207" dirty="0">
                <a:ln w="12700">
                  <a:noFill/>
                </a:ln>
                <a:solidFill>
                  <a:srgbClr val="FFFFFF">
                    <a:alpha val="100000"/>
                  </a:srgbClr>
                </a:solidFill>
                <a:latin typeface="Source Han Sans CN Normal"/>
                <a:ea typeface="Source Han Sans CN Normal"/>
                <a:cs typeface="Source Han Sans CN Normal"/>
              </a:rPr>
              <a:t>眼科疾病如糖尿病视网膜病变、青光眼、老年性黄斑变性等，是全球范围内导致失明的主要因素。据统计，糖尿病视网膜病变是糖尿病的严重并发症之一，也是中青年人群致盲的主要原因；青光眼作为一种不可逆的致盲性眼病，全球患者众多；老年性黄斑变性在老年人中发病率较高，严重影响老年人的视力和生活质量。这些疾病不仅给患者带来身体和心理上的痛苦。</a:t>
            </a:r>
            <a:endParaRPr kumimoji="1" lang="zh-CN" altLang="en-US" dirty="0"/>
          </a:p>
        </p:txBody>
      </p:sp>
      <p:sp>
        <p:nvSpPr>
          <p:cNvPr id="5" name="标题 1"/>
          <p:cNvSpPr txBox="1"/>
          <p:nvPr/>
        </p:nvSpPr>
        <p:spPr>
          <a:xfrm>
            <a:off x="3397348" y="2089190"/>
            <a:ext cx="2612836" cy="3757255"/>
          </a:xfrm>
          <a:prstGeom prst="roundRect">
            <a:avLst>
              <a:gd name="adj" fmla="val 2930"/>
            </a:avLst>
          </a:prstGeom>
          <a:solidFill>
            <a:schemeClr val="bg1">
              <a:alpha val="67000"/>
            </a:schemeClr>
          </a:solidFill>
          <a:ln w="190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3515175" y="2550854"/>
            <a:ext cx="2377183" cy="3164145"/>
          </a:xfrm>
          <a:prstGeom prst="rect">
            <a:avLst/>
          </a:prstGeom>
          <a:noFill/>
          <a:ln>
            <a:noFill/>
          </a:ln>
        </p:spPr>
        <p:txBody>
          <a:bodyPr vert="horz" wrap="square" lIns="91440" tIns="45720" rIns="91440" bIns="45720" rtlCol="0" anchor="ctr"/>
          <a:lstStyle/>
          <a:p>
            <a:pPr algn="ctr">
              <a:lnSpc>
                <a:spcPct val="150000"/>
              </a:lnSpc>
            </a:pPr>
            <a:r>
              <a:rPr kumimoji="1" lang="en-US" altLang="zh-CN" sz="1400" b="1" dirty="0">
                <a:ln w="12700">
                  <a:noFill/>
                </a:ln>
                <a:solidFill>
                  <a:srgbClr val="262626">
                    <a:alpha val="100000"/>
                  </a:srgbClr>
                </a:solidFill>
                <a:latin typeface="Source Han Sans CN Normal"/>
                <a:ea typeface="Source Han Sans CN Normal"/>
                <a:cs typeface="Source Han Sans CN Normal"/>
              </a:rPr>
              <a:t>传统的眼疾诊断主要依赖医生经验阅片，但目前我国眼科医生资源匮乏，特别是基层医疗资源不足，导致早期筛查覆盖率低。同时，传统诊断方式还存在定量评估缺乏标准化工具、单模态影像诊断局限性等问题，容易造成误诊和漏诊。</a:t>
            </a:r>
            <a:endParaRPr kumimoji="1" lang="zh-CN" altLang="en-US" b="1" dirty="0"/>
          </a:p>
        </p:txBody>
      </p:sp>
      <p:sp>
        <p:nvSpPr>
          <p:cNvPr id="7" name="标题 1"/>
          <p:cNvSpPr txBox="1"/>
          <p:nvPr/>
        </p:nvSpPr>
        <p:spPr>
          <a:xfrm>
            <a:off x="4296245" y="1660863"/>
            <a:ext cx="815043" cy="815406"/>
          </a:xfrm>
          <a:custGeom>
            <a:avLst/>
            <a:gdLst>
              <a:gd name="connsiteX0" fmla="*/ 1297676 w 2163261"/>
              <a:gd name="connsiteY0" fmla="*/ 2086117 h 2164219"/>
              <a:gd name="connsiteX1" fmla="*/ 2085143 w 2163261"/>
              <a:gd name="connsiteY1" fmla="*/ 1298651 h 2164219"/>
              <a:gd name="connsiteX2" fmla="*/ 2162610 w 2163261"/>
              <a:gd name="connsiteY2" fmla="*/ 1120329 h 2164219"/>
              <a:gd name="connsiteX3" fmla="*/ 1831911 w 2163261"/>
              <a:gd name="connsiteY3" fmla="*/ 303629 h 2164219"/>
              <a:gd name="connsiteX4" fmla="*/ 315079 w 2163261"/>
              <a:gd name="connsiteY4" fmla="*/ 319707 h 2164219"/>
              <a:gd name="connsiteX5" fmla="*/ 316906 w 2163261"/>
              <a:gd name="connsiteY5" fmla="*/ 1847502 h 2164219"/>
              <a:gd name="connsiteX6" fmla="*/ 1119354 w 2163261"/>
              <a:gd name="connsiteY6" fmla="*/ 2163585 h 2164219"/>
              <a:gd name="connsiteX7" fmla="*/ 1297676 w 2163261"/>
              <a:gd name="connsiteY7" fmla="*/ 2086117 h 2164219"/>
            </a:gdLst>
            <a:ahLst/>
            <a:cxnLst/>
            <a:rect l="l" t="t" r="r" b="b"/>
            <a:pathLst>
              <a:path w="2163261" h="2164219">
                <a:moveTo>
                  <a:pt x="1297676" y="2086117"/>
                </a:moveTo>
                <a:lnTo>
                  <a:pt x="2085143" y="1298651"/>
                </a:lnTo>
                <a:cubicBezTo>
                  <a:pt x="2132646" y="1251147"/>
                  <a:pt x="2160052" y="1187200"/>
                  <a:pt x="2162610" y="1120329"/>
                </a:cubicBezTo>
                <a:cubicBezTo>
                  <a:pt x="2172842" y="824709"/>
                  <a:pt x="2062487" y="525801"/>
                  <a:pt x="1831911" y="303629"/>
                </a:cubicBezTo>
                <a:cubicBezTo>
                  <a:pt x="1405108" y="-107461"/>
                  <a:pt x="733112" y="-100153"/>
                  <a:pt x="315079" y="319707"/>
                </a:cubicBezTo>
                <a:cubicBezTo>
                  <a:pt x="-105513" y="742126"/>
                  <a:pt x="-105147" y="1425815"/>
                  <a:pt x="316906" y="1847502"/>
                </a:cubicBezTo>
                <a:cubicBezTo>
                  <a:pt x="537616" y="2068212"/>
                  <a:pt x="829946" y="2173451"/>
                  <a:pt x="1119354" y="2163585"/>
                </a:cubicBezTo>
                <a:cubicBezTo>
                  <a:pt x="1186590" y="2161027"/>
                  <a:pt x="1250172" y="2133621"/>
                  <a:pt x="1297676" y="2086117"/>
                </a:cubicBezTo>
                <a:close/>
              </a:path>
            </a:pathLst>
          </a:custGeom>
          <a:solidFill>
            <a:schemeClr val="accent4">
              <a:alpha val="80000"/>
            </a:schemeClr>
          </a:soli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8" name="标题 1"/>
          <p:cNvSpPr txBox="1"/>
          <p:nvPr/>
        </p:nvSpPr>
        <p:spPr>
          <a:xfrm>
            <a:off x="4291497" y="1656116"/>
            <a:ext cx="824538" cy="824901"/>
          </a:xfrm>
          <a:custGeom>
            <a:avLst/>
            <a:gdLst>
              <a:gd name="connsiteX0" fmla="*/ 1292606 w 2188462"/>
              <a:gd name="connsiteY0" fmla="*/ 2123414 h 2189420"/>
              <a:gd name="connsiteX1" fmla="*/ 2122461 w 2188462"/>
              <a:gd name="connsiteY1" fmla="*/ 1293560 h 2189420"/>
              <a:gd name="connsiteX2" fmla="*/ 2187139 w 2188462"/>
              <a:gd name="connsiteY2" fmla="*/ 1149587 h 2189420"/>
              <a:gd name="connsiteX3" fmla="*/ 1850593 w 2188462"/>
              <a:gd name="connsiteY3" fmla="*/ 304385 h 2189420"/>
              <a:gd name="connsiteX4" fmla="*/ 318779 w 2188462"/>
              <a:gd name="connsiteY4" fmla="*/ 323386 h 2189420"/>
              <a:gd name="connsiteX5" fmla="*/ 320606 w 2188462"/>
              <a:gd name="connsiteY5" fmla="*/ 1869086 h 2189420"/>
              <a:gd name="connsiteX6" fmla="*/ 1148633 w 2188462"/>
              <a:gd name="connsiteY6" fmla="*/ 2188092 h 2189420"/>
              <a:gd name="connsiteX7" fmla="*/ 1292606 w 2188462"/>
              <a:gd name="connsiteY7" fmla="*/ 2123414 h 2189420"/>
            </a:gdLst>
            <a:ahLst/>
            <a:cxnLst/>
            <a:rect l="l" t="t" r="r" b="b"/>
            <a:pathLst>
              <a:path w="2188462" h="2189420">
                <a:moveTo>
                  <a:pt x="1292606" y="2123414"/>
                </a:moveTo>
                <a:lnTo>
                  <a:pt x="2122461" y="1293560"/>
                </a:lnTo>
                <a:cubicBezTo>
                  <a:pt x="2160829" y="1255191"/>
                  <a:pt x="2184216" y="1203668"/>
                  <a:pt x="2187139" y="1149587"/>
                </a:cubicBezTo>
                <a:cubicBezTo>
                  <a:pt x="2202121" y="844101"/>
                  <a:pt x="2089939" y="533865"/>
                  <a:pt x="1850593" y="304385"/>
                </a:cubicBezTo>
                <a:cubicBezTo>
                  <a:pt x="1418674" y="-108898"/>
                  <a:pt x="740466" y="-100128"/>
                  <a:pt x="318779" y="323386"/>
                </a:cubicBezTo>
                <a:cubicBezTo>
                  <a:pt x="-106928" y="750920"/>
                  <a:pt x="-106198" y="1442283"/>
                  <a:pt x="320606" y="1869086"/>
                </a:cubicBezTo>
                <a:cubicBezTo>
                  <a:pt x="548258" y="2096739"/>
                  <a:pt x="850821" y="2202709"/>
                  <a:pt x="1148633" y="2188092"/>
                </a:cubicBezTo>
                <a:cubicBezTo>
                  <a:pt x="1203080" y="2185535"/>
                  <a:pt x="1254238" y="2162148"/>
                  <a:pt x="1292606" y="2123414"/>
                </a:cubicBezTo>
                <a:close/>
              </a:path>
            </a:pathLst>
          </a:custGeom>
          <a:gradFill>
            <a:gsLst>
              <a:gs pos="36000">
                <a:schemeClr val="accent1"/>
              </a:gs>
              <a:gs pos="100000">
                <a:schemeClr val="accent1">
                  <a:lumMod val="40000"/>
                  <a:lumOff val="60000"/>
                </a:schemeClr>
              </a:gs>
            </a:gsLst>
            <a:path path="circle">
              <a:fillToRect r="100000" b="100000"/>
            </a:path>
            <a:tileRect l="-100000" t="-100000"/>
          </a:gra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9" name="标题 1"/>
          <p:cNvSpPr txBox="1"/>
          <p:nvPr/>
        </p:nvSpPr>
        <p:spPr>
          <a:xfrm>
            <a:off x="4769703" y="2153791"/>
            <a:ext cx="312660" cy="312800"/>
          </a:xfrm>
          <a:custGeom>
            <a:avLst/>
            <a:gdLst>
              <a:gd name="connsiteX0" fmla="*/ 308409 w 829854"/>
              <a:gd name="connsiteY0" fmla="*/ 308409 h 830220"/>
              <a:gd name="connsiteX1" fmla="*/ 0 w 829854"/>
              <a:gd name="connsiteY1" fmla="*/ 830220 h 830220"/>
              <a:gd name="connsiteX2" fmla="*/ 829854 w 829854"/>
              <a:gd name="connsiteY2" fmla="*/ 0 h 830220"/>
              <a:gd name="connsiteX3" fmla="*/ 308409 w 829854"/>
              <a:gd name="connsiteY3" fmla="*/ 308409 h 830220"/>
            </a:gdLst>
            <a:ahLst/>
            <a:cxnLst/>
            <a:rect l="l" t="t" r="r" b="b"/>
            <a:pathLst>
              <a:path w="829854" h="830220">
                <a:moveTo>
                  <a:pt x="308409" y="308409"/>
                </a:moveTo>
                <a:cubicBezTo>
                  <a:pt x="66505" y="550313"/>
                  <a:pt x="124606" y="705614"/>
                  <a:pt x="0" y="830220"/>
                </a:cubicBezTo>
                <a:lnTo>
                  <a:pt x="829854" y="0"/>
                </a:lnTo>
                <a:cubicBezTo>
                  <a:pt x="705614" y="124606"/>
                  <a:pt x="549948" y="66505"/>
                  <a:pt x="308409" y="308409"/>
                </a:cubicBezTo>
                <a:close/>
              </a:path>
            </a:pathLst>
          </a:custGeom>
          <a:gradFill>
            <a:gsLst>
              <a:gs pos="32000">
                <a:schemeClr val="accent1">
                  <a:lumMod val="60000"/>
                  <a:lumOff val="40000"/>
                </a:schemeClr>
              </a:gs>
              <a:gs pos="47000">
                <a:schemeClr val="accent1"/>
              </a:gs>
              <a:gs pos="63000">
                <a:schemeClr val="accent1">
                  <a:lumMod val="60000"/>
                  <a:lumOff val="40000"/>
                </a:schemeClr>
              </a:gs>
            </a:gsLst>
            <a:lin ang="2700000" scaled="0"/>
          </a:gra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10" name="标题 1"/>
          <p:cNvSpPr txBox="1"/>
          <p:nvPr/>
        </p:nvSpPr>
        <p:spPr>
          <a:xfrm>
            <a:off x="4296245" y="1837734"/>
            <a:ext cx="815043" cy="461665"/>
          </a:xfrm>
          <a:prstGeom prst="rect">
            <a:avLst/>
          </a:prstGeom>
          <a:noFill/>
          <a:ln>
            <a:noFill/>
          </a:ln>
        </p:spPr>
        <p:txBody>
          <a:bodyPr vert="horz" wrap="square" lIns="91440" tIns="45720" rIns="91440" bIns="45720" rtlCol="0" anchor="t"/>
          <a:lstStyle/>
          <a:p>
            <a:pPr algn="ctr">
              <a:lnSpc>
                <a:spcPct val="110000"/>
              </a:lnSpc>
            </a:pPr>
            <a:r>
              <a:rPr kumimoji="1" lang="en-US" altLang="zh-CN" sz="2400" dirty="0">
                <a:ln w="12700">
                  <a:noFill/>
                </a:ln>
                <a:solidFill>
                  <a:srgbClr val="FFFFFF">
                    <a:alpha val="100000"/>
                  </a:srgbClr>
                </a:solidFill>
                <a:latin typeface="OPPOSans H"/>
                <a:ea typeface="OPPOSans H"/>
                <a:cs typeface="OPPOSans H"/>
              </a:rPr>
              <a:t>02</a:t>
            </a:r>
            <a:endParaRPr kumimoji="1" lang="zh-CN" altLang="en-US" dirty="0"/>
          </a:p>
        </p:txBody>
      </p:sp>
      <p:sp>
        <p:nvSpPr>
          <p:cNvPr id="11" name="标题 1"/>
          <p:cNvSpPr txBox="1"/>
          <p:nvPr/>
        </p:nvSpPr>
        <p:spPr>
          <a:xfrm>
            <a:off x="6156065" y="2089190"/>
            <a:ext cx="2612836" cy="3757255"/>
          </a:xfrm>
          <a:prstGeom prst="roundRect">
            <a:avLst>
              <a:gd name="adj" fmla="val 2930"/>
            </a:avLst>
          </a:pr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6273892" y="2550855"/>
            <a:ext cx="2377183" cy="3164145"/>
          </a:xfrm>
          <a:prstGeom prst="rect">
            <a:avLst/>
          </a:prstGeom>
          <a:noFill/>
          <a:ln>
            <a:noFill/>
          </a:ln>
        </p:spPr>
        <p:txBody>
          <a:bodyPr vert="horz" wrap="square" lIns="91440" tIns="45720" rIns="91440" bIns="45720" rtlCol="0" anchor="ctr"/>
          <a:lstStyle/>
          <a:p>
            <a:pPr algn="ctr">
              <a:lnSpc>
                <a:spcPct val="150000"/>
              </a:lnSpc>
            </a:pPr>
            <a:r>
              <a:rPr kumimoji="1" lang="en-US" altLang="zh-CN" sz="1207" dirty="0">
                <a:ln w="12700">
                  <a:noFill/>
                </a:ln>
                <a:solidFill>
                  <a:srgbClr val="FFFFFF">
                    <a:alpha val="100000"/>
                  </a:srgbClr>
                </a:solidFill>
                <a:latin typeface="Source Han Sans CN Normal"/>
                <a:ea typeface="Source Han Sans CN Normal"/>
                <a:cs typeface="Source Han Sans CN Normal"/>
              </a:rPr>
              <a:t>深度学习技术在医学影像分析领域表现出色，能够快速、准确地捕捉早期病变特征，为疾病的早期诊断提供了可能。它还能推动多学科诊疗模式的发展，整合不同学科的知识和技术，为患者提供更全面的治疗方案。如澳大利亚科研团队开发的利用人工智能分析视网膜图像识别糖尿病视网膜病变的系统，准确率达98%，</a:t>
            </a:r>
            <a:r>
              <a:rPr kumimoji="1" lang="en-US" altLang="zh-CN" sz="1207" dirty="0" err="1">
                <a:ln w="12700">
                  <a:noFill/>
                </a:ln>
                <a:solidFill>
                  <a:srgbClr val="FFFFFF">
                    <a:alpha val="100000"/>
                  </a:srgbClr>
                </a:solidFill>
                <a:latin typeface="Source Han Sans CN Normal"/>
                <a:ea typeface="Source Han Sans CN Normal"/>
                <a:cs typeface="Source Han Sans CN Normal"/>
              </a:rPr>
              <a:t>这充分验证了AI技术在眼疾诊断中的可行性</a:t>
            </a:r>
            <a:r>
              <a:rPr kumimoji="1" lang="en-US" altLang="zh-CN" sz="1207" dirty="0">
                <a:ln w="12700">
                  <a:noFill/>
                </a:ln>
                <a:solidFill>
                  <a:srgbClr val="FFFFFF">
                    <a:alpha val="100000"/>
                  </a:srgbClr>
                </a:solidFill>
                <a:latin typeface="Source Han Sans CN Normal"/>
                <a:ea typeface="Source Han Sans CN Normal"/>
                <a:cs typeface="Source Han Sans CN Normal"/>
              </a:rPr>
              <a:t>。</a:t>
            </a:r>
            <a:endParaRPr kumimoji="1" lang="zh-CN" altLang="en-US" dirty="0"/>
          </a:p>
        </p:txBody>
      </p:sp>
      <p:sp>
        <p:nvSpPr>
          <p:cNvPr id="13" name="标题 1"/>
          <p:cNvSpPr txBox="1"/>
          <p:nvPr/>
        </p:nvSpPr>
        <p:spPr>
          <a:xfrm>
            <a:off x="8914783" y="2089190"/>
            <a:ext cx="2612836" cy="3757255"/>
          </a:xfrm>
          <a:prstGeom prst="roundRect">
            <a:avLst>
              <a:gd name="adj" fmla="val 2930"/>
            </a:avLst>
          </a:prstGeom>
          <a:solidFill>
            <a:schemeClr val="bg1">
              <a:alpha val="69000"/>
            </a:schemeClr>
          </a:solidFill>
          <a:ln w="190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9032610" y="2550855"/>
            <a:ext cx="2377183" cy="3164145"/>
          </a:xfrm>
          <a:prstGeom prst="rect">
            <a:avLst/>
          </a:prstGeom>
          <a:noFill/>
          <a:ln>
            <a:noFill/>
          </a:ln>
        </p:spPr>
        <p:txBody>
          <a:bodyPr vert="horz" wrap="square" lIns="91440" tIns="45720" rIns="91440" bIns="45720" rtlCol="0" anchor="ctr"/>
          <a:lstStyle/>
          <a:p>
            <a:pPr algn="ctr">
              <a:lnSpc>
                <a:spcPct val="150000"/>
              </a:lnSpc>
            </a:pPr>
            <a:r>
              <a:rPr kumimoji="1" lang="en-US" altLang="zh-CN" sz="1400" b="1" dirty="0">
                <a:ln w="12700">
                  <a:noFill/>
                </a:ln>
                <a:solidFill>
                  <a:srgbClr val="262626">
                    <a:alpha val="100000"/>
                  </a:srgbClr>
                </a:solidFill>
                <a:latin typeface="Source Han Sans CN Normal"/>
                <a:ea typeface="Source Han Sans CN Normal"/>
                <a:cs typeface="Source Han Sans CN Normal"/>
              </a:rPr>
              <a:t>研发自动化眼疾识别诊断算法，能够有效改善眼疾诊断现状，提高医疗效率和质量。它可以帮助医生快速、准确地诊断疾病，减少误诊和漏诊的发生；还能让更多患者，尤其是医疗资源匮乏地区的患者，及时得到诊断和治疗，具有重大的现实意义。</a:t>
            </a:r>
            <a:endParaRPr kumimoji="1" lang="zh-CN" altLang="en-US" b="1" dirty="0"/>
          </a:p>
        </p:txBody>
      </p:sp>
      <p:sp>
        <p:nvSpPr>
          <p:cNvPr id="15" name="标题 1"/>
          <p:cNvSpPr txBox="1"/>
          <p:nvPr/>
        </p:nvSpPr>
        <p:spPr>
          <a:xfrm>
            <a:off x="1537528" y="1660863"/>
            <a:ext cx="815043" cy="815406"/>
          </a:xfrm>
          <a:custGeom>
            <a:avLst/>
            <a:gdLst>
              <a:gd name="connsiteX0" fmla="*/ 1297676 w 2163261"/>
              <a:gd name="connsiteY0" fmla="*/ 2086117 h 2164219"/>
              <a:gd name="connsiteX1" fmla="*/ 2085143 w 2163261"/>
              <a:gd name="connsiteY1" fmla="*/ 1298651 h 2164219"/>
              <a:gd name="connsiteX2" fmla="*/ 2162610 w 2163261"/>
              <a:gd name="connsiteY2" fmla="*/ 1120329 h 2164219"/>
              <a:gd name="connsiteX3" fmla="*/ 1831911 w 2163261"/>
              <a:gd name="connsiteY3" fmla="*/ 303629 h 2164219"/>
              <a:gd name="connsiteX4" fmla="*/ 315079 w 2163261"/>
              <a:gd name="connsiteY4" fmla="*/ 319707 h 2164219"/>
              <a:gd name="connsiteX5" fmla="*/ 316906 w 2163261"/>
              <a:gd name="connsiteY5" fmla="*/ 1847502 h 2164219"/>
              <a:gd name="connsiteX6" fmla="*/ 1119354 w 2163261"/>
              <a:gd name="connsiteY6" fmla="*/ 2163585 h 2164219"/>
              <a:gd name="connsiteX7" fmla="*/ 1297676 w 2163261"/>
              <a:gd name="connsiteY7" fmla="*/ 2086117 h 2164219"/>
            </a:gdLst>
            <a:ahLst/>
            <a:cxnLst/>
            <a:rect l="l" t="t" r="r" b="b"/>
            <a:pathLst>
              <a:path w="2163261" h="2164219">
                <a:moveTo>
                  <a:pt x="1297676" y="2086117"/>
                </a:moveTo>
                <a:lnTo>
                  <a:pt x="2085143" y="1298651"/>
                </a:lnTo>
                <a:cubicBezTo>
                  <a:pt x="2132646" y="1251147"/>
                  <a:pt x="2160052" y="1187200"/>
                  <a:pt x="2162610" y="1120329"/>
                </a:cubicBezTo>
                <a:cubicBezTo>
                  <a:pt x="2172842" y="824709"/>
                  <a:pt x="2062487" y="525801"/>
                  <a:pt x="1831911" y="303629"/>
                </a:cubicBezTo>
                <a:cubicBezTo>
                  <a:pt x="1405108" y="-107461"/>
                  <a:pt x="733112" y="-100153"/>
                  <a:pt x="315079" y="319707"/>
                </a:cubicBezTo>
                <a:cubicBezTo>
                  <a:pt x="-105513" y="742126"/>
                  <a:pt x="-105147" y="1425815"/>
                  <a:pt x="316906" y="1847502"/>
                </a:cubicBezTo>
                <a:cubicBezTo>
                  <a:pt x="537616" y="2068212"/>
                  <a:pt x="829946" y="2173451"/>
                  <a:pt x="1119354" y="2163585"/>
                </a:cubicBezTo>
                <a:cubicBezTo>
                  <a:pt x="1186590" y="2161027"/>
                  <a:pt x="1250172" y="2133621"/>
                  <a:pt x="1297676" y="2086117"/>
                </a:cubicBezTo>
                <a:close/>
              </a:path>
            </a:pathLst>
          </a:custGeom>
          <a:solidFill>
            <a:schemeClr val="accent2">
              <a:alpha val="80000"/>
            </a:schemeClr>
          </a:soli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nvSpPr>
        <p:spPr>
          <a:xfrm>
            <a:off x="1532780" y="1656116"/>
            <a:ext cx="824538" cy="824901"/>
          </a:xfrm>
          <a:custGeom>
            <a:avLst/>
            <a:gdLst>
              <a:gd name="connsiteX0" fmla="*/ 1292606 w 2188462"/>
              <a:gd name="connsiteY0" fmla="*/ 2123414 h 2189420"/>
              <a:gd name="connsiteX1" fmla="*/ 2122461 w 2188462"/>
              <a:gd name="connsiteY1" fmla="*/ 1293560 h 2189420"/>
              <a:gd name="connsiteX2" fmla="*/ 2187139 w 2188462"/>
              <a:gd name="connsiteY2" fmla="*/ 1149587 h 2189420"/>
              <a:gd name="connsiteX3" fmla="*/ 1850593 w 2188462"/>
              <a:gd name="connsiteY3" fmla="*/ 304385 h 2189420"/>
              <a:gd name="connsiteX4" fmla="*/ 318779 w 2188462"/>
              <a:gd name="connsiteY4" fmla="*/ 323386 h 2189420"/>
              <a:gd name="connsiteX5" fmla="*/ 320606 w 2188462"/>
              <a:gd name="connsiteY5" fmla="*/ 1869086 h 2189420"/>
              <a:gd name="connsiteX6" fmla="*/ 1148633 w 2188462"/>
              <a:gd name="connsiteY6" fmla="*/ 2188092 h 2189420"/>
              <a:gd name="connsiteX7" fmla="*/ 1292606 w 2188462"/>
              <a:gd name="connsiteY7" fmla="*/ 2123414 h 2189420"/>
            </a:gdLst>
            <a:ahLst/>
            <a:cxnLst/>
            <a:rect l="l" t="t" r="r" b="b"/>
            <a:pathLst>
              <a:path w="2188462" h="2189420">
                <a:moveTo>
                  <a:pt x="1292606" y="2123414"/>
                </a:moveTo>
                <a:lnTo>
                  <a:pt x="2122461" y="1293560"/>
                </a:lnTo>
                <a:cubicBezTo>
                  <a:pt x="2160829" y="1255191"/>
                  <a:pt x="2184216" y="1203668"/>
                  <a:pt x="2187139" y="1149587"/>
                </a:cubicBezTo>
                <a:cubicBezTo>
                  <a:pt x="2202121" y="844101"/>
                  <a:pt x="2089939" y="533865"/>
                  <a:pt x="1850593" y="304385"/>
                </a:cubicBezTo>
                <a:cubicBezTo>
                  <a:pt x="1418674" y="-108898"/>
                  <a:pt x="740466" y="-100128"/>
                  <a:pt x="318779" y="323386"/>
                </a:cubicBezTo>
                <a:cubicBezTo>
                  <a:pt x="-106928" y="750920"/>
                  <a:pt x="-106198" y="1442283"/>
                  <a:pt x="320606" y="1869086"/>
                </a:cubicBezTo>
                <a:cubicBezTo>
                  <a:pt x="548258" y="2096739"/>
                  <a:pt x="850821" y="2202709"/>
                  <a:pt x="1148633" y="2188092"/>
                </a:cubicBezTo>
                <a:cubicBezTo>
                  <a:pt x="1203080" y="2185535"/>
                  <a:pt x="1254238" y="2162148"/>
                  <a:pt x="1292606" y="2123414"/>
                </a:cubicBezTo>
                <a:close/>
              </a:path>
            </a:pathLst>
          </a:custGeom>
          <a:gradFill>
            <a:gsLst>
              <a:gs pos="36000">
                <a:schemeClr val="accent1"/>
              </a:gs>
              <a:gs pos="100000">
                <a:schemeClr val="accent1">
                  <a:lumMod val="40000"/>
                  <a:lumOff val="60000"/>
                </a:schemeClr>
              </a:gs>
            </a:gsLst>
            <a:path path="circle">
              <a:fillToRect r="100000" b="100000"/>
            </a:path>
            <a:tileRect l="-100000" t="-100000"/>
          </a:gradFill>
          <a:ln w="3653" cap="flat">
            <a:noFill/>
            <a:miter/>
          </a:ln>
          <a:effectLst/>
        </p:spPr>
        <p:txBody>
          <a:bodyPr vert="horz" wrap="square" lIns="91440" tIns="45720" rIns="91440" bIns="45720" rtlCol="0" anchor="ctr"/>
          <a:lstStyle/>
          <a:p>
            <a:pPr algn="l">
              <a:lnSpc>
                <a:spcPct val="110000"/>
              </a:lnSpc>
            </a:pPr>
            <a:endParaRPr kumimoji="1" lang="zh-CN" altLang="en-US"/>
          </a:p>
        </p:txBody>
      </p:sp>
      <p:sp>
        <p:nvSpPr>
          <p:cNvPr id="17" name="标题 1"/>
          <p:cNvSpPr txBox="1"/>
          <p:nvPr/>
        </p:nvSpPr>
        <p:spPr>
          <a:xfrm>
            <a:off x="2004610" y="2158553"/>
            <a:ext cx="312660" cy="312800"/>
          </a:xfrm>
          <a:custGeom>
            <a:avLst/>
            <a:gdLst>
              <a:gd name="connsiteX0" fmla="*/ 308409 w 829854"/>
              <a:gd name="connsiteY0" fmla="*/ 308409 h 830220"/>
              <a:gd name="connsiteX1" fmla="*/ 0 w 829854"/>
              <a:gd name="connsiteY1" fmla="*/ 830220 h 830220"/>
              <a:gd name="connsiteX2" fmla="*/ 829854 w 829854"/>
              <a:gd name="connsiteY2" fmla="*/ 0 h 830220"/>
              <a:gd name="connsiteX3" fmla="*/ 308409 w 829854"/>
              <a:gd name="connsiteY3" fmla="*/ 308409 h 830220"/>
            </a:gdLst>
            <a:ahLst/>
            <a:cxnLst/>
            <a:rect l="l" t="t" r="r" b="b"/>
            <a:pathLst>
              <a:path w="829854" h="830220">
                <a:moveTo>
                  <a:pt x="308409" y="308409"/>
                </a:moveTo>
                <a:cubicBezTo>
                  <a:pt x="66505" y="550313"/>
                  <a:pt x="124606" y="705614"/>
                  <a:pt x="0" y="830220"/>
                </a:cubicBezTo>
                <a:lnTo>
                  <a:pt x="829854" y="0"/>
                </a:lnTo>
                <a:cubicBezTo>
                  <a:pt x="705614" y="124606"/>
                  <a:pt x="549948" y="66505"/>
                  <a:pt x="308409" y="308409"/>
                </a:cubicBezTo>
                <a:close/>
              </a:path>
            </a:pathLst>
          </a:custGeom>
          <a:gradFill>
            <a:gsLst>
              <a:gs pos="32000">
                <a:schemeClr val="accent1">
                  <a:lumMod val="60000"/>
                  <a:lumOff val="40000"/>
                </a:schemeClr>
              </a:gs>
              <a:gs pos="47000">
                <a:schemeClr val="accent1"/>
              </a:gs>
              <a:gs pos="63000">
                <a:schemeClr val="accent1">
                  <a:lumMod val="60000"/>
                  <a:lumOff val="40000"/>
                </a:schemeClr>
              </a:gs>
            </a:gsLst>
            <a:lin ang="2700000" scaled="0"/>
          </a:gra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18" name="标题 1"/>
          <p:cNvSpPr txBox="1"/>
          <p:nvPr/>
        </p:nvSpPr>
        <p:spPr>
          <a:xfrm>
            <a:off x="1537528" y="1837734"/>
            <a:ext cx="815043" cy="461665"/>
          </a:xfrm>
          <a:prstGeom prst="rect">
            <a:avLst/>
          </a:prstGeom>
          <a:noFill/>
          <a:ln>
            <a:noFill/>
          </a:ln>
        </p:spPr>
        <p:txBody>
          <a:bodyPr vert="horz" wrap="square" lIns="91440" tIns="45720" rIns="91440" bIns="45720" rtlCol="0" anchor="t"/>
          <a:lstStyle/>
          <a:p>
            <a:pPr algn="ctr">
              <a:lnSpc>
                <a:spcPct val="110000"/>
              </a:lnSpc>
            </a:pPr>
            <a:r>
              <a:rPr kumimoji="1" lang="en-US" altLang="zh-CN" sz="2400" dirty="0">
                <a:ln w="12700">
                  <a:noFill/>
                </a:ln>
                <a:solidFill>
                  <a:srgbClr val="FFFFFF">
                    <a:alpha val="100000"/>
                  </a:srgbClr>
                </a:solidFill>
                <a:latin typeface="OPPOSans H"/>
                <a:ea typeface="OPPOSans H"/>
                <a:cs typeface="OPPOSans H"/>
              </a:rPr>
              <a:t>01</a:t>
            </a:r>
            <a:endParaRPr kumimoji="1" lang="zh-CN" altLang="en-US" dirty="0"/>
          </a:p>
        </p:txBody>
      </p:sp>
      <p:sp>
        <p:nvSpPr>
          <p:cNvPr id="19" name="标题 1"/>
          <p:cNvSpPr txBox="1"/>
          <p:nvPr/>
        </p:nvSpPr>
        <p:spPr>
          <a:xfrm>
            <a:off x="7054962" y="1660863"/>
            <a:ext cx="815043" cy="815406"/>
          </a:xfrm>
          <a:custGeom>
            <a:avLst/>
            <a:gdLst>
              <a:gd name="connsiteX0" fmla="*/ 1297676 w 2163261"/>
              <a:gd name="connsiteY0" fmla="*/ 2086117 h 2164219"/>
              <a:gd name="connsiteX1" fmla="*/ 2085143 w 2163261"/>
              <a:gd name="connsiteY1" fmla="*/ 1298651 h 2164219"/>
              <a:gd name="connsiteX2" fmla="*/ 2162610 w 2163261"/>
              <a:gd name="connsiteY2" fmla="*/ 1120329 h 2164219"/>
              <a:gd name="connsiteX3" fmla="*/ 1831911 w 2163261"/>
              <a:gd name="connsiteY3" fmla="*/ 303629 h 2164219"/>
              <a:gd name="connsiteX4" fmla="*/ 315079 w 2163261"/>
              <a:gd name="connsiteY4" fmla="*/ 319707 h 2164219"/>
              <a:gd name="connsiteX5" fmla="*/ 316906 w 2163261"/>
              <a:gd name="connsiteY5" fmla="*/ 1847502 h 2164219"/>
              <a:gd name="connsiteX6" fmla="*/ 1119354 w 2163261"/>
              <a:gd name="connsiteY6" fmla="*/ 2163585 h 2164219"/>
              <a:gd name="connsiteX7" fmla="*/ 1297676 w 2163261"/>
              <a:gd name="connsiteY7" fmla="*/ 2086117 h 2164219"/>
            </a:gdLst>
            <a:ahLst/>
            <a:cxnLst/>
            <a:rect l="l" t="t" r="r" b="b"/>
            <a:pathLst>
              <a:path w="2163261" h="2164219">
                <a:moveTo>
                  <a:pt x="1297676" y="2086117"/>
                </a:moveTo>
                <a:lnTo>
                  <a:pt x="2085143" y="1298651"/>
                </a:lnTo>
                <a:cubicBezTo>
                  <a:pt x="2132646" y="1251147"/>
                  <a:pt x="2160052" y="1187200"/>
                  <a:pt x="2162610" y="1120329"/>
                </a:cubicBezTo>
                <a:cubicBezTo>
                  <a:pt x="2172842" y="824709"/>
                  <a:pt x="2062487" y="525801"/>
                  <a:pt x="1831911" y="303629"/>
                </a:cubicBezTo>
                <a:cubicBezTo>
                  <a:pt x="1405108" y="-107461"/>
                  <a:pt x="733112" y="-100153"/>
                  <a:pt x="315079" y="319707"/>
                </a:cubicBezTo>
                <a:cubicBezTo>
                  <a:pt x="-105513" y="742126"/>
                  <a:pt x="-105147" y="1425815"/>
                  <a:pt x="316906" y="1847502"/>
                </a:cubicBezTo>
                <a:cubicBezTo>
                  <a:pt x="537616" y="2068212"/>
                  <a:pt x="829946" y="2173451"/>
                  <a:pt x="1119354" y="2163585"/>
                </a:cubicBezTo>
                <a:cubicBezTo>
                  <a:pt x="1186590" y="2161027"/>
                  <a:pt x="1250172" y="2133621"/>
                  <a:pt x="1297676" y="2086117"/>
                </a:cubicBezTo>
                <a:close/>
              </a:path>
            </a:pathLst>
          </a:custGeom>
          <a:solidFill>
            <a:schemeClr val="accent2">
              <a:alpha val="80000"/>
            </a:schemeClr>
          </a:soli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20" name="标题 1"/>
          <p:cNvSpPr txBox="1"/>
          <p:nvPr/>
        </p:nvSpPr>
        <p:spPr>
          <a:xfrm>
            <a:off x="7050214" y="1656116"/>
            <a:ext cx="824538" cy="824901"/>
          </a:xfrm>
          <a:custGeom>
            <a:avLst/>
            <a:gdLst>
              <a:gd name="connsiteX0" fmla="*/ 1292606 w 2188462"/>
              <a:gd name="connsiteY0" fmla="*/ 2123414 h 2189420"/>
              <a:gd name="connsiteX1" fmla="*/ 2122461 w 2188462"/>
              <a:gd name="connsiteY1" fmla="*/ 1293560 h 2189420"/>
              <a:gd name="connsiteX2" fmla="*/ 2187139 w 2188462"/>
              <a:gd name="connsiteY2" fmla="*/ 1149587 h 2189420"/>
              <a:gd name="connsiteX3" fmla="*/ 1850593 w 2188462"/>
              <a:gd name="connsiteY3" fmla="*/ 304385 h 2189420"/>
              <a:gd name="connsiteX4" fmla="*/ 318779 w 2188462"/>
              <a:gd name="connsiteY4" fmla="*/ 323386 h 2189420"/>
              <a:gd name="connsiteX5" fmla="*/ 320606 w 2188462"/>
              <a:gd name="connsiteY5" fmla="*/ 1869086 h 2189420"/>
              <a:gd name="connsiteX6" fmla="*/ 1148633 w 2188462"/>
              <a:gd name="connsiteY6" fmla="*/ 2188092 h 2189420"/>
              <a:gd name="connsiteX7" fmla="*/ 1292606 w 2188462"/>
              <a:gd name="connsiteY7" fmla="*/ 2123414 h 2189420"/>
            </a:gdLst>
            <a:ahLst/>
            <a:cxnLst/>
            <a:rect l="l" t="t" r="r" b="b"/>
            <a:pathLst>
              <a:path w="2188462" h="2189420">
                <a:moveTo>
                  <a:pt x="1292606" y="2123414"/>
                </a:moveTo>
                <a:lnTo>
                  <a:pt x="2122461" y="1293560"/>
                </a:lnTo>
                <a:cubicBezTo>
                  <a:pt x="2160829" y="1255191"/>
                  <a:pt x="2184216" y="1203668"/>
                  <a:pt x="2187139" y="1149587"/>
                </a:cubicBezTo>
                <a:cubicBezTo>
                  <a:pt x="2202121" y="844101"/>
                  <a:pt x="2089939" y="533865"/>
                  <a:pt x="1850593" y="304385"/>
                </a:cubicBezTo>
                <a:cubicBezTo>
                  <a:pt x="1418674" y="-108898"/>
                  <a:pt x="740466" y="-100128"/>
                  <a:pt x="318779" y="323386"/>
                </a:cubicBezTo>
                <a:cubicBezTo>
                  <a:pt x="-106928" y="750920"/>
                  <a:pt x="-106198" y="1442283"/>
                  <a:pt x="320606" y="1869086"/>
                </a:cubicBezTo>
                <a:cubicBezTo>
                  <a:pt x="548258" y="2096739"/>
                  <a:pt x="850821" y="2202709"/>
                  <a:pt x="1148633" y="2188092"/>
                </a:cubicBezTo>
                <a:cubicBezTo>
                  <a:pt x="1203080" y="2185535"/>
                  <a:pt x="1254238" y="2162148"/>
                  <a:pt x="1292606" y="2123414"/>
                </a:cubicBezTo>
                <a:close/>
              </a:path>
            </a:pathLst>
          </a:custGeom>
          <a:gradFill>
            <a:gsLst>
              <a:gs pos="36000">
                <a:schemeClr val="accent1"/>
              </a:gs>
              <a:gs pos="100000">
                <a:schemeClr val="accent1">
                  <a:lumMod val="40000"/>
                  <a:lumOff val="60000"/>
                </a:schemeClr>
              </a:gs>
            </a:gsLst>
            <a:path path="circle">
              <a:fillToRect r="100000" b="100000"/>
            </a:path>
            <a:tileRect l="-100000" t="-100000"/>
          </a:gradFill>
          <a:ln w="3653" cap="flat">
            <a:noFill/>
            <a:miter/>
          </a:ln>
          <a:effectLst/>
        </p:spPr>
        <p:txBody>
          <a:bodyPr vert="horz" wrap="square" lIns="91440" tIns="45720" rIns="91440" bIns="45720" rtlCol="0" anchor="ctr"/>
          <a:lstStyle/>
          <a:p>
            <a:pPr algn="l">
              <a:lnSpc>
                <a:spcPct val="110000"/>
              </a:lnSpc>
            </a:pPr>
            <a:endParaRPr kumimoji="1" lang="zh-CN" altLang="en-US"/>
          </a:p>
        </p:txBody>
      </p:sp>
      <p:sp>
        <p:nvSpPr>
          <p:cNvPr id="21" name="标题 1"/>
          <p:cNvSpPr txBox="1"/>
          <p:nvPr/>
        </p:nvSpPr>
        <p:spPr>
          <a:xfrm>
            <a:off x="7522044" y="2158553"/>
            <a:ext cx="312660" cy="312800"/>
          </a:xfrm>
          <a:custGeom>
            <a:avLst/>
            <a:gdLst>
              <a:gd name="connsiteX0" fmla="*/ 308409 w 829854"/>
              <a:gd name="connsiteY0" fmla="*/ 308409 h 830220"/>
              <a:gd name="connsiteX1" fmla="*/ 0 w 829854"/>
              <a:gd name="connsiteY1" fmla="*/ 830220 h 830220"/>
              <a:gd name="connsiteX2" fmla="*/ 829854 w 829854"/>
              <a:gd name="connsiteY2" fmla="*/ 0 h 830220"/>
              <a:gd name="connsiteX3" fmla="*/ 308409 w 829854"/>
              <a:gd name="connsiteY3" fmla="*/ 308409 h 830220"/>
            </a:gdLst>
            <a:ahLst/>
            <a:cxnLst/>
            <a:rect l="l" t="t" r="r" b="b"/>
            <a:pathLst>
              <a:path w="829854" h="830220">
                <a:moveTo>
                  <a:pt x="308409" y="308409"/>
                </a:moveTo>
                <a:cubicBezTo>
                  <a:pt x="66505" y="550313"/>
                  <a:pt x="124606" y="705614"/>
                  <a:pt x="0" y="830220"/>
                </a:cubicBezTo>
                <a:lnTo>
                  <a:pt x="829854" y="0"/>
                </a:lnTo>
                <a:cubicBezTo>
                  <a:pt x="705614" y="124606"/>
                  <a:pt x="549948" y="66505"/>
                  <a:pt x="308409" y="308409"/>
                </a:cubicBezTo>
                <a:close/>
              </a:path>
            </a:pathLst>
          </a:custGeom>
          <a:gradFill>
            <a:gsLst>
              <a:gs pos="32000">
                <a:schemeClr val="accent1">
                  <a:lumMod val="60000"/>
                  <a:lumOff val="40000"/>
                </a:schemeClr>
              </a:gs>
              <a:gs pos="47000">
                <a:schemeClr val="accent1"/>
              </a:gs>
              <a:gs pos="63000">
                <a:schemeClr val="accent1">
                  <a:lumMod val="60000"/>
                  <a:lumOff val="40000"/>
                </a:schemeClr>
              </a:gs>
            </a:gsLst>
            <a:lin ang="2700000" scaled="0"/>
          </a:gra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22" name="标题 1"/>
          <p:cNvSpPr txBox="1"/>
          <p:nvPr/>
        </p:nvSpPr>
        <p:spPr>
          <a:xfrm>
            <a:off x="7054962" y="1837734"/>
            <a:ext cx="815043" cy="461665"/>
          </a:xfrm>
          <a:prstGeom prst="rect">
            <a:avLst/>
          </a:prstGeom>
          <a:noFill/>
          <a:ln>
            <a:noFill/>
          </a:ln>
        </p:spPr>
        <p:txBody>
          <a:bodyPr vert="horz" wrap="square" lIns="91440" tIns="45720" rIns="91440" bIns="45720" rtlCol="0" anchor="t"/>
          <a:lstStyle/>
          <a:p>
            <a:pPr algn="ctr">
              <a:lnSpc>
                <a:spcPct val="110000"/>
              </a:lnSpc>
            </a:pPr>
            <a:r>
              <a:rPr kumimoji="1" lang="en-US" altLang="zh-CN" sz="2400">
                <a:ln w="12700">
                  <a:noFill/>
                </a:ln>
                <a:solidFill>
                  <a:srgbClr val="FFFFFF">
                    <a:alpha val="100000"/>
                  </a:srgbClr>
                </a:solidFill>
                <a:latin typeface="OPPOSans H"/>
                <a:ea typeface="OPPOSans H"/>
                <a:cs typeface="OPPOSans H"/>
              </a:rPr>
              <a:t>03</a:t>
            </a:r>
            <a:endParaRPr kumimoji="1" lang="zh-CN" altLang="en-US"/>
          </a:p>
        </p:txBody>
      </p:sp>
      <p:sp>
        <p:nvSpPr>
          <p:cNvPr id="23" name="标题 1"/>
          <p:cNvSpPr txBox="1"/>
          <p:nvPr/>
        </p:nvSpPr>
        <p:spPr>
          <a:xfrm>
            <a:off x="9813680" y="1660863"/>
            <a:ext cx="815043" cy="815406"/>
          </a:xfrm>
          <a:custGeom>
            <a:avLst/>
            <a:gdLst>
              <a:gd name="connsiteX0" fmla="*/ 1297676 w 2163261"/>
              <a:gd name="connsiteY0" fmla="*/ 2086117 h 2164219"/>
              <a:gd name="connsiteX1" fmla="*/ 2085143 w 2163261"/>
              <a:gd name="connsiteY1" fmla="*/ 1298651 h 2164219"/>
              <a:gd name="connsiteX2" fmla="*/ 2162610 w 2163261"/>
              <a:gd name="connsiteY2" fmla="*/ 1120329 h 2164219"/>
              <a:gd name="connsiteX3" fmla="*/ 1831911 w 2163261"/>
              <a:gd name="connsiteY3" fmla="*/ 303629 h 2164219"/>
              <a:gd name="connsiteX4" fmla="*/ 315079 w 2163261"/>
              <a:gd name="connsiteY4" fmla="*/ 319707 h 2164219"/>
              <a:gd name="connsiteX5" fmla="*/ 316906 w 2163261"/>
              <a:gd name="connsiteY5" fmla="*/ 1847502 h 2164219"/>
              <a:gd name="connsiteX6" fmla="*/ 1119354 w 2163261"/>
              <a:gd name="connsiteY6" fmla="*/ 2163585 h 2164219"/>
              <a:gd name="connsiteX7" fmla="*/ 1297676 w 2163261"/>
              <a:gd name="connsiteY7" fmla="*/ 2086117 h 2164219"/>
            </a:gdLst>
            <a:ahLst/>
            <a:cxnLst/>
            <a:rect l="l" t="t" r="r" b="b"/>
            <a:pathLst>
              <a:path w="2163261" h="2164219">
                <a:moveTo>
                  <a:pt x="1297676" y="2086117"/>
                </a:moveTo>
                <a:lnTo>
                  <a:pt x="2085143" y="1298651"/>
                </a:lnTo>
                <a:cubicBezTo>
                  <a:pt x="2132646" y="1251147"/>
                  <a:pt x="2160052" y="1187200"/>
                  <a:pt x="2162610" y="1120329"/>
                </a:cubicBezTo>
                <a:cubicBezTo>
                  <a:pt x="2172842" y="824709"/>
                  <a:pt x="2062487" y="525801"/>
                  <a:pt x="1831911" y="303629"/>
                </a:cubicBezTo>
                <a:cubicBezTo>
                  <a:pt x="1405108" y="-107461"/>
                  <a:pt x="733112" y="-100153"/>
                  <a:pt x="315079" y="319707"/>
                </a:cubicBezTo>
                <a:cubicBezTo>
                  <a:pt x="-105513" y="742126"/>
                  <a:pt x="-105147" y="1425815"/>
                  <a:pt x="316906" y="1847502"/>
                </a:cubicBezTo>
                <a:cubicBezTo>
                  <a:pt x="537616" y="2068212"/>
                  <a:pt x="829946" y="2173451"/>
                  <a:pt x="1119354" y="2163585"/>
                </a:cubicBezTo>
                <a:cubicBezTo>
                  <a:pt x="1186590" y="2161027"/>
                  <a:pt x="1250172" y="2133621"/>
                  <a:pt x="1297676" y="2086117"/>
                </a:cubicBezTo>
                <a:close/>
              </a:path>
            </a:pathLst>
          </a:custGeom>
          <a:solidFill>
            <a:schemeClr val="accent4">
              <a:alpha val="80000"/>
            </a:schemeClr>
          </a:soli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24" name="标题 1"/>
          <p:cNvSpPr txBox="1"/>
          <p:nvPr/>
        </p:nvSpPr>
        <p:spPr>
          <a:xfrm>
            <a:off x="9808932" y="1656116"/>
            <a:ext cx="824538" cy="824901"/>
          </a:xfrm>
          <a:custGeom>
            <a:avLst/>
            <a:gdLst>
              <a:gd name="connsiteX0" fmla="*/ 1292606 w 2188462"/>
              <a:gd name="connsiteY0" fmla="*/ 2123414 h 2189420"/>
              <a:gd name="connsiteX1" fmla="*/ 2122461 w 2188462"/>
              <a:gd name="connsiteY1" fmla="*/ 1293560 h 2189420"/>
              <a:gd name="connsiteX2" fmla="*/ 2187139 w 2188462"/>
              <a:gd name="connsiteY2" fmla="*/ 1149587 h 2189420"/>
              <a:gd name="connsiteX3" fmla="*/ 1850593 w 2188462"/>
              <a:gd name="connsiteY3" fmla="*/ 304385 h 2189420"/>
              <a:gd name="connsiteX4" fmla="*/ 318779 w 2188462"/>
              <a:gd name="connsiteY4" fmla="*/ 323386 h 2189420"/>
              <a:gd name="connsiteX5" fmla="*/ 320606 w 2188462"/>
              <a:gd name="connsiteY5" fmla="*/ 1869086 h 2189420"/>
              <a:gd name="connsiteX6" fmla="*/ 1148633 w 2188462"/>
              <a:gd name="connsiteY6" fmla="*/ 2188092 h 2189420"/>
              <a:gd name="connsiteX7" fmla="*/ 1292606 w 2188462"/>
              <a:gd name="connsiteY7" fmla="*/ 2123414 h 2189420"/>
            </a:gdLst>
            <a:ahLst/>
            <a:cxnLst/>
            <a:rect l="l" t="t" r="r" b="b"/>
            <a:pathLst>
              <a:path w="2188462" h="2189420">
                <a:moveTo>
                  <a:pt x="1292606" y="2123414"/>
                </a:moveTo>
                <a:lnTo>
                  <a:pt x="2122461" y="1293560"/>
                </a:lnTo>
                <a:cubicBezTo>
                  <a:pt x="2160829" y="1255191"/>
                  <a:pt x="2184216" y="1203668"/>
                  <a:pt x="2187139" y="1149587"/>
                </a:cubicBezTo>
                <a:cubicBezTo>
                  <a:pt x="2202121" y="844101"/>
                  <a:pt x="2089939" y="533865"/>
                  <a:pt x="1850593" y="304385"/>
                </a:cubicBezTo>
                <a:cubicBezTo>
                  <a:pt x="1418674" y="-108898"/>
                  <a:pt x="740466" y="-100128"/>
                  <a:pt x="318779" y="323386"/>
                </a:cubicBezTo>
                <a:cubicBezTo>
                  <a:pt x="-106928" y="750920"/>
                  <a:pt x="-106198" y="1442283"/>
                  <a:pt x="320606" y="1869086"/>
                </a:cubicBezTo>
                <a:cubicBezTo>
                  <a:pt x="548258" y="2096739"/>
                  <a:pt x="850821" y="2202709"/>
                  <a:pt x="1148633" y="2188092"/>
                </a:cubicBezTo>
                <a:cubicBezTo>
                  <a:pt x="1203080" y="2185535"/>
                  <a:pt x="1254238" y="2162148"/>
                  <a:pt x="1292606" y="2123414"/>
                </a:cubicBezTo>
                <a:close/>
              </a:path>
            </a:pathLst>
          </a:custGeom>
          <a:gradFill>
            <a:gsLst>
              <a:gs pos="36000">
                <a:schemeClr val="accent1"/>
              </a:gs>
              <a:gs pos="100000">
                <a:schemeClr val="accent1">
                  <a:lumMod val="40000"/>
                  <a:lumOff val="60000"/>
                </a:schemeClr>
              </a:gs>
            </a:gsLst>
            <a:path path="circle">
              <a:fillToRect r="100000" b="100000"/>
            </a:path>
            <a:tileRect l="-100000" t="-100000"/>
          </a:gra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25" name="标题 1"/>
          <p:cNvSpPr txBox="1"/>
          <p:nvPr/>
        </p:nvSpPr>
        <p:spPr>
          <a:xfrm>
            <a:off x="10287138" y="2153791"/>
            <a:ext cx="312660" cy="312800"/>
          </a:xfrm>
          <a:custGeom>
            <a:avLst/>
            <a:gdLst>
              <a:gd name="connsiteX0" fmla="*/ 308409 w 829854"/>
              <a:gd name="connsiteY0" fmla="*/ 308409 h 830220"/>
              <a:gd name="connsiteX1" fmla="*/ 0 w 829854"/>
              <a:gd name="connsiteY1" fmla="*/ 830220 h 830220"/>
              <a:gd name="connsiteX2" fmla="*/ 829854 w 829854"/>
              <a:gd name="connsiteY2" fmla="*/ 0 h 830220"/>
              <a:gd name="connsiteX3" fmla="*/ 308409 w 829854"/>
              <a:gd name="connsiteY3" fmla="*/ 308409 h 830220"/>
            </a:gdLst>
            <a:ahLst/>
            <a:cxnLst/>
            <a:rect l="l" t="t" r="r" b="b"/>
            <a:pathLst>
              <a:path w="829854" h="830220">
                <a:moveTo>
                  <a:pt x="308409" y="308409"/>
                </a:moveTo>
                <a:cubicBezTo>
                  <a:pt x="66505" y="550313"/>
                  <a:pt x="124606" y="705614"/>
                  <a:pt x="0" y="830220"/>
                </a:cubicBezTo>
                <a:lnTo>
                  <a:pt x="829854" y="0"/>
                </a:lnTo>
                <a:cubicBezTo>
                  <a:pt x="705614" y="124606"/>
                  <a:pt x="549948" y="66505"/>
                  <a:pt x="308409" y="308409"/>
                </a:cubicBezTo>
                <a:close/>
              </a:path>
            </a:pathLst>
          </a:custGeom>
          <a:gradFill>
            <a:gsLst>
              <a:gs pos="32000">
                <a:schemeClr val="accent1">
                  <a:lumMod val="60000"/>
                  <a:lumOff val="40000"/>
                </a:schemeClr>
              </a:gs>
              <a:gs pos="47000">
                <a:schemeClr val="accent1"/>
              </a:gs>
              <a:gs pos="63000">
                <a:schemeClr val="accent1">
                  <a:lumMod val="60000"/>
                  <a:lumOff val="40000"/>
                </a:schemeClr>
              </a:gs>
            </a:gsLst>
            <a:lin ang="2700000" scaled="0"/>
          </a:gra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26" name="标题 1"/>
          <p:cNvSpPr txBox="1"/>
          <p:nvPr/>
        </p:nvSpPr>
        <p:spPr>
          <a:xfrm>
            <a:off x="9813680" y="1837734"/>
            <a:ext cx="815043" cy="461665"/>
          </a:xfrm>
          <a:prstGeom prst="rect">
            <a:avLst/>
          </a:prstGeom>
          <a:noFill/>
          <a:ln>
            <a:noFill/>
          </a:ln>
        </p:spPr>
        <p:txBody>
          <a:bodyPr vert="horz" wrap="square" lIns="91440" tIns="45720" rIns="91440" bIns="45720" rtlCol="0" anchor="t"/>
          <a:lstStyle/>
          <a:p>
            <a:pPr algn="ctr">
              <a:lnSpc>
                <a:spcPct val="110000"/>
              </a:lnSpc>
            </a:pPr>
            <a:r>
              <a:rPr kumimoji="1" lang="en-US" altLang="zh-CN" sz="2400">
                <a:ln w="12700">
                  <a:noFill/>
                </a:ln>
                <a:solidFill>
                  <a:srgbClr val="FFFFFF">
                    <a:alpha val="100000"/>
                  </a:srgbClr>
                </a:solidFill>
                <a:latin typeface="OPPOSans H"/>
                <a:ea typeface="OPPOSans H"/>
                <a:cs typeface="OPPOSans H"/>
              </a:rPr>
              <a:t>04</a:t>
            </a:r>
            <a:endParaRPr kumimoji="1" lang="zh-CN" altLang="en-US"/>
          </a:p>
        </p:txBody>
      </p:sp>
      <p:sp>
        <p:nvSpPr>
          <p:cNvPr id="27" name="标题 1"/>
          <p:cNvSpPr txBox="1"/>
          <p:nvPr/>
        </p:nvSpPr>
        <p:spPr>
          <a:xfrm>
            <a:off x="847725" y="450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Bold"/>
                <a:ea typeface="Source Han Sans CN Bold Bold"/>
                <a:cs typeface="Source Han Sans CN Bold Bold"/>
              </a:rPr>
              <a:t>背景及研发意义</a:t>
            </a:r>
            <a:endParaRPr kumimoji="1" lang="zh-CN" altLang="en-US"/>
          </a:p>
        </p:txBody>
      </p:sp>
      <p:sp>
        <p:nvSpPr>
          <p:cNvPr id="28" name="标题 1"/>
          <p:cNvSpPr txBox="1"/>
          <p:nvPr/>
        </p:nvSpPr>
        <p:spPr>
          <a:xfrm>
            <a:off x="348958" y="502433"/>
            <a:ext cx="387642" cy="38764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9" name="标题 1"/>
          <p:cNvSpPr txBox="1"/>
          <p:nvPr/>
        </p:nvSpPr>
        <p:spPr>
          <a:xfrm>
            <a:off x="271663" y="431800"/>
            <a:ext cx="387642" cy="387642"/>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549235" y="2505003"/>
            <a:ext cx="2969330" cy="2969329"/>
          </a:xfrm>
          <a:prstGeom prst="ellipse">
            <a:avLst/>
          </a:prstGeom>
          <a:solidFill>
            <a:schemeClr val="accent1"/>
          </a:solidFill>
          <a:ln w="12700" cap="sq">
            <a:noFill/>
            <a:miter/>
          </a:ln>
          <a:effectLst>
            <a:outerShdw blurRad="50800" dist="38100" dir="5400000" algn="t" rotWithShape="0">
              <a:schemeClr val="accent1">
                <a:lumMod val="75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7944592" y="676115"/>
            <a:ext cx="1807418" cy="1807418"/>
          </a:xfrm>
          <a:prstGeom prst="ellipse">
            <a:avLst/>
          </a:prstGeom>
          <a:solidFill>
            <a:schemeClr val="accent1"/>
          </a:solidFill>
          <a:ln w="12700" cap="sq">
            <a:noFill/>
            <a:miter/>
          </a:ln>
          <a:effectLst>
            <a:outerShdw blurRad="50800" dist="38100" dir="5400000" algn="t" rotWithShape="0">
              <a:schemeClr val="accent1">
                <a:lumMod val="75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7301171" y="4587317"/>
            <a:ext cx="1277181" cy="1277180"/>
          </a:xfrm>
          <a:prstGeom prst="ellipse">
            <a:avLst/>
          </a:prstGeom>
          <a:solidFill>
            <a:schemeClr val="accent1"/>
          </a:solidFill>
          <a:ln w="12700" cap="sq">
            <a:noFill/>
            <a:miter/>
          </a:ln>
          <a:effectLst>
            <a:outerShdw blurRad="50800" dist="38100" dir="5400000" algn="t" rotWithShape="0">
              <a:schemeClr val="accent1">
                <a:lumMod val="75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7424018" y="2265571"/>
            <a:ext cx="816105" cy="816104"/>
          </a:xfrm>
          <a:prstGeom prst="ellipse">
            <a:avLst/>
          </a:prstGeom>
          <a:solidFill>
            <a:schemeClr val="accent1"/>
          </a:solidFill>
          <a:ln w="12700" cap="sq">
            <a:noFill/>
            <a:miter/>
          </a:ln>
          <a:effectLst>
            <a:outerShdw blurRad="50800" dist="38100" dir="5400000" algn="t" rotWithShape="0">
              <a:schemeClr val="accent1">
                <a:lumMod val="75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0607749" y="5739778"/>
            <a:ext cx="617842" cy="617842"/>
          </a:xfrm>
          <a:prstGeom prst="ellipse">
            <a:avLst/>
          </a:prstGeom>
          <a:solidFill>
            <a:schemeClr val="accent1"/>
          </a:solidFill>
          <a:ln w="12700" cap="sq">
            <a:noFill/>
            <a:miter/>
          </a:ln>
          <a:effectLst>
            <a:outerShdw blurRad="50800" dist="38100" dir="5400000" algn="t" rotWithShape="0">
              <a:schemeClr val="accent1">
                <a:lumMod val="75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6815398" y="4487957"/>
            <a:ext cx="355029" cy="355028"/>
          </a:xfrm>
          <a:prstGeom prst="ellipse">
            <a:avLst/>
          </a:prstGeom>
          <a:solidFill>
            <a:schemeClr val="accent2"/>
          </a:solidFill>
          <a:ln w="12700" cap="sq">
            <a:noFill/>
            <a:miter/>
          </a:ln>
          <a:effectLst>
            <a:outerShdw blurRad="50800" dist="38100" dir="5400000" algn="t" rotWithShape="0">
              <a:schemeClr val="accent1">
                <a:lumMod val="75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10965083" y="2274792"/>
            <a:ext cx="355029" cy="355028"/>
          </a:xfrm>
          <a:prstGeom prst="ellipse">
            <a:avLst/>
          </a:prstGeom>
          <a:solidFill>
            <a:schemeClr val="accent2"/>
          </a:solidFill>
          <a:ln w="12700" cap="sq">
            <a:noFill/>
            <a:miter/>
          </a:ln>
          <a:effectLst>
            <a:outerShdw blurRad="50800" dist="38100" dir="5400000" algn="t" rotWithShape="0">
              <a:schemeClr val="accent1">
                <a:lumMod val="75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11066520" y="5410109"/>
            <a:ext cx="318143" cy="318142"/>
          </a:xfrm>
          <a:prstGeom prst="ellipse">
            <a:avLst/>
          </a:prstGeom>
          <a:solidFill>
            <a:schemeClr val="accent2"/>
          </a:solidFill>
          <a:ln w="12700" cap="sq">
            <a:noFill/>
            <a:miter/>
          </a:ln>
          <a:effectLst>
            <a:outerShdw blurRad="50800" dist="38100" dir="5400000" algn="t" rotWithShape="0">
              <a:schemeClr val="accent1">
                <a:lumMod val="75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7687929" y="2514914"/>
            <a:ext cx="288283" cy="312279"/>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2" name="标题 1"/>
          <p:cNvSpPr txBox="1"/>
          <p:nvPr/>
        </p:nvSpPr>
        <p:spPr>
          <a:xfrm>
            <a:off x="10803054" y="5935083"/>
            <a:ext cx="227232" cy="227232"/>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rcRect/>
          <a:stretch/>
        </p:blipFill>
        <p:spPr>
          <a:xfrm>
            <a:off x="8548900" y="2504667"/>
            <a:ext cx="2970000" cy="2970000"/>
          </a:xfrm>
          <a:custGeom>
            <a:avLst/>
            <a:gdLst/>
            <a:ahLst/>
            <a:cxnLst/>
            <a:rect l="l" t="t" r="r" b="b"/>
            <a:pathLst>
              <a:path w="2970000" h="2970000">
                <a:moveTo>
                  <a:pt x="1485000" y="0"/>
                </a:moveTo>
                <a:cubicBezTo>
                  <a:pt x="2305143" y="0"/>
                  <a:pt x="2970000" y="664857"/>
                  <a:pt x="2970000" y="1485000"/>
                </a:cubicBezTo>
                <a:cubicBezTo>
                  <a:pt x="2970000" y="2305143"/>
                  <a:pt x="2305143" y="2970000"/>
                  <a:pt x="1485000" y="2970000"/>
                </a:cubicBezTo>
                <a:cubicBezTo>
                  <a:pt x="664857" y="2970000"/>
                  <a:pt x="0" y="2305143"/>
                  <a:pt x="0" y="1485000"/>
                </a:cubicBezTo>
                <a:cubicBezTo>
                  <a:pt x="0" y="664857"/>
                  <a:pt x="664857" y="0"/>
                  <a:pt x="1485000" y="0"/>
                </a:cubicBezTo>
                <a:close/>
              </a:path>
            </a:pathLst>
          </a:custGeom>
          <a:noFill/>
          <a:ln>
            <a:noFill/>
          </a:ln>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rcRect t="543" b="543"/>
          <a:stretch/>
        </p:blipFill>
        <p:spPr>
          <a:xfrm>
            <a:off x="7946501" y="678024"/>
            <a:ext cx="1803600" cy="1803600"/>
          </a:xfrm>
          <a:custGeom>
            <a:avLst/>
            <a:gdLst/>
            <a:ahLst/>
            <a:cxnLst/>
            <a:rect l="l" t="t" r="r" b="b"/>
            <a:pathLst>
              <a:path w="1803600" h="1803600">
                <a:moveTo>
                  <a:pt x="901800" y="0"/>
                </a:moveTo>
                <a:cubicBezTo>
                  <a:pt x="1399850" y="0"/>
                  <a:pt x="1803600" y="403750"/>
                  <a:pt x="1803600" y="901800"/>
                </a:cubicBezTo>
                <a:cubicBezTo>
                  <a:pt x="1803600" y="1399850"/>
                  <a:pt x="1399850" y="1803600"/>
                  <a:pt x="901800" y="1803600"/>
                </a:cubicBezTo>
                <a:cubicBezTo>
                  <a:pt x="403750" y="1803600"/>
                  <a:pt x="0" y="1399850"/>
                  <a:pt x="0" y="901800"/>
                </a:cubicBezTo>
                <a:cubicBezTo>
                  <a:pt x="0" y="403750"/>
                  <a:pt x="403750" y="0"/>
                  <a:pt x="901800" y="0"/>
                </a:cubicBezTo>
                <a:close/>
              </a:path>
            </a:pathLst>
          </a:custGeom>
          <a:noFill/>
          <a:ln>
            <a:noFill/>
          </a:ln>
        </p:spPr>
      </p:pic>
      <p:pic>
        <p:nvPicPr>
          <p:cNvPr id="15" name="图片 14"/>
          <p:cNvPicPr>
            <a:picLocks noChangeAspect="1"/>
          </p:cNvPicPr>
          <p:nvPr/>
        </p:nvPicPr>
        <p:blipFill>
          <a:blip r:embed="rId5">
            <a:extLst>
              <a:ext uri="{28A0092B-C50C-407E-A947-70E740481C1C}">
                <a14:useLocalDpi xmlns:a14="http://schemas.microsoft.com/office/drawing/2010/main" val="0"/>
              </a:ext>
            </a:extLst>
          </a:blip>
          <a:srcRect l="16667" r="16667"/>
          <a:stretch/>
        </p:blipFill>
        <p:spPr>
          <a:xfrm>
            <a:off x="7300761" y="4586907"/>
            <a:ext cx="1278000" cy="1278000"/>
          </a:xfrm>
          <a:custGeom>
            <a:avLst/>
            <a:gdLst/>
            <a:ahLst/>
            <a:cxnLst/>
            <a:rect l="l" t="t" r="r" b="b"/>
            <a:pathLst>
              <a:path w="1278000" h="1278000">
                <a:moveTo>
                  <a:pt x="639000" y="0"/>
                </a:moveTo>
                <a:cubicBezTo>
                  <a:pt x="991910" y="0"/>
                  <a:pt x="1278000" y="286090"/>
                  <a:pt x="1278000" y="639000"/>
                </a:cubicBezTo>
                <a:cubicBezTo>
                  <a:pt x="1278000" y="991910"/>
                  <a:pt x="991910" y="1278000"/>
                  <a:pt x="639000" y="1278000"/>
                </a:cubicBezTo>
                <a:cubicBezTo>
                  <a:pt x="286090" y="1278000"/>
                  <a:pt x="0" y="991910"/>
                  <a:pt x="0" y="639000"/>
                </a:cubicBezTo>
                <a:cubicBezTo>
                  <a:pt x="0" y="286090"/>
                  <a:pt x="286090" y="0"/>
                  <a:pt x="639000" y="0"/>
                </a:cubicBezTo>
                <a:close/>
              </a:path>
            </a:pathLst>
          </a:custGeom>
          <a:noFill/>
          <a:ln>
            <a:noFill/>
          </a:ln>
        </p:spPr>
      </p:pic>
      <p:sp>
        <p:nvSpPr>
          <p:cNvPr id="16" name="标题 1"/>
          <p:cNvSpPr txBox="1"/>
          <p:nvPr/>
        </p:nvSpPr>
        <p:spPr>
          <a:xfrm>
            <a:off x="659305" y="1976717"/>
            <a:ext cx="5689600" cy="2012950"/>
          </a:xfrm>
          <a:prstGeom prst="rect">
            <a:avLst/>
          </a:prstGeom>
          <a:noFill/>
          <a:ln>
            <a:noFill/>
          </a:ln>
        </p:spPr>
        <p:txBody>
          <a:bodyPr vert="horz" wrap="square" lIns="0" tIns="0" rIns="0" bIns="0" rtlCol="0" anchor="t"/>
          <a:lstStyle/>
          <a:p>
            <a:pPr algn="l">
              <a:lnSpc>
                <a:spcPct val="150000"/>
              </a:lnSpc>
            </a:pPr>
            <a:r>
              <a:rPr kumimoji="1" lang="en-US" altLang="zh-CN" sz="1100" dirty="0">
                <a:ln w="12700">
                  <a:noFill/>
                </a:ln>
                <a:solidFill>
                  <a:srgbClr val="000000">
                    <a:alpha val="100000"/>
                  </a:srgbClr>
                </a:solidFill>
                <a:latin typeface="Source Han Sans CN Normal"/>
                <a:ea typeface="Source Han Sans CN Normal"/>
                <a:cs typeface="Source Han Sans CN Normal"/>
              </a:rPr>
              <a:t>传统的算法，包括随机森林、k-邻近、支持向量机和adaboost等，已在眼疾检测领域有所运用，它们依靠提取图像特征后用分类器来区分样本，如支持向量机通过确定最佳分类界面来分隔样本。但这些技术高度依赖人工特征工程，并且在处理高复杂性的图像数据时常常表现不佳。相比之下，深度学习技术，分为全监督和半监督学习，前者依赖大量标注数据进行训练，以获取数据的高级特征，在图像分类和目标识别等方面表现出色；后者结合了少量标注和大量未标注数据来减少对标注信息的依赖。例如，基于深度学习的眼疾检测模型能够自动地学习眼底图像特征，从而提升识别精度。尽管如此，深度学习技术也存在缺陷，比如模型的解释性不强，以及对大量计算资源和数据的需求。</a:t>
            </a:r>
            <a:endParaRPr kumimoji="1" lang="zh-CN" altLang="en-US" dirty="0"/>
          </a:p>
        </p:txBody>
      </p:sp>
      <p:sp>
        <p:nvSpPr>
          <p:cNvPr id="17" name="标题 1"/>
          <p:cNvSpPr txBox="1"/>
          <p:nvPr/>
        </p:nvSpPr>
        <p:spPr>
          <a:xfrm>
            <a:off x="659305" y="1625600"/>
            <a:ext cx="5689600" cy="317500"/>
          </a:xfrm>
          <a:prstGeom prst="rect">
            <a:avLst/>
          </a:prstGeom>
          <a:noFill/>
          <a:ln>
            <a:noFill/>
          </a:ln>
        </p:spPr>
        <p:txBody>
          <a:bodyPr vert="horz" wrap="square" lIns="0" tIns="0" rIns="0" bIns="0" rtlCol="0" anchor="b"/>
          <a:lstStyle/>
          <a:p>
            <a:pPr algn="l">
              <a:lnSpc>
                <a:spcPct val="150000"/>
              </a:lnSpc>
            </a:pPr>
            <a:r>
              <a:rPr kumimoji="1" lang="en-US" altLang="zh-CN" sz="1600" dirty="0" err="1">
                <a:ln w="12700">
                  <a:noFill/>
                </a:ln>
                <a:solidFill>
                  <a:srgbClr val="0451C5">
                    <a:alpha val="100000"/>
                  </a:srgbClr>
                </a:solidFill>
                <a:latin typeface="Source Han Sans CN Bold Bold"/>
                <a:ea typeface="Source Han Sans CN Bold Bold"/>
                <a:cs typeface="Source Han Sans CN Bold Bold"/>
              </a:rPr>
              <a:t>基于机器学习眼疾识别方法总结</a:t>
            </a:r>
            <a:endParaRPr kumimoji="1" lang="zh-CN" altLang="en-US" dirty="0"/>
          </a:p>
        </p:txBody>
      </p:sp>
      <p:sp>
        <p:nvSpPr>
          <p:cNvPr id="18" name="标题 1"/>
          <p:cNvSpPr txBox="1"/>
          <p:nvPr/>
        </p:nvSpPr>
        <p:spPr>
          <a:xfrm>
            <a:off x="654469" y="4409984"/>
            <a:ext cx="6235700" cy="2000250"/>
          </a:xfrm>
          <a:prstGeom prst="rect">
            <a:avLst/>
          </a:prstGeom>
          <a:noFill/>
          <a:ln>
            <a:noFill/>
          </a:ln>
        </p:spPr>
        <p:txBody>
          <a:bodyPr vert="horz" wrap="square" lIns="0" tIns="0" rIns="0" bIns="0" rtlCol="0" anchor="t"/>
          <a:lstStyle/>
          <a:p>
            <a:pPr algn="l">
              <a:lnSpc>
                <a:spcPct val="150000"/>
              </a:lnSpc>
            </a:pPr>
            <a:r>
              <a:rPr kumimoji="1" lang="en-US" altLang="zh-CN" sz="1100" dirty="0">
                <a:ln w="12700">
                  <a:noFill/>
                </a:ln>
                <a:solidFill>
                  <a:srgbClr val="000000">
                    <a:alpha val="100000"/>
                  </a:srgbClr>
                </a:solidFill>
                <a:latin typeface="Source Han Sans CN Normal"/>
                <a:ea typeface="Source Han Sans CN Normal"/>
                <a:cs typeface="Source Han Sans CN Normal"/>
              </a:rPr>
              <a:t>眼底图像通常存在对比度低、光照不均匀、细节模糊等问题，这给图像分析和疾病诊断带来了困难。例如，低对比度的图像可能会掩盖病变的细节，光照不均匀会导致图像某些区域过亮或过暗，影响特征提取。
现有图像增强方法包括HCCIEE算法、CLAHE方法、基于深度学习的方法等。HCCIEE算法通过对图像的直方图进行调整，增强图像的对比度；CLAHE方法则是一种自适应的直方图均衡化方法，能够更好地保留图像的细节。基于深度学习的方法，如生成对抗网络（GAN），可以通过生成器和判别器的对抗训练，生成高质量的增强图像。这些方法各有优势和不足，例如HCCIEE算法和CLAHE方法计算相对简单，但在增强效果上可能有限；基于深度学习的方法增强效果较好，但模型训练复杂，需要大量的数据和计算资源。</a:t>
            </a:r>
            <a:endParaRPr kumimoji="1" lang="zh-CN" altLang="en-US" dirty="0"/>
          </a:p>
        </p:txBody>
      </p:sp>
      <p:sp>
        <p:nvSpPr>
          <p:cNvPr id="19" name="标题 1"/>
          <p:cNvSpPr txBox="1"/>
          <p:nvPr/>
        </p:nvSpPr>
        <p:spPr>
          <a:xfrm>
            <a:off x="658970" y="3989667"/>
            <a:ext cx="5689600" cy="317500"/>
          </a:xfrm>
          <a:prstGeom prst="rect">
            <a:avLst/>
          </a:prstGeom>
          <a:noFill/>
          <a:ln>
            <a:noFill/>
          </a:ln>
        </p:spPr>
        <p:txBody>
          <a:bodyPr vert="horz" wrap="square" lIns="0" tIns="0" rIns="0" bIns="0" rtlCol="0" anchor="b"/>
          <a:lstStyle/>
          <a:p>
            <a:pPr algn="l">
              <a:lnSpc>
                <a:spcPct val="150000"/>
              </a:lnSpc>
            </a:pPr>
            <a:r>
              <a:rPr kumimoji="1" lang="en-US" altLang="zh-CN" sz="1600" dirty="0" err="1">
                <a:ln w="12700">
                  <a:noFill/>
                </a:ln>
                <a:solidFill>
                  <a:srgbClr val="0451C5">
                    <a:alpha val="100000"/>
                  </a:srgbClr>
                </a:solidFill>
                <a:latin typeface="Source Han Sans CN Bold Bold"/>
                <a:ea typeface="Source Han Sans CN Bold Bold"/>
                <a:cs typeface="Source Han Sans CN Bold Bold"/>
              </a:rPr>
              <a:t>眼底图像增强研究现状</a:t>
            </a:r>
            <a:endParaRPr kumimoji="1" lang="zh-CN" altLang="en-US" dirty="0"/>
          </a:p>
        </p:txBody>
      </p:sp>
      <p:sp>
        <p:nvSpPr>
          <p:cNvPr id="20" name="标题 1"/>
          <p:cNvSpPr txBox="1"/>
          <p:nvPr/>
        </p:nvSpPr>
        <p:spPr>
          <a:xfrm>
            <a:off x="847725" y="450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Bold"/>
                <a:ea typeface="Source Han Sans CN Bold Bold"/>
                <a:cs typeface="Source Han Sans CN Bold Bold"/>
              </a:rPr>
              <a:t>国内外研究现状</a:t>
            </a:r>
            <a:endParaRPr kumimoji="1" lang="zh-CN" altLang="en-US"/>
          </a:p>
        </p:txBody>
      </p:sp>
      <p:sp>
        <p:nvSpPr>
          <p:cNvPr id="21" name="标题 1"/>
          <p:cNvSpPr txBox="1"/>
          <p:nvPr/>
        </p:nvSpPr>
        <p:spPr>
          <a:xfrm>
            <a:off x="348958" y="502433"/>
            <a:ext cx="387642" cy="38764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271663" y="431800"/>
            <a:ext cx="387642" cy="387642"/>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48955" y="5208125"/>
            <a:ext cx="925975" cy="925975"/>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4" name="图片 3"/>
          <p:cNvPicPr>
            <a:picLocks noChangeAspect="1"/>
          </p:cNvPicPr>
          <p:nvPr/>
        </p:nvPicPr>
        <p:blipFill>
          <a:blip r:embed="rId3">
            <a:alphaModFix/>
          </a:blip>
          <a:srcRect l="19526" r="19526"/>
          <a:stretch>
            <a:fillRect/>
          </a:stretch>
        </p:blipFill>
        <p:spPr>
          <a:xfrm>
            <a:off x="1032705" y="1540613"/>
            <a:ext cx="4012716" cy="4386520"/>
          </a:xfrm>
          <a:custGeom>
            <a:avLst/>
            <a:gdLst/>
            <a:ahLst/>
            <a:cxnLst/>
            <a:rect l="l" t="t" r="r" b="b"/>
            <a:pathLst>
              <a:path w="4012716" h="4386520">
                <a:moveTo>
                  <a:pt x="0" y="0"/>
                </a:moveTo>
                <a:lnTo>
                  <a:pt x="4012716" y="0"/>
                </a:lnTo>
                <a:lnTo>
                  <a:pt x="4012716" y="4386520"/>
                </a:lnTo>
                <a:lnTo>
                  <a:pt x="0" y="4386520"/>
                </a:lnTo>
                <a:lnTo>
                  <a:pt x="0" y="0"/>
                </a:lnTo>
                <a:close/>
              </a:path>
            </a:pathLst>
          </a:custGeom>
          <a:noFill/>
          <a:ln>
            <a:noFill/>
          </a:ln>
        </p:spPr>
      </p:pic>
      <p:sp>
        <p:nvSpPr>
          <p:cNvPr id="5" name="标题 1"/>
          <p:cNvSpPr txBox="1"/>
          <p:nvPr/>
        </p:nvSpPr>
        <p:spPr>
          <a:xfrm>
            <a:off x="5531429" y="1300480"/>
            <a:ext cx="5798916" cy="549639"/>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rot="2700000">
            <a:off x="5923907" y="1463353"/>
            <a:ext cx="416690" cy="416690"/>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5694445" y="1339864"/>
            <a:ext cx="5398716" cy="352680"/>
          </a:xfrm>
          <a:prstGeom prst="rect">
            <a:avLst/>
          </a:prstGeom>
          <a:noFill/>
          <a:ln>
            <a:noFill/>
          </a:ln>
        </p:spPr>
        <p:txBody>
          <a:bodyPr vert="horz" wrap="square" lIns="0" tIns="0" rIns="0" bIns="0" rtlCol="0" anchor="b"/>
          <a:lstStyle/>
          <a:p>
            <a:pPr algn="l">
              <a:lnSpc>
                <a:spcPct val="150000"/>
              </a:lnSpc>
            </a:pPr>
            <a:r>
              <a:rPr kumimoji="1" lang="en-US" altLang="zh-CN" sz="1600" dirty="0" err="1">
                <a:ln w="12700">
                  <a:noFill/>
                </a:ln>
                <a:solidFill>
                  <a:srgbClr val="FFFFFF">
                    <a:alpha val="100000"/>
                  </a:srgbClr>
                </a:solidFill>
                <a:latin typeface="Source Han Sans CN Bold Bold"/>
                <a:ea typeface="Source Han Sans CN Bold Bold"/>
                <a:cs typeface="Source Han Sans CN Bold Bold"/>
              </a:rPr>
              <a:t>数据预处理策略</a:t>
            </a:r>
            <a:endParaRPr kumimoji="1" lang="zh-CN" altLang="en-US" dirty="0"/>
          </a:p>
        </p:txBody>
      </p:sp>
      <p:sp>
        <p:nvSpPr>
          <p:cNvPr id="8" name="标题 1"/>
          <p:cNvSpPr txBox="1"/>
          <p:nvPr/>
        </p:nvSpPr>
        <p:spPr>
          <a:xfrm>
            <a:off x="5694445" y="1966343"/>
            <a:ext cx="5398716" cy="799084"/>
          </a:xfrm>
          <a:prstGeom prst="rect">
            <a:avLst/>
          </a:prstGeom>
          <a:noFill/>
          <a:ln>
            <a:noFill/>
          </a:ln>
        </p:spPr>
        <p:txBody>
          <a:bodyPr vert="horz" wrap="square" lIns="0" tIns="0" rIns="0" bIns="0" rtlCol="0" anchor="t"/>
          <a:lstStyle/>
          <a:p>
            <a:pPr algn="l">
              <a:lnSpc>
                <a:spcPct val="150000"/>
              </a:lnSpc>
            </a:pPr>
            <a:r>
              <a:rPr kumimoji="1" lang="en-US" altLang="zh-CN" sz="1300" dirty="0">
                <a:ln w="12700">
                  <a:noFill/>
                </a:ln>
                <a:solidFill>
                  <a:srgbClr val="000000">
                    <a:alpha val="100000"/>
                  </a:srgbClr>
                </a:solidFill>
                <a:latin typeface="Source Han Sans CN Normal"/>
                <a:ea typeface="Source Han Sans CN Normal"/>
                <a:cs typeface="Source Han Sans CN Normal"/>
              </a:rPr>
              <a:t>探究高斯、中值等滤波技术以减少图像噪声，并通过实验选取最优滤波方案。运用直方图均衡化和自适应对比度增强优化图像细节。针对数据集类别不平衡，实施旋转、翻转、缩放等数据扩充手段，以增强模型泛化。</a:t>
            </a:r>
            <a:endParaRPr kumimoji="1" lang="zh-CN" altLang="en-US" dirty="0"/>
          </a:p>
        </p:txBody>
      </p:sp>
      <p:sp>
        <p:nvSpPr>
          <p:cNvPr id="9" name="标题 1"/>
          <p:cNvSpPr txBox="1"/>
          <p:nvPr/>
        </p:nvSpPr>
        <p:spPr>
          <a:xfrm>
            <a:off x="5531429" y="2979189"/>
            <a:ext cx="5798916" cy="549639"/>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rot="2700000">
            <a:off x="5923907" y="3142062"/>
            <a:ext cx="416690" cy="416690"/>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5694445" y="3018573"/>
            <a:ext cx="5398716" cy="352680"/>
          </a:xfrm>
          <a:prstGeom prst="rect">
            <a:avLst/>
          </a:prstGeom>
          <a:noFill/>
          <a:ln>
            <a:noFill/>
          </a:ln>
        </p:spPr>
        <p:txBody>
          <a:bodyPr vert="horz" wrap="square" lIns="0" tIns="0" rIns="0" bIns="0" rtlCol="0" anchor="b"/>
          <a:lstStyle/>
          <a:p>
            <a:pPr algn="l">
              <a:lnSpc>
                <a:spcPct val="150000"/>
              </a:lnSpc>
            </a:pPr>
            <a:r>
              <a:rPr kumimoji="1" lang="en-US" altLang="zh-CN" sz="1600">
                <a:ln w="12700">
                  <a:noFill/>
                </a:ln>
                <a:solidFill>
                  <a:srgbClr val="FFFFFF">
                    <a:alpha val="100000"/>
                  </a:srgbClr>
                </a:solidFill>
                <a:latin typeface="Source Han Sans CN Bold Bold"/>
                <a:ea typeface="Source Han Sans CN Bold Bold"/>
                <a:cs typeface="Source Han Sans CN Bold Bold"/>
              </a:rPr>
              <a:t>多特征融合模型设计</a:t>
            </a:r>
            <a:endParaRPr kumimoji="1" lang="zh-CN" altLang="en-US"/>
          </a:p>
        </p:txBody>
      </p:sp>
      <p:sp>
        <p:nvSpPr>
          <p:cNvPr id="12" name="标题 1"/>
          <p:cNvSpPr txBox="1"/>
          <p:nvPr/>
        </p:nvSpPr>
        <p:spPr>
          <a:xfrm>
            <a:off x="5694445" y="3656307"/>
            <a:ext cx="5398716" cy="799084"/>
          </a:xfrm>
          <a:prstGeom prst="rect">
            <a:avLst/>
          </a:prstGeom>
          <a:noFill/>
          <a:ln>
            <a:noFill/>
          </a:ln>
        </p:spPr>
        <p:txBody>
          <a:bodyPr vert="horz" wrap="square" lIns="0" tIns="0" rIns="0" bIns="0" rtlCol="0" anchor="t"/>
          <a:lstStyle/>
          <a:p>
            <a:pPr algn="l">
              <a:lnSpc>
                <a:spcPct val="150000"/>
              </a:lnSpc>
            </a:pPr>
            <a:r>
              <a:rPr kumimoji="1" lang="en-US" altLang="zh-CN" sz="840" dirty="0">
                <a:ln w="12700">
                  <a:noFill/>
                </a:ln>
                <a:solidFill>
                  <a:srgbClr val="000000">
                    <a:alpha val="100000"/>
                  </a:srgbClr>
                </a:solidFill>
                <a:latin typeface="Source Han Sans CN Normal"/>
                <a:ea typeface="Source Han Sans CN Normal"/>
                <a:cs typeface="Source Han Sans CN Normal"/>
              </a:rPr>
              <a:t>以VGG16为基础网络，结合注意力机制、残差连接等技术，从多方面构建新模型。注意力机制可以使模型更加关注图像中的关键区域，提高特征提取的效率；残差连接则有助于解决深度神经网络中的梯度消失问题，使模型能够学习到更深层次的特征。
深入剖析模型算法，包括卷积层、池化层、全连接层等的设计和参数调整，以及多特征融合的方式和策略。例如，如何将不同层次的特征进行融合，以充分利用图像的信息。通过实验不断优化模型的构建方案，提高模型的性能。</a:t>
            </a:r>
            <a:endParaRPr kumimoji="1" lang="zh-CN" altLang="en-US" dirty="0"/>
          </a:p>
        </p:txBody>
      </p:sp>
      <p:sp>
        <p:nvSpPr>
          <p:cNvPr id="13" name="标题 1"/>
          <p:cNvSpPr txBox="1"/>
          <p:nvPr/>
        </p:nvSpPr>
        <p:spPr>
          <a:xfrm>
            <a:off x="5531429" y="4657898"/>
            <a:ext cx="5798916" cy="549639"/>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rot="2700000">
            <a:off x="5923907" y="4820771"/>
            <a:ext cx="416690" cy="416690"/>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5694445" y="4697282"/>
            <a:ext cx="5398716" cy="352680"/>
          </a:xfrm>
          <a:prstGeom prst="rect">
            <a:avLst/>
          </a:prstGeom>
          <a:noFill/>
          <a:ln>
            <a:noFill/>
          </a:ln>
        </p:spPr>
        <p:txBody>
          <a:bodyPr vert="horz" wrap="square" lIns="0" tIns="0" rIns="0" bIns="0" rtlCol="0" anchor="b"/>
          <a:lstStyle/>
          <a:p>
            <a:pPr algn="l">
              <a:lnSpc>
                <a:spcPct val="150000"/>
              </a:lnSpc>
            </a:pPr>
            <a:r>
              <a:rPr kumimoji="1" lang="en-US" altLang="zh-CN" sz="1600">
                <a:ln w="12700">
                  <a:noFill/>
                </a:ln>
                <a:solidFill>
                  <a:srgbClr val="FFFFFF">
                    <a:alpha val="100000"/>
                  </a:srgbClr>
                </a:solidFill>
                <a:latin typeface="Source Han Sans CN Bold Bold"/>
                <a:ea typeface="Source Han Sans CN Bold Bold"/>
                <a:cs typeface="Source Han Sans CN Bold Bold"/>
              </a:rPr>
              <a:t>模型实验分析与验证</a:t>
            </a:r>
            <a:endParaRPr kumimoji="1" lang="zh-CN" altLang="en-US"/>
          </a:p>
        </p:txBody>
      </p:sp>
      <p:sp>
        <p:nvSpPr>
          <p:cNvPr id="16" name="标题 1"/>
          <p:cNvSpPr txBox="1"/>
          <p:nvPr/>
        </p:nvSpPr>
        <p:spPr>
          <a:xfrm>
            <a:off x="5694445" y="5335016"/>
            <a:ext cx="5398716" cy="799084"/>
          </a:xfrm>
          <a:prstGeom prst="rect">
            <a:avLst/>
          </a:prstGeom>
          <a:noFill/>
          <a:ln>
            <a:noFill/>
          </a:ln>
        </p:spPr>
        <p:txBody>
          <a:bodyPr vert="horz" wrap="square" lIns="0" tIns="0" rIns="0" bIns="0" rtlCol="0" anchor="t"/>
          <a:lstStyle/>
          <a:p>
            <a:pPr algn="l">
              <a:lnSpc>
                <a:spcPct val="150000"/>
              </a:lnSpc>
            </a:pPr>
            <a:r>
              <a:rPr kumimoji="1" lang="en-US" altLang="zh-CN" sz="653">
                <a:ln w="12700">
                  <a:noFill/>
                </a:ln>
                <a:solidFill>
                  <a:srgbClr val="000000">
                    <a:alpha val="100000"/>
                  </a:srgbClr>
                </a:solidFill>
                <a:latin typeface="Source Han Sans CN Normal"/>
                <a:ea typeface="Source Han Sans CN Normal"/>
                <a:cs typeface="Source Han Sans CN Normal"/>
              </a:rPr>
              <a:t>明确实验评价指标，如准确率、召回率、F1值等，全面评估模型的性能。这些指标可以从不同角度反映模型的分类能力，准确率表示模型预测正确的样本占总样本的比例，召回率表示实际为正样本且被模型正确预测的样本占实际正样本的比例，F1值则是综合考虑准确率和召回率的指标。
规划实验流程，包括数据集的划分、模型的训练、验证和测试等环节。在训练过程中，采用交叉验证的方法，提高实验结果的可靠性。通过实验探究改进模块对模型性能的影响，例如注意力机制、多特征融合等模块对模型准确率、召回率的提升效果。
筛选最佳模型，并与其他相关模型进行对比，验证模型的有效性。通过对比实验，展示所提出模型在眼底视网膜疾病识别中的优势，如更高的准确率、更好的泛化能力等。</a:t>
            </a:r>
            <a:endParaRPr kumimoji="1" lang="zh-CN" altLang="en-US"/>
          </a:p>
        </p:txBody>
      </p:sp>
      <p:sp>
        <p:nvSpPr>
          <p:cNvPr id="17" name="标题 1"/>
          <p:cNvSpPr txBox="1"/>
          <p:nvPr/>
        </p:nvSpPr>
        <p:spPr>
          <a:xfrm>
            <a:off x="847725" y="450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Bold"/>
                <a:ea typeface="Source Han Sans CN Bold Bold"/>
                <a:cs typeface="Source Han Sans CN Bold Bold"/>
              </a:rPr>
              <a:t>主要研究内容</a:t>
            </a:r>
            <a:endParaRPr kumimoji="1" lang="zh-CN" altLang="en-US"/>
          </a:p>
        </p:txBody>
      </p:sp>
      <p:sp>
        <p:nvSpPr>
          <p:cNvPr id="18" name="标题 1"/>
          <p:cNvSpPr txBox="1"/>
          <p:nvPr/>
        </p:nvSpPr>
        <p:spPr>
          <a:xfrm>
            <a:off x="348958" y="502433"/>
            <a:ext cx="387642" cy="38764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271663" y="431800"/>
            <a:ext cx="387642" cy="387642"/>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8871626" cy="6858000"/>
          </a:xfrm>
          <a:custGeom>
            <a:avLst/>
            <a:gdLst>
              <a:gd name="connsiteX0" fmla="*/ 0 w 8871626"/>
              <a:gd name="connsiteY0" fmla="*/ 0 h 6858000"/>
              <a:gd name="connsiteX1" fmla="*/ 6674736 w 8871626"/>
              <a:gd name="connsiteY1" fmla="*/ 0 h 6858000"/>
              <a:gd name="connsiteX2" fmla="*/ 6730884 w 8871626"/>
              <a:gd name="connsiteY2" fmla="*/ 25301 h 6858000"/>
              <a:gd name="connsiteX3" fmla="*/ 8871626 w 8871626"/>
              <a:gd name="connsiteY3" fmla="*/ 3495454 h 6858000"/>
              <a:gd name="connsiteX4" fmla="*/ 7016421 w 8871626"/>
              <a:gd name="connsiteY4" fmla="*/ 6807477 h 6858000"/>
              <a:gd name="connsiteX5" fmla="*/ 6928992 w 8871626"/>
              <a:gd name="connsiteY5" fmla="*/ 6858000 h 6858000"/>
              <a:gd name="connsiteX6" fmla="*/ 0 w 8871626"/>
              <a:gd name="connsiteY6" fmla="*/ 6858000 h 6858000"/>
            </a:gdLst>
            <a:ahLst/>
            <a:cxnLst/>
            <a:rect l="l" t="t" r="r" b="b"/>
            <a:pathLst>
              <a:path w="8871626" h="6858000">
                <a:moveTo>
                  <a:pt x="0" y="0"/>
                </a:moveTo>
                <a:lnTo>
                  <a:pt x="6674736" y="0"/>
                </a:lnTo>
                <a:lnTo>
                  <a:pt x="6730884" y="25301"/>
                </a:lnTo>
                <a:cubicBezTo>
                  <a:pt x="7999672" y="658995"/>
                  <a:pt x="8871626" y="1974884"/>
                  <a:pt x="8871626" y="3495454"/>
                </a:cubicBezTo>
                <a:cubicBezTo>
                  <a:pt x="8871626" y="4899057"/>
                  <a:pt x="8128660" y="6128257"/>
                  <a:pt x="7016421" y="6807477"/>
                </a:cubicBezTo>
                <a:lnTo>
                  <a:pt x="6928992" y="6858000"/>
                </a:lnTo>
                <a:lnTo>
                  <a:pt x="0" y="6858000"/>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871626" y="0"/>
            <a:ext cx="3320374" cy="6858000"/>
          </a:xfrm>
          <a:custGeom>
            <a:avLst/>
            <a:gdLst>
              <a:gd name="connsiteX0" fmla="*/ 2872902 w 3457103"/>
              <a:gd name="connsiteY0" fmla="*/ 0 h 6858000"/>
              <a:gd name="connsiteX1" fmla="*/ 3457103 w 3457103"/>
              <a:gd name="connsiteY1" fmla="*/ 0 h 6858000"/>
              <a:gd name="connsiteX2" fmla="*/ 3457103 w 3457103"/>
              <a:gd name="connsiteY2" fmla="*/ 6858000 h 6858000"/>
              <a:gd name="connsiteX3" fmla="*/ 2872902 w 3457103"/>
              <a:gd name="connsiteY3" fmla="*/ 6858000 h 6858000"/>
              <a:gd name="connsiteX4" fmla="*/ 2661424 w 3457103"/>
              <a:gd name="connsiteY4" fmla="*/ 6858000 h 6858000"/>
              <a:gd name="connsiteX5" fmla="*/ 2524483 w 3457103"/>
              <a:gd name="connsiteY5" fmla="*/ 6853539 h 6858000"/>
              <a:gd name="connsiteX6" fmla="*/ 0 w 3457103"/>
              <a:gd name="connsiteY6" fmla="*/ 3429001 h 6858000"/>
              <a:gd name="connsiteX7" fmla="*/ 2661439 w 3457103"/>
              <a:gd name="connsiteY7" fmla="*/ 1 h 6858000"/>
              <a:gd name="connsiteX8" fmla="*/ 2872902 w 3457103"/>
              <a:gd name="connsiteY8" fmla="*/ 1 h 6858000"/>
            </a:gdLst>
            <a:ahLst/>
            <a:cxnLst/>
            <a:rect l="l" t="t" r="r" b="b"/>
            <a:pathLst>
              <a:path w="3457103" h="6858000">
                <a:moveTo>
                  <a:pt x="2872902" y="0"/>
                </a:moveTo>
                <a:lnTo>
                  <a:pt x="3457103" y="0"/>
                </a:lnTo>
                <a:lnTo>
                  <a:pt x="3457103" y="6858000"/>
                </a:lnTo>
                <a:lnTo>
                  <a:pt x="2872902" y="6858000"/>
                </a:lnTo>
                <a:lnTo>
                  <a:pt x="2661424" y="6858000"/>
                </a:lnTo>
                <a:lnTo>
                  <a:pt x="2524483" y="6853539"/>
                </a:lnTo>
                <a:cubicBezTo>
                  <a:pt x="1118259" y="6761700"/>
                  <a:pt x="0" y="5263604"/>
                  <a:pt x="0" y="3429001"/>
                </a:cubicBezTo>
                <a:cubicBezTo>
                  <a:pt x="-1" y="1535217"/>
                  <a:pt x="1191567" y="1"/>
                  <a:pt x="2661439" y="1"/>
                </a:cubicBezTo>
                <a:lnTo>
                  <a:pt x="2872902" y="1"/>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489979" y="527998"/>
            <a:ext cx="11214100" cy="5829300"/>
          </a:xfrm>
          <a:prstGeom prst="rect">
            <a:avLst/>
          </a:prstGeom>
          <a:solidFill>
            <a:schemeClr val="bg1"/>
          </a:solidFill>
          <a:ln w="9525" cap="sq">
            <a:solidFill>
              <a:schemeClr val="accent1">
                <a:lumMod val="60000"/>
                <a:lumOff val="40000"/>
                <a:alpha val="100000"/>
              </a:schemeClr>
            </a:solidFill>
            <a:miter/>
          </a:ln>
          <a:effectLst>
            <a:outerShdw blurRad="63500" sx="101000" sy="101000" algn="ctr" rotWithShape="0">
              <a:schemeClr val="accent1">
                <a:lumMod val="60000"/>
                <a:lumOff val="40000"/>
                <a:alpha val="40000"/>
              </a:schemeClr>
            </a:outerShdw>
          </a:effectLst>
        </p:spPr>
        <p:txBody>
          <a:bodyPr vert="horz" wrap="square" lIns="91440" tIns="45720" rIns="91440" bIns="45720" rtlCol="0" anchor="ctr"/>
          <a:lstStyle/>
          <a:p>
            <a:pPr algn="ctr">
              <a:lnSpc>
                <a:spcPct val="110000"/>
              </a:lnSpc>
            </a:pPr>
            <a:endParaRPr kumimoji="1" lang="zh-CN" altLang="en-US"/>
          </a:p>
        </p:txBody>
      </p:sp>
      <p:pic>
        <p:nvPicPr>
          <p:cNvPr id="12" name="图片 11" descr="电子设备的屏幕截图&#10;&#10;AI 生成的内容可能不正确。">
            <a:extLst>
              <a:ext uri="{FF2B5EF4-FFF2-40B4-BE49-F238E27FC236}">
                <a16:creationId xmlns:a16="http://schemas.microsoft.com/office/drawing/2014/main" id="{7D63C782-798F-ED47-A3C5-8D72BA90B667}"/>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5176887" y="577662"/>
            <a:ext cx="6494651" cy="2942052"/>
          </a:xfrm>
          <a:prstGeom prst="rect">
            <a:avLst/>
          </a:prstGeom>
        </p:spPr>
      </p:pic>
      <p:sp>
        <p:nvSpPr>
          <p:cNvPr id="5" name="标题 1"/>
          <p:cNvSpPr txBox="1"/>
          <p:nvPr/>
        </p:nvSpPr>
        <p:spPr>
          <a:xfrm flipH="1">
            <a:off x="487921" y="514350"/>
            <a:ext cx="5218612" cy="5829300"/>
          </a:xfrm>
          <a:custGeom>
            <a:avLst/>
            <a:gdLst>
              <a:gd name="connsiteX0" fmla="*/ 140769 w 4989228"/>
              <a:gd name="connsiteY0" fmla="*/ 0 h 5829300"/>
              <a:gd name="connsiteX1" fmla="*/ 4989228 w 4989228"/>
              <a:gd name="connsiteY1" fmla="*/ 0 h 5829300"/>
              <a:gd name="connsiteX2" fmla="*/ 4989228 w 4989228"/>
              <a:gd name="connsiteY2" fmla="*/ 5829300 h 5829300"/>
              <a:gd name="connsiteX3" fmla="*/ 140769 w 4989228"/>
              <a:gd name="connsiteY3" fmla="*/ 5829300 h 5829300"/>
              <a:gd name="connsiteX4" fmla="*/ 140769 w 4989228"/>
              <a:gd name="connsiteY4" fmla="*/ 0 h 5829300"/>
            </a:gdLst>
            <a:ahLst/>
            <a:cxnLst/>
            <a:rect l="l" t="t" r="r" b="b"/>
            <a:pathLst>
              <a:path w="4989228" h="5829300">
                <a:moveTo>
                  <a:pt x="140769" y="0"/>
                </a:moveTo>
                <a:lnTo>
                  <a:pt x="4989228" y="0"/>
                </a:lnTo>
                <a:lnTo>
                  <a:pt x="4989228" y="5829300"/>
                </a:lnTo>
                <a:lnTo>
                  <a:pt x="140769" y="5829300"/>
                </a:lnTo>
                <a:cubicBezTo>
                  <a:pt x="-417228" y="3973986"/>
                  <a:pt x="916940" y="2135159"/>
                  <a:pt x="140769" y="0"/>
                </a:cubicBezTo>
                <a:close/>
              </a:path>
            </a:pathLst>
          </a:custGeom>
          <a:solidFill>
            <a:schemeClr val="accent1">
              <a:lumMod val="40000"/>
              <a:lumOff val="60000"/>
              <a:alpha val="58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6083212" y="2208350"/>
            <a:ext cx="1485150" cy="2468596"/>
          </a:xfrm>
          <a:prstGeom prst="rect">
            <a:avLst/>
          </a:prstGeom>
          <a:noFill/>
          <a:ln>
            <a:noFill/>
          </a:ln>
          <a:effectLst/>
        </p:spPr>
        <p:txBody>
          <a:bodyPr vert="horz" wrap="square" lIns="0" tIns="0" rIns="0" bIns="0" rtlCol="0" anchor="b"/>
          <a:lstStyle/>
          <a:p>
            <a:pPr algn="r">
              <a:lnSpc>
                <a:spcPct val="110000"/>
              </a:lnSpc>
            </a:pPr>
            <a:r>
              <a:rPr kumimoji="1" lang="en-US" altLang="zh-CN" sz="7200" b="1" dirty="0">
                <a:ln w="12700">
                  <a:noFill/>
                </a:ln>
                <a:solidFill>
                  <a:srgbClr val="316826">
                    <a:alpha val="100000"/>
                  </a:srgbClr>
                </a:solidFill>
                <a:latin typeface="Source Han Sans CN Bold Bold"/>
                <a:ea typeface="Source Han Sans CN Bold Bold"/>
                <a:cs typeface="Source Han Sans CN Bold Bold"/>
              </a:rPr>
              <a:t>02</a:t>
            </a:r>
            <a:endParaRPr kumimoji="1" lang="zh-CN" altLang="en-US" b="1" dirty="0"/>
          </a:p>
        </p:txBody>
      </p:sp>
      <p:sp>
        <p:nvSpPr>
          <p:cNvPr id="8" name="标题 1"/>
          <p:cNvSpPr txBox="1"/>
          <p:nvPr/>
        </p:nvSpPr>
        <p:spPr>
          <a:xfrm>
            <a:off x="6108789" y="4664355"/>
            <a:ext cx="5143411" cy="152643"/>
          </a:xfrm>
          <a:custGeom>
            <a:avLst/>
            <a:gdLst>
              <a:gd name="connsiteX0" fmla="*/ 4821290 w 5017703"/>
              <a:gd name="connsiteY0" fmla="*/ 0 h 132727"/>
              <a:gd name="connsiteX1" fmla="*/ 4900540 w 5017703"/>
              <a:gd name="connsiteY1" fmla="*/ 0 h 132727"/>
              <a:gd name="connsiteX2" fmla="*/ 5017703 w 5017703"/>
              <a:gd name="connsiteY2" fmla="*/ 66364 h 132727"/>
              <a:gd name="connsiteX3" fmla="*/ 4900540 w 5017703"/>
              <a:gd name="connsiteY3" fmla="*/ 132727 h 132727"/>
              <a:gd name="connsiteX4" fmla="*/ 4821290 w 5017703"/>
              <a:gd name="connsiteY4" fmla="*/ 132727 h 132727"/>
              <a:gd name="connsiteX5" fmla="*/ 4882184 w 5017703"/>
              <a:gd name="connsiteY5" fmla="*/ 98236 h 132727"/>
              <a:gd name="connsiteX6" fmla="*/ 31873 w 5017703"/>
              <a:gd name="connsiteY6" fmla="*/ 98236 h 132727"/>
              <a:gd name="connsiteX7" fmla="*/ 0 w 5017703"/>
              <a:gd name="connsiteY7" fmla="*/ 66363 h 132727"/>
              <a:gd name="connsiteX8" fmla="*/ 31873 w 5017703"/>
              <a:gd name="connsiteY8" fmla="*/ 34490 h 132727"/>
              <a:gd name="connsiteX9" fmla="*/ 4882181 w 5017703"/>
              <a:gd name="connsiteY9" fmla="*/ 34490 h 132727"/>
            </a:gdLst>
            <a:ahLst/>
            <a:cxnLst/>
            <a:rect l="l" t="t" r="r" b="b"/>
            <a:pathLst>
              <a:path w="5017703" h="132727">
                <a:moveTo>
                  <a:pt x="4821290" y="0"/>
                </a:moveTo>
                <a:lnTo>
                  <a:pt x="4900540" y="0"/>
                </a:lnTo>
                <a:lnTo>
                  <a:pt x="5017703" y="66364"/>
                </a:lnTo>
                <a:lnTo>
                  <a:pt x="4900540" y="132727"/>
                </a:lnTo>
                <a:lnTo>
                  <a:pt x="4821290" y="132727"/>
                </a:lnTo>
                <a:lnTo>
                  <a:pt x="4882184" y="98236"/>
                </a:lnTo>
                <a:lnTo>
                  <a:pt x="31873" y="98236"/>
                </a:lnTo>
                <a:cubicBezTo>
                  <a:pt x="14270" y="98236"/>
                  <a:pt x="0" y="83966"/>
                  <a:pt x="0" y="66363"/>
                </a:cubicBezTo>
                <a:cubicBezTo>
                  <a:pt x="0" y="48760"/>
                  <a:pt x="14270" y="34490"/>
                  <a:pt x="31873" y="34490"/>
                </a:cubicBezTo>
                <a:lnTo>
                  <a:pt x="4882181" y="34490"/>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6096000" y="4308185"/>
            <a:ext cx="4791826" cy="1532544"/>
          </a:xfrm>
          <a:prstGeom prst="rect">
            <a:avLst/>
          </a:prstGeom>
          <a:noFill/>
          <a:ln>
            <a:noFill/>
          </a:ln>
          <a:effectLst/>
        </p:spPr>
        <p:txBody>
          <a:bodyPr vert="horz" wrap="square" lIns="0" tIns="0" rIns="0" bIns="0" rtlCol="0" anchor="ctr"/>
          <a:lstStyle/>
          <a:p>
            <a:pPr algn="l">
              <a:lnSpc>
                <a:spcPct val="130000"/>
              </a:lnSpc>
            </a:pPr>
            <a:r>
              <a:rPr kumimoji="1" lang="en-US" altLang="zh-CN" sz="4000" dirty="0" err="1">
                <a:ln w="12700">
                  <a:noFill/>
                </a:ln>
                <a:solidFill>
                  <a:srgbClr val="0451C5">
                    <a:alpha val="100000"/>
                  </a:srgbClr>
                </a:solidFill>
                <a:latin typeface="Source Han Sans CN Bold Bold"/>
                <a:ea typeface="Source Han Sans CN Bold Bold"/>
                <a:cs typeface="Source Han Sans CN Bold Bold"/>
              </a:rPr>
              <a:t>需求分析</a:t>
            </a:r>
            <a:endParaRPr kumimoji="1" lang="zh-CN" altLang="en-US" dirty="0"/>
          </a:p>
        </p:txBody>
      </p:sp>
      <p:pic>
        <p:nvPicPr>
          <p:cNvPr id="10" name="图片 9"/>
          <p:cNvPicPr>
            <a:picLocks noChangeAspect="1"/>
          </p:cNvPicPr>
          <p:nvPr/>
        </p:nvPicPr>
        <p:blipFill>
          <a:blip r:embed="rId4">
            <a:extLst>
              <a:ext uri="{28A0092B-C50C-407E-A947-70E740481C1C}">
                <a14:useLocalDpi xmlns:a14="http://schemas.microsoft.com/office/drawing/2010/main" val="0"/>
              </a:ext>
            </a:extLst>
          </a:blip>
          <a:srcRect l="7149" t="3360" r="7502" b="3898"/>
          <a:stretch/>
        </p:blipFill>
        <p:spPr>
          <a:xfrm>
            <a:off x="727646" y="591310"/>
            <a:ext cx="4469714" cy="5738692"/>
          </a:xfrm>
          <a:prstGeom prst="rect">
            <a:avLst/>
          </a:prstGeom>
          <a:noFill/>
          <a:ln>
            <a:noFill/>
          </a:ln>
        </p:spPr>
      </p:pic>
      <p:sp>
        <p:nvSpPr>
          <p:cNvPr id="14" name="标题 1">
            <a:extLst>
              <a:ext uri="{FF2B5EF4-FFF2-40B4-BE49-F238E27FC236}">
                <a16:creationId xmlns:a16="http://schemas.microsoft.com/office/drawing/2014/main" id="{738126C2-9972-2CE7-7879-144DAAD52FD4}"/>
              </a:ext>
            </a:extLst>
          </p:cNvPr>
          <p:cNvSpPr txBox="1"/>
          <p:nvPr/>
        </p:nvSpPr>
        <p:spPr>
          <a:xfrm>
            <a:off x="7536679" y="3733263"/>
            <a:ext cx="1710232" cy="913787"/>
          </a:xfrm>
          <a:prstGeom prst="rect">
            <a:avLst/>
          </a:prstGeom>
          <a:noFill/>
          <a:ln>
            <a:noFill/>
          </a:ln>
        </p:spPr>
        <p:txBody>
          <a:bodyPr vert="horz" wrap="square" lIns="0" tIns="0" rIns="0" bIns="0" rtlCol="0" anchor="b"/>
          <a:lstStyle/>
          <a:p>
            <a:pPr algn="l">
              <a:lnSpc>
                <a:spcPct val="110000"/>
              </a:lnSpc>
            </a:pPr>
            <a:r>
              <a:rPr kumimoji="1" lang="en-US" altLang="zh-CN" sz="4800" b="1" dirty="0">
                <a:ln w="15875">
                  <a:solidFill>
                    <a:srgbClr val="428A33">
                      <a:alpha val="100000"/>
                    </a:srgbClr>
                  </a:solidFill>
                </a:ln>
                <a:noFill/>
                <a:latin typeface="Source Han Sans CN Bold Bold"/>
                <a:ea typeface="Source Han Sans CN Bold Bold"/>
                <a:cs typeface="Source Han Sans CN Bold Bold"/>
              </a:rPr>
              <a:t>PART</a:t>
            </a:r>
            <a:endParaRPr kumimoji="1" lang="zh-CN" altLang="en-US"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a:spLocks/>
          </p:cNvSpPr>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dirty="0"/>
          </a:p>
        </p:txBody>
      </p:sp>
      <p:sp>
        <p:nvSpPr>
          <p:cNvPr id="3" name="标题 1"/>
          <p:cNvSpPr txBox="1"/>
          <p:nvPr/>
        </p:nvSpPr>
        <p:spPr>
          <a:xfrm>
            <a:off x="729612" y="2037592"/>
            <a:ext cx="2877216" cy="2926579"/>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dirty="0"/>
          </a:p>
        </p:txBody>
      </p:sp>
      <p:sp>
        <p:nvSpPr>
          <p:cNvPr id="4" name="标题 1"/>
          <p:cNvSpPr txBox="1"/>
          <p:nvPr/>
        </p:nvSpPr>
        <p:spPr>
          <a:xfrm flipH="1">
            <a:off x="673101" y="1957136"/>
            <a:ext cx="5092970" cy="3288631"/>
          </a:xfrm>
          <a:prstGeom prst="snip1Rect">
            <a:avLst>
              <a:gd name="adj" fmla="val 5000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978826" y="3430482"/>
            <a:ext cx="4618920" cy="1614145"/>
          </a:xfrm>
          <a:prstGeom prst="rect">
            <a:avLst/>
          </a:prstGeom>
          <a:noFill/>
          <a:ln cap="sq">
            <a:noFill/>
          </a:ln>
        </p:spPr>
        <p:txBody>
          <a:bodyPr vert="horz" wrap="square" lIns="0" tIns="0" rIns="0" bIns="0" rtlCol="0" anchor="t"/>
          <a:lstStyle/>
          <a:p>
            <a:pPr algn="r">
              <a:lnSpc>
                <a:spcPct val="150000"/>
              </a:lnSpc>
            </a:pPr>
            <a:r>
              <a:rPr kumimoji="1" lang="en-US" altLang="zh-CN" sz="1208" dirty="0">
                <a:ln w="12700">
                  <a:noFill/>
                </a:ln>
                <a:solidFill>
                  <a:srgbClr val="262626">
                    <a:alpha val="100000"/>
                  </a:srgbClr>
                </a:solidFill>
                <a:latin typeface="Source Han Sans CN Normal"/>
                <a:ea typeface="Source Han Sans CN Normal"/>
                <a:cs typeface="Source Han Sans CN Normal"/>
              </a:rPr>
              <a:t>随着社会的发展，医疗资源分布不均的问题日益凸显，尤其是在眼科领域。同时，人口老龄化进程加快，眼部疾病的发病率呈上升趋势，传统的人工阅片方式难以满足海量眼底影像的判读需求。例如，在一些基层医疗机构，由于缺乏专业的眼科医生，大量的眼底影像无法得到及时、准确的诊断。因此，迫切需要智能化的手段来提升诊断效率与一致性，实现对眼疾的快速、准确筛查和诊断。</a:t>
            </a:r>
            <a:endParaRPr kumimoji="1" lang="zh-CN" altLang="en-US" dirty="0"/>
          </a:p>
        </p:txBody>
      </p:sp>
      <p:sp>
        <p:nvSpPr>
          <p:cNvPr id="6" name="标题 1"/>
          <p:cNvSpPr txBox="1"/>
          <p:nvPr/>
        </p:nvSpPr>
        <p:spPr>
          <a:xfrm>
            <a:off x="1949116" y="2229853"/>
            <a:ext cx="3648628" cy="811128"/>
          </a:xfrm>
          <a:prstGeom prst="rect">
            <a:avLst/>
          </a:prstGeom>
          <a:noFill/>
          <a:ln cap="sq">
            <a:noFill/>
          </a:ln>
        </p:spPr>
        <p:txBody>
          <a:bodyPr vert="horz" wrap="square" lIns="0" tIns="0" rIns="0" bIns="0" rtlCol="0" anchor="ctr"/>
          <a:lstStyle/>
          <a:p>
            <a:pPr algn="r">
              <a:lnSpc>
                <a:spcPct val="130000"/>
              </a:lnSpc>
            </a:pPr>
            <a:r>
              <a:rPr kumimoji="1" lang="en-US" altLang="zh-CN" sz="1600" dirty="0" err="1">
                <a:ln w="12700">
                  <a:noFill/>
                </a:ln>
                <a:solidFill>
                  <a:srgbClr val="0451C5">
                    <a:alpha val="100000"/>
                  </a:srgbClr>
                </a:solidFill>
                <a:latin typeface="Source Han Sans CN Bold Bold"/>
                <a:ea typeface="Source Han Sans CN Bold Bold"/>
                <a:cs typeface="Source Han Sans CN Bold Bold"/>
              </a:rPr>
              <a:t>需求驱动因素</a:t>
            </a:r>
            <a:endParaRPr kumimoji="1" lang="zh-CN" altLang="en-US" dirty="0"/>
          </a:p>
        </p:txBody>
      </p:sp>
      <p:sp>
        <p:nvSpPr>
          <p:cNvPr id="7" name="标题 1"/>
          <p:cNvSpPr txBox="1"/>
          <p:nvPr/>
        </p:nvSpPr>
        <p:spPr>
          <a:xfrm>
            <a:off x="1019025" y="2310647"/>
            <a:ext cx="417609" cy="374542"/>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cxnSp>
        <p:nvCxnSpPr>
          <p:cNvPr id="8" name="标题 1"/>
          <p:cNvCxnSpPr/>
          <p:nvPr/>
        </p:nvCxnSpPr>
        <p:spPr>
          <a:xfrm flipH="1">
            <a:off x="1590679" y="3121437"/>
            <a:ext cx="4007067" cy="0"/>
          </a:xfrm>
          <a:prstGeom prst="line">
            <a:avLst/>
          </a:prstGeom>
          <a:noFill/>
          <a:ln w="12700" cap="sq">
            <a:solidFill>
              <a:schemeClr val="accent1"/>
            </a:solidFill>
            <a:miter/>
          </a:ln>
        </p:spPr>
      </p:cxnSp>
      <p:sp>
        <p:nvSpPr>
          <p:cNvPr id="9" name="标题 1"/>
          <p:cNvSpPr txBox="1"/>
          <p:nvPr/>
        </p:nvSpPr>
        <p:spPr>
          <a:xfrm>
            <a:off x="1565279" y="3098065"/>
            <a:ext cx="868449" cy="46745"/>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6495142" y="2037592"/>
            <a:ext cx="2877216" cy="2926579"/>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dirty="0"/>
          </a:p>
        </p:txBody>
      </p:sp>
      <p:sp>
        <p:nvSpPr>
          <p:cNvPr id="11" name="标题 1"/>
          <p:cNvSpPr txBox="1"/>
          <p:nvPr/>
        </p:nvSpPr>
        <p:spPr>
          <a:xfrm flipH="1">
            <a:off x="6425930" y="1957136"/>
            <a:ext cx="5092970" cy="3288631"/>
          </a:xfrm>
          <a:prstGeom prst="snip1Rect">
            <a:avLst>
              <a:gd name="adj" fmla="val 5000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6744354" y="3310729"/>
            <a:ext cx="4618920" cy="1614145"/>
          </a:xfrm>
          <a:prstGeom prst="rect">
            <a:avLst/>
          </a:prstGeom>
          <a:noFill/>
          <a:ln cap="sq">
            <a:noFill/>
          </a:ln>
        </p:spPr>
        <p:txBody>
          <a:bodyPr vert="horz" wrap="square" lIns="0" tIns="0" rIns="0" bIns="0" rtlCol="0" anchor="t"/>
          <a:lstStyle/>
          <a:p>
            <a:pPr algn="just">
              <a:lnSpc>
                <a:spcPct val="150000"/>
              </a:lnSpc>
            </a:pPr>
            <a:r>
              <a:rPr kumimoji="1" lang="en-US" altLang="zh-CN" sz="1010" dirty="0" err="1">
                <a:ln w="12700">
                  <a:noFill/>
                </a:ln>
                <a:solidFill>
                  <a:srgbClr val="262626">
                    <a:alpha val="100000"/>
                  </a:srgbClr>
                </a:solidFill>
                <a:latin typeface="Source Han Sans CN Normal"/>
                <a:ea typeface="Source Han Sans CN Normal"/>
                <a:cs typeface="Source Han Sans CN Normal"/>
              </a:rPr>
              <a:t>系统应具备常见眼科疾病的自动化识别能力，能够快速、准确地判断出患者是否患有眼疾以及患有的具体疾病类型</a:t>
            </a:r>
            <a:r>
              <a:rPr kumimoji="1" lang="en-US" altLang="zh-CN" sz="1010" dirty="0">
                <a:ln w="12700">
                  <a:noFill/>
                </a:ln>
                <a:solidFill>
                  <a:srgbClr val="262626">
                    <a:alpha val="100000"/>
                  </a:srgbClr>
                </a:solidFill>
                <a:latin typeface="Source Han Sans CN Normal"/>
                <a:ea typeface="Source Han Sans CN Normal"/>
                <a:cs typeface="Source Han Sans CN Normal"/>
              </a:rPr>
              <a:t>。
解决双目影像协同分析问题，充分利用左右眼图像的信息，提高诊断的准确性。例如，通过对双目眼底影像的对比分析，可以发现一些单眼影像难以察觉的病变。
</a:t>
            </a:r>
            <a:r>
              <a:rPr kumimoji="1" lang="en-US" altLang="zh-CN" sz="1010" dirty="0" err="1">
                <a:ln w="12700">
                  <a:noFill/>
                </a:ln>
                <a:solidFill>
                  <a:srgbClr val="262626">
                    <a:alpha val="100000"/>
                  </a:srgbClr>
                </a:solidFill>
                <a:latin typeface="Source Han Sans CN Normal"/>
                <a:ea typeface="Source Han Sans CN Normal"/>
                <a:cs typeface="Source Han Sans CN Normal"/>
              </a:rPr>
              <a:t>实现病理特征的动态捕捉，能够实时跟踪病变的发展变化，为医生提供更全面的病情信息</a:t>
            </a:r>
            <a:r>
              <a:rPr kumimoji="1" lang="en-US" altLang="zh-CN" sz="1010" dirty="0">
                <a:ln w="12700">
                  <a:noFill/>
                </a:ln>
                <a:solidFill>
                  <a:srgbClr val="262626">
                    <a:alpha val="100000"/>
                  </a:srgbClr>
                </a:solidFill>
                <a:latin typeface="Source Han Sans CN Normal"/>
                <a:ea typeface="Source Han Sans CN Normal"/>
                <a:cs typeface="Source Han Sans CN Normal"/>
              </a:rPr>
              <a:t>。
</a:t>
            </a:r>
            <a:r>
              <a:rPr kumimoji="1" lang="en-US" altLang="zh-CN" sz="1010" dirty="0" err="1">
                <a:ln w="12700">
                  <a:noFill/>
                </a:ln>
                <a:solidFill>
                  <a:srgbClr val="262626">
                    <a:alpha val="100000"/>
                  </a:srgbClr>
                </a:solidFill>
                <a:latin typeface="Source Han Sans CN Normal"/>
                <a:ea typeface="Source Han Sans CN Normal"/>
                <a:cs typeface="Source Han Sans CN Normal"/>
              </a:rPr>
              <a:t>为不同医疗机构，包括基层医疗机构、综合医院、健康管理机构等，提供个性化的辅助支持，满足不同场景下的诊断需求</a:t>
            </a:r>
            <a:r>
              <a:rPr kumimoji="1" lang="en-US" altLang="zh-CN" sz="1010" dirty="0">
                <a:ln w="12700">
                  <a:noFill/>
                </a:ln>
                <a:solidFill>
                  <a:srgbClr val="262626">
                    <a:alpha val="100000"/>
                  </a:srgbClr>
                </a:solidFill>
                <a:latin typeface="Source Han Sans CN Normal"/>
                <a:ea typeface="Source Han Sans CN Normal"/>
                <a:cs typeface="Source Han Sans CN Normal"/>
              </a:rPr>
              <a:t>。</a:t>
            </a:r>
            <a:endParaRPr kumimoji="1" lang="zh-CN" altLang="en-US" dirty="0"/>
          </a:p>
        </p:txBody>
      </p:sp>
      <p:sp>
        <p:nvSpPr>
          <p:cNvPr id="13" name="标题 1"/>
          <p:cNvSpPr txBox="1"/>
          <p:nvPr/>
        </p:nvSpPr>
        <p:spPr>
          <a:xfrm>
            <a:off x="7714646" y="2229853"/>
            <a:ext cx="3648628" cy="811128"/>
          </a:xfrm>
          <a:prstGeom prst="rect">
            <a:avLst/>
          </a:prstGeom>
          <a:noFill/>
          <a:ln cap="sq">
            <a:noFill/>
          </a:ln>
        </p:spPr>
        <p:txBody>
          <a:bodyPr vert="horz" wrap="square" lIns="0" tIns="0" rIns="0" bIns="0" rtlCol="0" anchor="ctr"/>
          <a:lstStyle/>
          <a:p>
            <a:pPr algn="r">
              <a:lnSpc>
                <a:spcPct val="130000"/>
              </a:lnSpc>
            </a:pPr>
            <a:r>
              <a:rPr kumimoji="1" lang="en-US" altLang="zh-CN" sz="1600">
                <a:ln w="12700">
                  <a:noFill/>
                </a:ln>
                <a:solidFill>
                  <a:srgbClr val="0451C5">
                    <a:alpha val="100000"/>
                  </a:srgbClr>
                </a:solidFill>
                <a:latin typeface="Source Han Sans CN Bold Bold"/>
                <a:ea typeface="Source Han Sans CN Bold Bold"/>
                <a:cs typeface="Source Han Sans CN Bold Bold"/>
              </a:rPr>
              <a:t>系统关键需求</a:t>
            </a:r>
            <a:endParaRPr kumimoji="1" lang="zh-CN" altLang="en-US"/>
          </a:p>
        </p:txBody>
      </p:sp>
      <p:sp>
        <p:nvSpPr>
          <p:cNvPr id="14" name="标题 1"/>
          <p:cNvSpPr txBox="1"/>
          <p:nvPr/>
        </p:nvSpPr>
        <p:spPr>
          <a:xfrm>
            <a:off x="6784555" y="2289113"/>
            <a:ext cx="417609" cy="417609"/>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cxnSp>
        <p:nvCxnSpPr>
          <p:cNvPr id="15" name="标题 1"/>
          <p:cNvCxnSpPr/>
          <p:nvPr/>
        </p:nvCxnSpPr>
        <p:spPr>
          <a:xfrm flipH="1">
            <a:off x="7356209" y="3121437"/>
            <a:ext cx="4007067" cy="0"/>
          </a:xfrm>
          <a:prstGeom prst="line">
            <a:avLst/>
          </a:prstGeom>
          <a:noFill/>
          <a:ln w="12700" cap="sq">
            <a:solidFill>
              <a:schemeClr val="accent1"/>
            </a:solidFill>
            <a:miter/>
          </a:ln>
        </p:spPr>
      </p:cxnSp>
      <p:sp>
        <p:nvSpPr>
          <p:cNvPr id="16" name="标题 1"/>
          <p:cNvSpPr txBox="1"/>
          <p:nvPr/>
        </p:nvSpPr>
        <p:spPr>
          <a:xfrm>
            <a:off x="7330809" y="3098065"/>
            <a:ext cx="868449" cy="46745"/>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847725" y="450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Bold"/>
                <a:ea typeface="Source Han Sans CN Bold Bold"/>
                <a:cs typeface="Source Han Sans CN Bold Bold"/>
              </a:rPr>
              <a:t>需求概述</a:t>
            </a:r>
            <a:endParaRPr kumimoji="1" lang="zh-CN" altLang="en-US"/>
          </a:p>
        </p:txBody>
      </p:sp>
      <p:sp>
        <p:nvSpPr>
          <p:cNvPr id="18" name="标题 1"/>
          <p:cNvSpPr txBox="1"/>
          <p:nvPr/>
        </p:nvSpPr>
        <p:spPr>
          <a:xfrm>
            <a:off x="348958" y="502433"/>
            <a:ext cx="387642" cy="38764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271663" y="431800"/>
            <a:ext cx="387642" cy="387642"/>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dirty="0"/>
          </a:p>
        </p:txBody>
      </p:sp>
      <p:pic>
        <p:nvPicPr>
          <p:cNvPr id="19" name="图片 18" descr="IMG_260">
            <a:extLst>
              <a:ext uri="{FF2B5EF4-FFF2-40B4-BE49-F238E27FC236}">
                <a16:creationId xmlns:a16="http://schemas.microsoft.com/office/drawing/2014/main" id="{734FB585-5AFB-FD4A-AF03-73BF076D24A8}"/>
              </a:ext>
            </a:extLst>
          </p:cNvPr>
          <p:cNvPicPr>
            <a:picLocks noChangeAspect="1"/>
          </p:cNvPicPr>
          <p:nvPr/>
        </p:nvPicPr>
        <p:blipFill>
          <a:blip r:embed="rId3"/>
          <a:stretch>
            <a:fillRect/>
          </a:stretch>
        </p:blipFill>
        <p:spPr>
          <a:xfrm>
            <a:off x="-19959" y="1076751"/>
            <a:ext cx="5271770" cy="3187700"/>
          </a:xfrm>
          <a:prstGeom prst="rect">
            <a:avLst/>
          </a:prstGeom>
          <a:noFill/>
          <a:ln w="9525">
            <a:noFill/>
          </a:ln>
        </p:spPr>
      </p:pic>
      <p:sp>
        <p:nvSpPr>
          <p:cNvPr id="3" name="标题 1"/>
          <p:cNvSpPr txBox="1"/>
          <p:nvPr/>
        </p:nvSpPr>
        <p:spPr>
          <a:xfrm rot="5400000">
            <a:off x="1497051" y="3749582"/>
            <a:ext cx="1812456" cy="3399515"/>
          </a:xfrm>
          <a:prstGeom prst="roundRect">
            <a:avLst>
              <a:gd name="adj" fmla="val 10964"/>
            </a:avLst>
          </a:prstGeom>
          <a:solidFill>
            <a:schemeClr val="accent1">
              <a:lumMod val="20000"/>
              <a:lumOff val="80000"/>
              <a:alpha val="62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5429278" y="1297941"/>
            <a:ext cx="6742763" cy="340432"/>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262626">
                    <a:alpha val="100000"/>
                  </a:srgbClr>
                </a:solidFill>
                <a:latin typeface="Source Han Sans CN Bold Bold"/>
                <a:ea typeface="Source Han Sans CN Bold Bold"/>
                <a:cs typeface="Source Han Sans CN Bold Bold"/>
              </a:rPr>
              <a:t>影像处理链路</a:t>
            </a:r>
            <a:endParaRPr kumimoji="1" lang="zh-CN" altLang="en-US"/>
          </a:p>
        </p:txBody>
      </p:sp>
      <p:sp>
        <p:nvSpPr>
          <p:cNvPr id="5" name="标题 1"/>
          <p:cNvSpPr txBox="1"/>
          <p:nvPr/>
        </p:nvSpPr>
        <p:spPr>
          <a:xfrm>
            <a:off x="5286153" y="1773434"/>
            <a:ext cx="6885888" cy="1012825"/>
          </a:xfrm>
          <a:prstGeom prst="rect">
            <a:avLst/>
          </a:prstGeom>
          <a:noFill/>
          <a:ln>
            <a:noFill/>
          </a:ln>
        </p:spPr>
        <p:txBody>
          <a:bodyPr vert="horz" wrap="square" lIns="0" tIns="0" rIns="0" bIns="0" rtlCol="0" anchor="t"/>
          <a:lstStyle/>
          <a:p>
            <a:pPr algn="l">
              <a:lnSpc>
                <a:spcPct val="150000"/>
              </a:lnSpc>
            </a:pPr>
            <a:r>
              <a:rPr kumimoji="1" lang="en-US" altLang="zh-CN" sz="1400" dirty="0">
                <a:ln w="12700">
                  <a:noFill/>
                </a:ln>
                <a:solidFill>
                  <a:srgbClr val="000000">
                    <a:alpha val="100000"/>
                  </a:srgbClr>
                </a:solidFill>
                <a:latin typeface="Source Han Sans CN Normal"/>
                <a:ea typeface="Source Han Sans CN Normal"/>
                <a:cs typeface="Source Han Sans CN Normal"/>
              </a:rPr>
              <a:t>构建完整的双目眼底影像输入分析与疾病分类输出处理链路，确保系统能够高效、准确地处理眼底影像数据。该链路应具备强大的兼容性，能够同时处理左右眼图像输入，无论是不同分辨率、不同格式的图像，都能进行有效的分析和处理。</a:t>
            </a:r>
            <a:endParaRPr kumimoji="1" lang="zh-CN" altLang="en-US" dirty="0"/>
          </a:p>
        </p:txBody>
      </p:sp>
      <p:sp>
        <p:nvSpPr>
          <p:cNvPr id="6" name="标题 1"/>
          <p:cNvSpPr txBox="1"/>
          <p:nvPr/>
        </p:nvSpPr>
        <p:spPr>
          <a:xfrm>
            <a:off x="5298029" y="1321454"/>
            <a:ext cx="71118" cy="379338"/>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5429279" y="2922332"/>
            <a:ext cx="6742763" cy="340432"/>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262626">
                    <a:alpha val="100000"/>
                  </a:srgbClr>
                </a:solidFill>
                <a:latin typeface="Source Han Sans CN Bold Bold"/>
                <a:ea typeface="Source Han Sans CN Bold Bold"/>
                <a:cs typeface="Source Han Sans CN Bold Bold"/>
              </a:rPr>
              <a:t>特征提取与融合</a:t>
            </a:r>
            <a:endParaRPr kumimoji="1" lang="zh-CN" altLang="en-US"/>
          </a:p>
        </p:txBody>
      </p:sp>
      <p:sp>
        <p:nvSpPr>
          <p:cNvPr id="8" name="标题 1"/>
          <p:cNvSpPr txBox="1"/>
          <p:nvPr/>
        </p:nvSpPr>
        <p:spPr>
          <a:xfrm>
            <a:off x="5286154" y="3397824"/>
            <a:ext cx="6885888" cy="1012825"/>
          </a:xfrm>
          <a:prstGeom prst="rect">
            <a:avLst/>
          </a:prstGeom>
          <a:noFill/>
          <a:ln>
            <a:noFill/>
          </a:ln>
        </p:spPr>
        <p:txBody>
          <a:bodyPr vert="horz" wrap="square" lIns="0" tIns="0" rIns="0" bIns="0" rtlCol="0" anchor="t"/>
          <a:lstStyle/>
          <a:p>
            <a:pPr algn="l">
              <a:lnSpc>
                <a:spcPct val="150000"/>
              </a:lnSpc>
            </a:pPr>
            <a:r>
              <a:rPr kumimoji="1" lang="en-US" altLang="zh-CN" sz="1332">
                <a:ln w="12700">
                  <a:noFill/>
                </a:ln>
                <a:solidFill>
                  <a:srgbClr val="000000">
                    <a:alpha val="100000"/>
                  </a:srgbClr>
                </a:solidFill>
                <a:latin typeface="Source Han Sans CN Normal"/>
                <a:ea typeface="Source Han Sans CN Normal"/>
                <a:cs typeface="Source Han Sans CN Normal"/>
              </a:rPr>
              <a:t>运用先进的深度学习技术，如卷积神经网络（CNN），对眼底图像进行特征提取。CNN能够自动学习图像中的特征，减少噪声干扰，提高特征提取的准确性。
采用多模态特征融合方法，精准融合双视角病理特征。例如，将眼底图像的颜色特征、纹理特征、结构特征等进行融合，充分利用图像的各种信息，提高疾病识别的准确率。</a:t>
            </a:r>
            <a:endParaRPr kumimoji="1" lang="zh-CN" altLang="en-US"/>
          </a:p>
        </p:txBody>
      </p:sp>
      <p:sp>
        <p:nvSpPr>
          <p:cNvPr id="9" name="标题 1"/>
          <p:cNvSpPr txBox="1"/>
          <p:nvPr/>
        </p:nvSpPr>
        <p:spPr>
          <a:xfrm>
            <a:off x="5298030" y="2945845"/>
            <a:ext cx="71118" cy="379338"/>
          </a:xfrm>
          <a:prstGeom prst="roundRect">
            <a:avLst>
              <a:gd name="adj" fmla="val 50000"/>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5429279" y="4546721"/>
            <a:ext cx="6742763" cy="340432"/>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262626">
                    <a:alpha val="100000"/>
                  </a:srgbClr>
                </a:solidFill>
                <a:latin typeface="Source Han Sans CN Bold Bold"/>
                <a:ea typeface="Source Han Sans CN Bold Bold"/>
                <a:cs typeface="Source Han Sans CN Bold Bold"/>
              </a:rPr>
              <a:t>疾病识别分类</a:t>
            </a:r>
            <a:endParaRPr kumimoji="1" lang="zh-CN" altLang="en-US"/>
          </a:p>
        </p:txBody>
      </p:sp>
      <p:sp>
        <p:nvSpPr>
          <p:cNvPr id="11" name="标题 1"/>
          <p:cNvSpPr txBox="1"/>
          <p:nvPr/>
        </p:nvSpPr>
        <p:spPr>
          <a:xfrm>
            <a:off x="5262402" y="5022215"/>
            <a:ext cx="6885888" cy="1012825"/>
          </a:xfrm>
          <a:prstGeom prst="rect">
            <a:avLst/>
          </a:prstGeom>
          <a:noFill/>
          <a:ln>
            <a:noFill/>
          </a:ln>
        </p:spPr>
        <p:txBody>
          <a:bodyPr vert="horz" wrap="square" lIns="0" tIns="0" rIns="0" bIns="0" rtlCol="0" anchor="t"/>
          <a:lstStyle/>
          <a:p>
            <a:pPr algn="l">
              <a:lnSpc>
                <a:spcPct val="150000"/>
              </a:lnSpc>
            </a:pPr>
            <a:r>
              <a:rPr kumimoji="1" lang="en-US" altLang="zh-CN" sz="1108" dirty="0">
                <a:ln w="12700">
                  <a:noFill/>
                </a:ln>
                <a:solidFill>
                  <a:srgbClr val="000000">
                    <a:alpha val="100000"/>
                  </a:srgbClr>
                </a:solidFill>
                <a:latin typeface="Source Han Sans CN Normal"/>
                <a:ea typeface="Source Han Sans CN Normal"/>
                <a:cs typeface="Source Han Sans CN Normal"/>
              </a:rPr>
              <a:t>基于深度学习模型，如ResNet、Inception等，提取关键病症表征。这些模型具有强大的特征学习能力，能够准确地识别出眼底图像中的病变特征。
实现7种常见眼疾及其他疾病/异常的智能判别，包括糖尿病视网膜病变、青光眼、老年性黄斑变性、视网膜静脉阻塞、黄斑裂孔、视网膜脱离、白内障等。同时，能够准确区分正常类别，避免误诊和漏诊。</a:t>
            </a:r>
            <a:endParaRPr kumimoji="1" lang="zh-CN" altLang="en-US" dirty="0"/>
          </a:p>
        </p:txBody>
      </p:sp>
      <p:sp>
        <p:nvSpPr>
          <p:cNvPr id="12" name="标题 1"/>
          <p:cNvSpPr txBox="1"/>
          <p:nvPr/>
        </p:nvSpPr>
        <p:spPr>
          <a:xfrm>
            <a:off x="5298030" y="4570234"/>
            <a:ext cx="71118" cy="379338"/>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847725" y="450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Bold"/>
                <a:ea typeface="Source Han Sans CN Bold Bold"/>
                <a:cs typeface="Source Han Sans CN Bold Bold"/>
              </a:rPr>
              <a:t>功能需求</a:t>
            </a:r>
            <a:endParaRPr kumimoji="1" lang="zh-CN" altLang="en-US"/>
          </a:p>
        </p:txBody>
      </p:sp>
      <p:sp>
        <p:nvSpPr>
          <p:cNvPr id="17" name="标题 1"/>
          <p:cNvSpPr txBox="1"/>
          <p:nvPr/>
        </p:nvSpPr>
        <p:spPr>
          <a:xfrm>
            <a:off x="348958" y="502433"/>
            <a:ext cx="387642" cy="38764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271663" y="431800"/>
            <a:ext cx="387642" cy="387642"/>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a:spLocks noGrp="1" noRot="1" noMove="1" noResize="1" noEditPoints="1" noAdjustHandles="1" noChangeArrowheads="1" noChangeShapeType="1"/>
          </p:cNvSpPr>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dirty="0"/>
          </a:p>
        </p:txBody>
      </p:sp>
      <p:sp>
        <p:nvSpPr>
          <p:cNvPr id="4" name="标题 1"/>
          <p:cNvSpPr txBox="1"/>
          <p:nvPr/>
        </p:nvSpPr>
        <p:spPr>
          <a:xfrm>
            <a:off x="660400" y="2235200"/>
            <a:ext cx="9560560" cy="3548380"/>
          </a:xfrm>
          <a:prstGeom prst="roundRect">
            <a:avLst>
              <a:gd name="adj" fmla="val 8032"/>
            </a:avLst>
          </a:prstGeom>
          <a:gradFill>
            <a:gsLst>
              <a:gs pos="0">
                <a:schemeClr val="bg1"/>
              </a:gs>
              <a:gs pos="100000">
                <a:schemeClr val="accent1">
                  <a:lumMod val="40000"/>
                  <a:lumOff val="6000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7398811" y="1609731"/>
            <a:ext cx="1417320" cy="1417320"/>
          </a:xfrm>
          <a:prstGeom prst="roundRect">
            <a:avLst>
              <a:gd name="adj" fmla="val 23119"/>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0728960" y="5097780"/>
            <a:ext cx="2072640" cy="2072640"/>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436880" y="1953260"/>
            <a:ext cx="751840" cy="751840"/>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644824" y="2166625"/>
            <a:ext cx="335952" cy="325110"/>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pic>
        <p:nvPicPr>
          <p:cNvPr id="22" name="图片 21" descr="IMG_291">
            <a:extLst>
              <a:ext uri="{FF2B5EF4-FFF2-40B4-BE49-F238E27FC236}">
                <a16:creationId xmlns:a16="http://schemas.microsoft.com/office/drawing/2014/main" id="{C5FDBBD2-6E64-E7C2-6AFB-191BA3EB5BDC}"/>
              </a:ext>
            </a:extLst>
          </p:cNvPr>
          <p:cNvPicPr>
            <a:picLocks noChangeAspect="1"/>
          </p:cNvPicPr>
          <p:nvPr/>
        </p:nvPicPr>
        <p:blipFill>
          <a:blip r:embed="rId3"/>
          <a:stretch>
            <a:fillRect/>
          </a:stretch>
        </p:blipFill>
        <p:spPr>
          <a:xfrm>
            <a:off x="3764141" y="428854"/>
            <a:ext cx="8272594" cy="3814668"/>
          </a:xfrm>
          <a:prstGeom prst="rect">
            <a:avLst/>
          </a:prstGeom>
          <a:noFill/>
          <a:ln w="9525">
            <a:noFill/>
          </a:ln>
        </p:spPr>
      </p:pic>
      <p:sp>
        <p:nvSpPr>
          <p:cNvPr id="9" name="标题 1"/>
          <p:cNvSpPr txBox="1"/>
          <p:nvPr/>
        </p:nvSpPr>
        <p:spPr>
          <a:xfrm>
            <a:off x="1521857" y="2519655"/>
            <a:ext cx="5821423" cy="793313"/>
          </a:xfrm>
          <a:prstGeom prst="rect">
            <a:avLst/>
          </a:prstGeom>
          <a:solidFill>
            <a:schemeClr val="bg1"/>
          </a:solidFill>
          <a:ln cap="sq">
            <a:noFill/>
          </a:ln>
        </p:spPr>
        <p:txBody>
          <a:bodyPr vert="horz" wrap="square" lIns="0" tIns="0" rIns="0" bIns="0" rtlCol="0" anchor="t"/>
          <a:lstStyle/>
          <a:p>
            <a:pPr algn="l">
              <a:lnSpc>
                <a:spcPct val="150000"/>
              </a:lnSpc>
            </a:pPr>
            <a:r>
              <a:rPr kumimoji="1" lang="en-US" altLang="zh-CN" sz="1100" dirty="0">
                <a:ln w="12700">
                  <a:noFill/>
                </a:ln>
                <a:solidFill>
                  <a:srgbClr val="000000">
                    <a:alpha val="100000"/>
                  </a:srgbClr>
                </a:solidFill>
                <a:latin typeface="Source Han Sans CN Normal"/>
                <a:ea typeface="Source Han Sans CN Normal"/>
                <a:cs typeface="Source Han Sans CN Normal"/>
              </a:rPr>
              <a:t>系统应具备实时响应能力，能够在短时间内完成眼底影像的处理和分析，为医生提供及时的诊断结果。在高并发场景下，如大规模的体检筛查中，系统应保持稳定运行，保证服务的可靠性，确保每个用户都能得到准确、及时的服务。</a:t>
            </a:r>
            <a:endParaRPr kumimoji="1" lang="zh-CN" altLang="en-US" sz="2400" dirty="0"/>
          </a:p>
        </p:txBody>
      </p:sp>
      <p:pic>
        <p:nvPicPr>
          <p:cNvPr id="21" name="图片 20" descr="IMG_289">
            <a:extLst>
              <a:ext uri="{FF2B5EF4-FFF2-40B4-BE49-F238E27FC236}">
                <a16:creationId xmlns:a16="http://schemas.microsoft.com/office/drawing/2014/main" id="{18BC76D4-29B4-162D-E383-99F9E4DDC766}"/>
              </a:ext>
            </a:extLst>
          </p:cNvPr>
          <p:cNvPicPr>
            <a:picLocks noChangeAspect="1"/>
          </p:cNvPicPr>
          <p:nvPr/>
        </p:nvPicPr>
        <p:blipFill rotWithShape="1">
          <a:blip r:embed="rId4"/>
          <a:srcRect l="4245" t="6206" r="4673" b="8734"/>
          <a:stretch/>
        </p:blipFill>
        <p:spPr bwMode="auto">
          <a:xfrm>
            <a:off x="7479130" y="4243522"/>
            <a:ext cx="4286150" cy="2440437"/>
          </a:xfrm>
          <a:prstGeom prst="rect">
            <a:avLst/>
          </a:prstGeom>
          <a:noFill/>
          <a:ln>
            <a:noFill/>
          </a:ln>
          <a:extLst>
            <a:ext uri="{53640926-AAD7-44D8-BBD7-CCE9431645EC}">
              <a14:shadowObscured xmlns:a14="http://schemas.microsoft.com/office/drawing/2010/main"/>
            </a:ext>
          </a:extLst>
        </p:spPr>
      </p:pic>
      <p:sp>
        <p:nvSpPr>
          <p:cNvPr id="10" name="标题 1"/>
          <p:cNvSpPr txBox="1"/>
          <p:nvPr/>
        </p:nvSpPr>
        <p:spPr>
          <a:xfrm>
            <a:off x="1521857" y="2216203"/>
            <a:ext cx="5821423" cy="321310"/>
          </a:xfrm>
          <a:prstGeom prst="rect">
            <a:avLst/>
          </a:prstGeom>
          <a:noFill/>
          <a:ln cap="sq">
            <a:noFill/>
          </a:ln>
        </p:spPr>
        <p:txBody>
          <a:bodyPr vert="horz" wrap="square" lIns="0" tIns="0" rIns="0" bIns="0" rtlCol="0" anchor="b"/>
          <a:lstStyle/>
          <a:p>
            <a:pPr algn="l">
              <a:lnSpc>
                <a:spcPct val="150000"/>
              </a:lnSpc>
            </a:pPr>
            <a:r>
              <a:rPr kumimoji="1" lang="en-US" altLang="zh-CN" sz="2000" dirty="0" err="1">
                <a:ln w="12700">
                  <a:noFill/>
                </a:ln>
                <a:solidFill>
                  <a:srgbClr val="000000">
                    <a:alpha val="100000"/>
                  </a:srgbClr>
                </a:solidFill>
                <a:latin typeface="Source Han Sans CN Bold Bold"/>
                <a:ea typeface="Source Han Sans CN Bold Bold"/>
                <a:cs typeface="Source Han Sans CN Bold Bold"/>
              </a:rPr>
              <a:t>性能要求</a:t>
            </a:r>
            <a:endParaRPr kumimoji="1" lang="zh-CN" altLang="en-US" sz="2400" dirty="0"/>
          </a:p>
        </p:txBody>
      </p:sp>
      <p:sp>
        <p:nvSpPr>
          <p:cNvPr id="11" name="标题 1"/>
          <p:cNvSpPr txBox="1"/>
          <p:nvPr/>
        </p:nvSpPr>
        <p:spPr>
          <a:xfrm>
            <a:off x="1521857" y="3616145"/>
            <a:ext cx="5821423" cy="994344"/>
          </a:xfrm>
          <a:prstGeom prst="rect">
            <a:avLst/>
          </a:prstGeom>
          <a:solidFill>
            <a:schemeClr val="bg1"/>
          </a:solidFill>
          <a:ln cap="sq">
            <a:noFill/>
          </a:ln>
        </p:spPr>
        <p:txBody>
          <a:bodyPr vert="horz" wrap="square" lIns="0" tIns="0" rIns="0" bIns="0" rtlCol="0" anchor="t"/>
          <a:lstStyle/>
          <a:p>
            <a:pPr algn="l">
              <a:lnSpc>
                <a:spcPct val="150000"/>
              </a:lnSpc>
            </a:pPr>
            <a:r>
              <a:rPr kumimoji="1" lang="en-US" altLang="zh-CN" sz="1100" dirty="0">
                <a:ln w="12700">
                  <a:noFill/>
                </a:ln>
                <a:solidFill>
                  <a:srgbClr val="000000">
                    <a:alpha val="100000"/>
                  </a:srgbClr>
                </a:solidFill>
                <a:latin typeface="Source Han Sans CN Normal"/>
                <a:ea typeface="Source Han Sans CN Normal"/>
                <a:cs typeface="Source Han Sans CN Normal"/>
              </a:rPr>
              <a:t>提供贴合临床工作流程的可视化界面，界面设计应简洁明了，易于操作。医生可以通过界面方便地查看眼底影像、诊断结果和相关报告，提高工作效率。
平衡算法复杂性与结果可解释性，采用可视化技术，如热力图、特征图等，将模型的决策过程和结果以直观的方式展示给医生，帮助医生理解和信任系统的诊断结果。</a:t>
            </a:r>
            <a:endParaRPr kumimoji="1" lang="zh-CN" altLang="en-US" sz="2400" dirty="0"/>
          </a:p>
        </p:txBody>
      </p:sp>
      <p:sp>
        <p:nvSpPr>
          <p:cNvPr id="12" name="标题 1"/>
          <p:cNvSpPr txBox="1"/>
          <p:nvPr/>
        </p:nvSpPr>
        <p:spPr>
          <a:xfrm>
            <a:off x="1521857" y="3284351"/>
            <a:ext cx="5821423" cy="321310"/>
          </a:xfrm>
          <a:prstGeom prst="rect">
            <a:avLst/>
          </a:prstGeom>
          <a:noFill/>
          <a:ln cap="sq">
            <a:noFill/>
          </a:ln>
        </p:spPr>
        <p:txBody>
          <a:bodyPr vert="horz" wrap="square" lIns="0" tIns="0" rIns="0" bIns="0" rtlCol="0" anchor="b"/>
          <a:lstStyle/>
          <a:p>
            <a:pPr algn="l">
              <a:lnSpc>
                <a:spcPct val="150000"/>
              </a:lnSpc>
            </a:pPr>
            <a:r>
              <a:rPr kumimoji="1" lang="en-US" altLang="zh-CN" sz="2000" dirty="0" err="1">
                <a:ln w="12700">
                  <a:noFill/>
                </a:ln>
                <a:solidFill>
                  <a:srgbClr val="000000">
                    <a:alpha val="100000"/>
                  </a:srgbClr>
                </a:solidFill>
                <a:latin typeface="Source Han Sans CN Bold Bold"/>
                <a:ea typeface="Source Han Sans CN Bold Bold"/>
                <a:cs typeface="Source Han Sans CN Bold Bold"/>
              </a:rPr>
              <a:t>人机交互</a:t>
            </a:r>
            <a:endParaRPr kumimoji="1" lang="zh-CN" altLang="en-US" sz="2400" dirty="0"/>
          </a:p>
        </p:txBody>
      </p:sp>
      <p:sp>
        <p:nvSpPr>
          <p:cNvPr id="13" name="标题 1"/>
          <p:cNvSpPr txBox="1"/>
          <p:nvPr/>
        </p:nvSpPr>
        <p:spPr>
          <a:xfrm>
            <a:off x="1521857" y="5078252"/>
            <a:ext cx="5821423" cy="793313"/>
          </a:xfrm>
          <a:prstGeom prst="rect">
            <a:avLst/>
          </a:prstGeom>
          <a:noFill/>
          <a:ln cap="sq">
            <a:noFill/>
          </a:ln>
        </p:spPr>
        <p:txBody>
          <a:bodyPr vert="horz" wrap="square" lIns="0" tIns="0" rIns="0" bIns="0" rtlCol="0" anchor="t"/>
          <a:lstStyle/>
          <a:p>
            <a:pPr algn="l">
              <a:lnSpc>
                <a:spcPct val="150000"/>
              </a:lnSpc>
            </a:pPr>
            <a:r>
              <a:rPr kumimoji="1" lang="en-US" altLang="zh-CN" sz="1100" dirty="0">
                <a:ln w="12700">
                  <a:noFill/>
                </a:ln>
                <a:solidFill>
                  <a:srgbClr val="000000">
                    <a:alpha val="100000"/>
                  </a:srgbClr>
                </a:solidFill>
                <a:latin typeface="Source Han Sans CN Normal"/>
                <a:ea typeface="Source Han Sans CN Normal"/>
                <a:cs typeface="Source Han Sans CN Normal"/>
              </a:rPr>
              <a:t>系统应具备良好的硬件兼容性，能够适配主流医疗影像设备，如眼底相机、光学相干断层扫描仪（OCT）等。无论设备的品牌、型号如何，系统都能与之无缝对接，实现数据的快速传输和处理。</a:t>
            </a:r>
            <a:endParaRPr kumimoji="1" lang="zh-CN" altLang="en-US" sz="2400" dirty="0"/>
          </a:p>
        </p:txBody>
      </p:sp>
      <p:sp>
        <p:nvSpPr>
          <p:cNvPr id="14" name="标题 1"/>
          <p:cNvSpPr txBox="1"/>
          <p:nvPr/>
        </p:nvSpPr>
        <p:spPr>
          <a:xfrm>
            <a:off x="1521856" y="4679064"/>
            <a:ext cx="5821423" cy="321310"/>
          </a:xfrm>
          <a:prstGeom prst="rect">
            <a:avLst/>
          </a:prstGeom>
          <a:solidFill>
            <a:schemeClr val="bg1"/>
          </a:solidFill>
          <a:ln cap="sq">
            <a:noFill/>
          </a:ln>
        </p:spPr>
        <p:txBody>
          <a:bodyPr vert="horz" wrap="square" lIns="0" tIns="0" rIns="0" bIns="0" rtlCol="0" anchor="b"/>
          <a:lstStyle/>
          <a:p>
            <a:pPr algn="l">
              <a:lnSpc>
                <a:spcPct val="150000"/>
              </a:lnSpc>
            </a:pPr>
            <a:r>
              <a:rPr kumimoji="1" lang="en-US" altLang="zh-CN" sz="2000" dirty="0" err="1">
                <a:ln w="12700">
                  <a:noFill/>
                </a:ln>
                <a:solidFill>
                  <a:srgbClr val="000000">
                    <a:alpha val="100000"/>
                  </a:srgbClr>
                </a:solidFill>
                <a:latin typeface="Source Han Sans CN Bold Bold"/>
                <a:ea typeface="Source Han Sans CN Bold Bold"/>
                <a:cs typeface="Source Han Sans CN Bold Bold"/>
              </a:rPr>
              <a:t>硬件兼容</a:t>
            </a:r>
            <a:endParaRPr kumimoji="1" lang="zh-CN" altLang="en-US" sz="2400" dirty="0"/>
          </a:p>
        </p:txBody>
      </p:sp>
      <p:sp>
        <p:nvSpPr>
          <p:cNvPr id="15" name="标题 1"/>
          <p:cNvSpPr txBox="1"/>
          <p:nvPr/>
        </p:nvSpPr>
        <p:spPr>
          <a:xfrm>
            <a:off x="847725" y="450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Bold"/>
                <a:ea typeface="Source Han Sans CN Bold Bold"/>
                <a:cs typeface="Source Han Sans CN Bold Bold"/>
              </a:rPr>
              <a:t>非功能需求</a:t>
            </a:r>
            <a:endParaRPr kumimoji="1" lang="zh-CN" altLang="en-US"/>
          </a:p>
        </p:txBody>
      </p:sp>
      <p:sp>
        <p:nvSpPr>
          <p:cNvPr id="16" name="标题 1"/>
          <p:cNvSpPr txBox="1"/>
          <p:nvPr/>
        </p:nvSpPr>
        <p:spPr>
          <a:xfrm>
            <a:off x="348958" y="502433"/>
            <a:ext cx="387642" cy="38764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271663" y="431800"/>
            <a:ext cx="387642" cy="387642"/>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60400" y="4408667"/>
            <a:ext cx="3427012" cy="1725433"/>
          </a:xfrm>
          <a:prstGeom prst="rect">
            <a:avLst/>
          </a:prstGeom>
          <a:solidFill>
            <a:schemeClr val="accent1"/>
          </a:solidFill>
          <a:ln w="34925" cap="sq">
            <a:solidFill>
              <a:schemeClr val="accent1">
                <a:lumMod val="20000"/>
                <a:lumOff val="80000"/>
                <a:alpha val="10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237753" y="4256024"/>
            <a:ext cx="4725725" cy="9155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5" name="图片 4"/>
          <p:cNvPicPr>
            <a:picLocks noChangeAspect="1"/>
          </p:cNvPicPr>
          <p:nvPr/>
        </p:nvPicPr>
        <p:blipFill>
          <a:blip r:embed="rId3">
            <a:alphaModFix/>
          </a:blip>
          <a:srcRect t="5082" b="5082"/>
          <a:stretch>
            <a:fillRect/>
          </a:stretch>
        </p:blipFill>
        <p:spPr>
          <a:xfrm>
            <a:off x="660400" y="4408667"/>
            <a:ext cx="3427012" cy="1725433"/>
          </a:xfrm>
          <a:custGeom>
            <a:avLst/>
            <a:gdLst>
              <a:gd name="connsiteX0" fmla="*/ 0 w 3427012"/>
              <a:gd name="connsiteY0" fmla="*/ 0 h 1725433"/>
              <a:gd name="connsiteX1" fmla="*/ 3427012 w 3427012"/>
              <a:gd name="connsiteY1" fmla="*/ 0 h 1725433"/>
              <a:gd name="connsiteX2" fmla="*/ 3427012 w 3427012"/>
              <a:gd name="connsiteY2" fmla="*/ 1725433 h 1725433"/>
              <a:gd name="connsiteX3" fmla="*/ 0 w 3427012"/>
              <a:gd name="connsiteY3" fmla="*/ 1725433 h 1725433"/>
              <a:gd name="connsiteX4" fmla="*/ 0 w 3427012"/>
              <a:gd name="connsiteY4" fmla="*/ 0 h 1725433"/>
            </a:gdLst>
            <a:ahLst/>
            <a:cxnLst/>
            <a:rect l="l" t="t" r="r" b="b"/>
            <a:pathLst>
              <a:path w="3427012" h="1725433">
                <a:moveTo>
                  <a:pt x="0" y="0"/>
                </a:moveTo>
                <a:lnTo>
                  <a:pt x="3427012" y="0"/>
                </a:lnTo>
                <a:lnTo>
                  <a:pt x="3427012" y="1725433"/>
                </a:lnTo>
                <a:lnTo>
                  <a:pt x="0" y="1725433"/>
                </a:lnTo>
                <a:lnTo>
                  <a:pt x="0" y="0"/>
                </a:lnTo>
                <a:close/>
              </a:path>
            </a:pathLst>
          </a:custGeom>
          <a:noFill/>
          <a:ln>
            <a:noFill/>
          </a:ln>
        </p:spPr>
      </p:pic>
      <p:sp>
        <p:nvSpPr>
          <p:cNvPr id="6" name="标题 1"/>
          <p:cNvSpPr txBox="1"/>
          <p:nvPr/>
        </p:nvSpPr>
        <p:spPr>
          <a:xfrm>
            <a:off x="7516368" y="1635055"/>
            <a:ext cx="4002531" cy="2700528"/>
          </a:xfrm>
          <a:prstGeom prst="rect">
            <a:avLst/>
          </a:prstGeom>
          <a:solidFill>
            <a:schemeClr val="accent1"/>
          </a:solidFill>
          <a:ln w="34925"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4949952" y="4257039"/>
            <a:ext cx="2395728" cy="89759"/>
          </a:xfrm>
          <a:prstGeom prst="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8" name="图片 7"/>
          <p:cNvPicPr>
            <a:picLocks noChangeAspect="1"/>
          </p:cNvPicPr>
          <p:nvPr/>
        </p:nvPicPr>
        <p:blipFill>
          <a:blip r:embed="rId4">
            <a:alphaModFix/>
          </a:blip>
          <a:srcRect l="8510" r="8510"/>
          <a:stretch>
            <a:fillRect/>
          </a:stretch>
        </p:blipFill>
        <p:spPr>
          <a:xfrm>
            <a:off x="7535118" y="1635055"/>
            <a:ext cx="3983781" cy="2700528"/>
          </a:xfrm>
          <a:custGeom>
            <a:avLst/>
            <a:gdLst>
              <a:gd name="connsiteX0" fmla="*/ 0 w 5443220"/>
              <a:gd name="connsiteY0" fmla="*/ 0 h 2700528"/>
              <a:gd name="connsiteX1" fmla="*/ 5443220 w 5443220"/>
              <a:gd name="connsiteY1" fmla="*/ 0 h 2700528"/>
              <a:gd name="connsiteX2" fmla="*/ 5443220 w 5443220"/>
              <a:gd name="connsiteY2" fmla="*/ 2700528 h 2700528"/>
              <a:gd name="connsiteX3" fmla="*/ 0 w 5443220"/>
              <a:gd name="connsiteY3" fmla="*/ 2700528 h 2700528"/>
              <a:gd name="connsiteX4" fmla="*/ 0 w 5443220"/>
              <a:gd name="connsiteY4" fmla="*/ 0 h 2700528"/>
            </a:gdLst>
            <a:ahLst/>
            <a:cxnLst/>
            <a:rect l="l" t="t" r="r" b="b"/>
            <a:pathLst>
              <a:path w="5443220" h="2700528">
                <a:moveTo>
                  <a:pt x="0" y="0"/>
                </a:moveTo>
                <a:lnTo>
                  <a:pt x="5443220" y="0"/>
                </a:lnTo>
                <a:lnTo>
                  <a:pt x="5443220" y="2700528"/>
                </a:lnTo>
                <a:lnTo>
                  <a:pt x="0" y="2700528"/>
                </a:lnTo>
                <a:lnTo>
                  <a:pt x="0" y="0"/>
                </a:lnTo>
                <a:close/>
              </a:path>
            </a:pathLst>
          </a:custGeom>
          <a:noFill/>
          <a:ln>
            <a:noFill/>
          </a:ln>
        </p:spPr>
      </p:pic>
      <p:sp>
        <p:nvSpPr>
          <p:cNvPr id="9" name="标题 1"/>
          <p:cNvSpPr txBox="1"/>
          <p:nvPr/>
        </p:nvSpPr>
        <p:spPr>
          <a:xfrm rot="5400000">
            <a:off x="4010664" y="4648090"/>
            <a:ext cx="551176" cy="91550"/>
          </a:xfrm>
          <a:custGeom>
            <a:avLst/>
            <a:gdLst>
              <a:gd name="connsiteX0" fmla="*/ 461176 w 551176"/>
              <a:gd name="connsiteY0" fmla="*/ 0 h 91550"/>
              <a:gd name="connsiteX1" fmla="*/ 551176 w 551176"/>
              <a:gd name="connsiteY1" fmla="*/ 0 h 91550"/>
              <a:gd name="connsiteX2" fmla="*/ 551176 w 551176"/>
              <a:gd name="connsiteY2" fmla="*/ 91550 h 91550"/>
              <a:gd name="connsiteX3" fmla="*/ 461176 w 551176"/>
              <a:gd name="connsiteY3" fmla="*/ 91550 h 91550"/>
              <a:gd name="connsiteX4" fmla="*/ 230588 w 551176"/>
              <a:gd name="connsiteY4" fmla="*/ 0 h 91550"/>
              <a:gd name="connsiteX5" fmla="*/ 320588 w 551176"/>
              <a:gd name="connsiteY5" fmla="*/ 0 h 91550"/>
              <a:gd name="connsiteX6" fmla="*/ 320588 w 551176"/>
              <a:gd name="connsiteY6" fmla="*/ 91550 h 91550"/>
              <a:gd name="connsiteX7" fmla="*/ 230588 w 551176"/>
              <a:gd name="connsiteY7" fmla="*/ 91550 h 91550"/>
              <a:gd name="connsiteX8" fmla="*/ 0 w 551176"/>
              <a:gd name="connsiteY8" fmla="*/ 0 h 91550"/>
              <a:gd name="connsiteX9" fmla="*/ 90000 w 551176"/>
              <a:gd name="connsiteY9" fmla="*/ 0 h 91550"/>
              <a:gd name="connsiteX10" fmla="*/ 90000 w 551176"/>
              <a:gd name="connsiteY10" fmla="*/ 91550 h 91550"/>
              <a:gd name="connsiteX11" fmla="*/ 0 w 551176"/>
              <a:gd name="connsiteY11" fmla="*/ 91550 h 91550"/>
            </a:gdLst>
            <a:ahLst/>
            <a:cxnLst/>
            <a:rect l="l" t="t" r="r" b="b"/>
            <a:pathLst>
              <a:path w="551176" h="91550">
                <a:moveTo>
                  <a:pt x="461176" y="0"/>
                </a:moveTo>
                <a:lnTo>
                  <a:pt x="551176" y="0"/>
                </a:lnTo>
                <a:lnTo>
                  <a:pt x="551176" y="91550"/>
                </a:lnTo>
                <a:lnTo>
                  <a:pt x="461176" y="91550"/>
                </a:lnTo>
                <a:close/>
                <a:moveTo>
                  <a:pt x="230588" y="0"/>
                </a:moveTo>
                <a:lnTo>
                  <a:pt x="320588" y="0"/>
                </a:lnTo>
                <a:lnTo>
                  <a:pt x="320588" y="91550"/>
                </a:lnTo>
                <a:lnTo>
                  <a:pt x="230588" y="91550"/>
                </a:lnTo>
                <a:close/>
                <a:moveTo>
                  <a:pt x="0" y="0"/>
                </a:moveTo>
                <a:lnTo>
                  <a:pt x="90000" y="0"/>
                </a:lnTo>
                <a:lnTo>
                  <a:pt x="90000" y="91550"/>
                </a:lnTo>
                <a:lnTo>
                  <a:pt x="0" y="91550"/>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10451939" y="1635319"/>
            <a:ext cx="1066961" cy="2700000"/>
          </a:xfrm>
          <a:prstGeom prst="rect">
            <a:avLst/>
          </a:prstGeom>
          <a:solidFill>
            <a:schemeClr val="bg1">
              <a:alpha val="7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0805713" y="3737379"/>
            <a:ext cx="398735" cy="431927"/>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accent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2" name="标题 1"/>
          <p:cNvSpPr txBox="1"/>
          <p:nvPr/>
        </p:nvSpPr>
        <p:spPr>
          <a:xfrm>
            <a:off x="660400" y="2087108"/>
            <a:ext cx="3021495" cy="621387"/>
          </a:xfrm>
          <a:prstGeom prst="rect">
            <a:avLst/>
          </a:prstGeom>
          <a:noFill/>
          <a:ln>
            <a:noFill/>
          </a:ln>
        </p:spPr>
        <p:txBody>
          <a:bodyPr vert="horz" wrap="square" lIns="91440" tIns="45720" rIns="91440" bIns="45720" rtlCol="0" anchor="b"/>
          <a:lstStyle/>
          <a:p>
            <a:pPr algn="l">
              <a:lnSpc>
                <a:spcPct val="130000"/>
              </a:lnSpc>
            </a:pPr>
            <a:r>
              <a:rPr kumimoji="1" lang="en-US" altLang="zh-CN" sz="1600">
                <a:ln w="12700">
                  <a:noFill/>
                </a:ln>
                <a:solidFill>
                  <a:srgbClr val="000000">
                    <a:alpha val="100000"/>
                  </a:srgbClr>
                </a:solidFill>
                <a:latin typeface="Source Han Sans CN Bold Bold"/>
                <a:ea typeface="Source Han Sans CN Bold Bold"/>
                <a:cs typeface="Source Han Sans CN Bold Bold"/>
              </a:rPr>
              <a:t>基层医疗机构</a:t>
            </a:r>
            <a:endParaRPr kumimoji="1" lang="zh-CN" altLang="en-US"/>
          </a:p>
        </p:txBody>
      </p:sp>
      <p:sp>
        <p:nvSpPr>
          <p:cNvPr id="13" name="标题 1"/>
          <p:cNvSpPr txBox="1"/>
          <p:nvPr/>
        </p:nvSpPr>
        <p:spPr>
          <a:xfrm>
            <a:off x="660400" y="2647229"/>
            <a:ext cx="3039275" cy="1388057"/>
          </a:xfrm>
          <a:prstGeom prst="rect">
            <a:avLst/>
          </a:prstGeom>
          <a:noFill/>
          <a:ln>
            <a:noFill/>
          </a:ln>
        </p:spPr>
        <p:txBody>
          <a:bodyPr vert="horz" wrap="square" lIns="91440" tIns="45720" rIns="91440" bIns="45720" rtlCol="0" anchor="t"/>
          <a:lstStyle/>
          <a:p>
            <a:pPr algn="l">
              <a:lnSpc>
                <a:spcPct val="150000"/>
              </a:lnSpc>
            </a:pPr>
            <a:r>
              <a:rPr kumimoji="1" lang="en-US" altLang="zh-CN" sz="1159">
                <a:ln w="12700">
                  <a:noFill/>
                </a:ln>
                <a:solidFill>
                  <a:srgbClr val="000000">
                    <a:alpha val="100000"/>
                  </a:srgbClr>
                </a:solidFill>
                <a:latin typeface="Source Han Sans CN Normal"/>
                <a:ea typeface="Source Han Sans CN Normal"/>
                <a:cs typeface="Source Han Sans CN Normal"/>
              </a:rPr>
              <a:t>在基层医疗机构中，系统可用于快速筛查。通过对大量患者的眼底影像进行自动分析，能够快速发现异常病例，提升异常病例的检出效率。这有助于缓解基层专业医师短缺的压力，使基层医生能够借助系统的力量，为患者提供更准确的诊断服务。</a:t>
            </a:r>
            <a:endParaRPr kumimoji="1" lang="zh-CN" altLang="en-US"/>
          </a:p>
        </p:txBody>
      </p:sp>
      <p:sp>
        <p:nvSpPr>
          <p:cNvPr id="14" name="标题 1"/>
          <p:cNvSpPr txBox="1"/>
          <p:nvPr/>
        </p:nvSpPr>
        <p:spPr>
          <a:xfrm>
            <a:off x="4111266" y="2061708"/>
            <a:ext cx="3021495" cy="646787"/>
          </a:xfrm>
          <a:prstGeom prst="rect">
            <a:avLst/>
          </a:prstGeom>
          <a:noFill/>
          <a:ln>
            <a:noFill/>
          </a:ln>
        </p:spPr>
        <p:txBody>
          <a:bodyPr vert="horz" wrap="square" lIns="91440" tIns="45720" rIns="91440" bIns="45720" rtlCol="0" anchor="b"/>
          <a:lstStyle/>
          <a:p>
            <a:pPr algn="l">
              <a:lnSpc>
                <a:spcPct val="130000"/>
              </a:lnSpc>
            </a:pPr>
            <a:r>
              <a:rPr kumimoji="1" lang="en-US" altLang="zh-CN" sz="1600">
                <a:ln w="12700">
                  <a:noFill/>
                </a:ln>
                <a:solidFill>
                  <a:srgbClr val="000000">
                    <a:alpha val="100000"/>
                  </a:srgbClr>
                </a:solidFill>
                <a:latin typeface="Source Han Sans CN Bold Bold"/>
                <a:ea typeface="Source Han Sans CN Bold Bold"/>
                <a:cs typeface="Source Han Sans CN Bold Bold"/>
              </a:rPr>
              <a:t>综合医院</a:t>
            </a:r>
            <a:endParaRPr kumimoji="1" lang="zh-CN" altLang="en-US"/>
          </a:p>
        </p:txBody>
      </p:sp>
      <p:sp>
        <p:nvSpPr>
          <p:cNvPr id="15" name="标题 1"/>
          <p:cNvSpPr txBox="1"/>
          <p:nvPr/>
        </p:nvSpPr>
        <p:spPr>
          <a:xfrm>
            <a:off x="4111266" y="2647229"/>
            <a:ext cx="3039275" cy="1388057"/>
          </a:xfrm>
          <a:prstGeom prst="rect">
            <a:avLst/>
          </a:prstGeom>
          <a:noFill/>
          <a:ln>
            <a:noFill/>
          </a:ln>
        </p:spPr>
        <p:txBody>
          <a:bodyPr vert="horz" wrap="square" lIns="91440" tIns="45720" rIns="91440" bIns="45720" rtlCol="0" anchor="t"/>
          <a:lstStyle/>
          <a:p>
            <a:pPr algn="l">
              <a:lnSpc>
                <a:spcPct val="150000"/>
              </a:lnSpc>
            </a:pPr>
            <a:r>
              <a:rPr kumimoji="1" lang="en-US" altLang="zh-CN" sz="1356">
                <a:ln w="12700">
                  <a:noFill/>
                </a:ln>
                <a:solidFill>
                  <a:srgbClr val="000000">
                    <a:alpha val="100000"/>
                  </a:srgbClr>
                </a:solidFill>
                <a:latin typeface="Source Han Sans CN Normal"/>
                <a:ea typeface="Source Han Sans CN Normal"/>
                <a:cs typeface="Source Han Sans CN Normal"/>
              </a:rPr>
              <a:t>在综合医院，系统作为辅助诊断工具，能够优化临床决策流程。医生在诊断过程中，可以参考系统提供的诊断结果和建议，降低人为误判的风险，提高诊断的准确性和可靠性。</a:t>
            </a:r>
            <a:endParaRPr kumimoji="1" lang="zh-CN" altLang="en-US"/>
          </a:p>
        </p:txBody>
      </p:sp>
      <p:sp>
        <p:nvSpPr>
          <p:cNvPr id="16" name="标题 1"/>
          <p:cNvSpPr txBox="1"/>
          <p:nvPr/>
        </p:nvSpPr>
        <p:spPr>
          <a:xfrm>
            <a:off x="4730806" y="4537595"/>
            <a:ext cx="3083087" cy="494387"/>
          </a:xfrm>
          <a:prstGeom prst="rect">
            <a:avLst/>
          </a:prstGeom>
          <a:noFill/>
          <a:ln>
            <a:noFill/>
          </a:ln>
        </p:spPr>
        <p:txBody>
          <a:bodyPr vert="horz" wrap="square" lIns="91440" tIns="45720" rIns="91440" bIns="45720" rtlCol="0" anchor="b"/>
          <a:lstStyle/>
          <a:p>
            <a:pPr algn="l">
              <a:lnSpc>
                <a:spcPct val="130000"/>
              </a:lnSpc>
            </a:pPr>
            <a:r>
              <a:rPr kumimoji="1" lang="en-US" altLang="zh-CN" sz="1600">
                <a:ln w="12700">
                  <a:noFill/>
                </a:ln>
                <a:solidFill>
                  <a:srgbClr val="000000">
                    <a:alpha val="100000"/>
                  </a:srgbClr>
                </a:solidFill>
                <a:latin typeface="Source Han Sans CN Bold Bold"/>
                <a:ea typeface="Source Han Sans CN Bold Bold"/>
                <a:cs typeface="Source Han Sans CN Bold Bold"/>
              </a:rPr>
              <a:t>健康管理机构</a:t>
            </a:r>
            <a:endParaRPr kumimoji="1" lang="zh-CN" altLang="en-US"/>
          </a:p>
        </p:txBody>
      </p:sp>
      <p:sp>
        <p:nvSpPr>
          <p:cNvPr id="17" name="标题 1"/>
          <p:cNvSpPr txBox="1"/>
          <p:nvPr/>
        </p:nvSpPr>
        <p:spPr>
          <a:xfrm>
            <a:off x="4730806" y="4970716"/>
            <a:ext cx="3101229" cy="1388057"/>
          </a:xfrm>
          <a:prstGeom prst="rect">
            <a:avLst/>
          </a:prstGeom>
          <a:noFill/>
          <a:ln>
            <a:noFill/>
          </a:ln>
        </p:spPr>
        <p:txBody>
          <a:bodyPr vert="horz" wrap="square" lIns="91440" tIns="45720" rIns="91440" bIns="45720" rtlCol="0" anchor="t"/>
          <a:lstStyle/>
          <a:p>
            <a:pPr algn="l">
              <a:lnSpc>
                <a:spcPct val="150000"/>
              </a:lnSpc>
            </a:pPr>
            <a:r>
              <a:rPr kumimoji="1" lang="en-US" altLang="zh-CN" sz="1159">
                <a:ln w="12700">
                  <a:noFill/>
                </a:ln>
                <a:solidFill>
                  <a:srgbClr val="000000">
                    <a:alpha val="100000"/>
                  </a:srgbClr>
                </a:solidFill>
                <a:latin typeface="Source Han Sans CN Normal"/>
                <a:ea typeface="Source Han Sans CN Normal"/>
                <a:cs typeface="Source Han Sans CN Normal"/>
              </a:rPr>
              <a:t>健康管理机构可以利用系统对高风险人群进行动态监测。例如，对患有糖尿病、高血压等慢性疾病的人群，定期进行眼底检查和分析，及时发现潜在的眼部病变，为他们提供早期预警，帮助他们采取相应的预防和治疗措施。</a:t>
            </a:r>
            <a:endParaRPr kumimoji="1" lang="zh-CN" altLang="en-US"/>
          </a:p>
        </p:txBody>
      </p:sp>
      <p:sp>
        <p:nvSpPr>
          <p:cNvPr id="18" name="标题 1"/>
          <p:cNvSpPr txBox="1"/>
          <p:nvPr/>
        </p:nvSpPr>
        <p:spPr>
          <a:xfrm>
            <a:off x="8417671" y="4537595"/>
            <a:ext cx="3083087" cy="494387"/>
          </a:xfrm>
          <a:prstGeom prst="rect">
            <a:avLst/>
          </a:prstGeom>
          <a:noFill/>
          <a:ln>
            <a:noFill/>
          </a:ln>
        </p:spPr>
        <p:txBody>
          <a:bodyPr vert="horz" wrap="square" lIns="91440" tIns="45720" rIns="91440" bIns="45720" rtlCol="0" anchor="b"/>
          <a:lstStyle/>
          <a:p>
            <a:pPr algn="l">
              <a:lnSpc>
                <a:spcPct val="130000"/>
              </a:lnSpc>
            </a:pPr>
            <a:r>
              <a:rPr kumimoji="1" lang="en-US" altLang="zh-CN" sz="1600">
                <a:ln w="12700">
                  <a:noFill/>
                </a:ln>
                <a:solidFill>
                  <a:srgbClr val="000000">
                    <a:alpha val="100000"/>
                  </a:srgbClr>
                </a:solidFill>
                <a:latin typeface="Source Han Sans CN Bold Bold"/>
                <a:ea typeface="Source Han Sans CN Bold Bold"/>
                <a:cs typeface="Source Han Sans CN Bold Bold"/>
              </a:rPr>
              <a:t>其他领域</a:t>
            </a:r>
            <a:endParaRPr kumimoji="1" lang="zh-CN" altLang="en-US"/>
          </a:p>
        </p:txBody>
      </p:sp>
      <p:sp>
        <p:nvSpPr>
          <p:cNvPr id="19" name="标题 1"/>
          <p:cNvSpPr txBox="1"/>
          <p:nvPr/>
        </p:nvSpPr>
        <p:spPr>
          <a:xfrm>
            <a:off x="8417671" y="4970716"/>
            <a:ext cx="3101229" cy="1388057"/>
          </a:xfrm>
          <a:prstGeom prst="rect">
            <a:avLst/>
          </a:prstGeom>
          <a:noFill/>
          <a:ln>
            <a:noFill/>
          </a:ln>
        </p:spPr>
        <p:txBody>
          <a:bodyPr vert="horz" wrap="square" lIns="91440" tIns="45720" rIns="91440" bIns="45720" rtlCol="0" anchor="t"/>
          <a:lstStyle/>
          <a:p>
            <a:pPr algn="l">
              <a:lnSpc>
                <a:spcPct val="150000"/>
              </a:lnSpc>
            </a:pPr>
            <a:r>
              <a:rPr kumimoji="1" lang="en-US" altLang="zh-CN" sz="1159">
                <a:ln w="12700">
                  <a:noFill/>
                </a:ln>
                <a:solidFill>
                  <a:srgbClr val="000000">
                    <a:alpha val="100000"/>
                  </a:srgbClr>
                </a:solidFill>
                <a:latin typeface="Source Han Sans CN Normal"/>
                <a:ea typeface="Source Han Sans CN Normal"/>
                <a:cs typeface="Source Han Sans CN Normal"/>
              </a:rPr>
              <a:t>在医疗保险领域，系统可以辅助保险公司对投保人的健康状况进行评估，降低保险欺诈的风险。在远程医疗领域，系统可以实现患者眼底影像的远程诊断，使患者无需前往大医院，就能得到专业的诊断服务，提高医疗资源的利用效率。</a:t>
            </a:r>
            <a:endParaRPr kumimoji="1" lang="zh-CN" altLang="en-US"/>
          </a:p>
        </p:txBody>
      </p:sp>
      <p:sp>
        <p:nvSpPr>
          <p:cNvPr id="20" name="标题 1"/>
          <p:cNvSpPr txBox="1"/>
          <p:nvPr/>
        </p:nvSpPr>
        <p:spPr>
          <a:xfrm>
            <a:off x="847725" y="450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Bold"/>
                <a:ea typeface="Source Han Sans CN Bold Bold"/>
                <a:cs typeface="Source Han Sans CN Bold Bold"/>
              </a:rPr>
              <a:t>应用场景</a:t>
            </a:r>
            <a:endParaRPr kumimoji="1" lang="zh-CN" altLang="en-US"/>
          </a:p>
        </p:txBody>
      </p:sp>
      <p:sp>
        <p:nvSpPr>
          <p:cNvPr id="21" name="标题 1"/>
          <p:cNvSpPr txBox="1"/>
          <p:nvPr/>
        </p:nvSpPr>
        <p:spPr>
          <a:xfrm>
            <a:off x="348958" y="502433"/>
            <a:ext cx="387642" cy="38764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271663" y="431800"/>
            <a:ext cx="387642" cy="387642"/>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8871626" cy="6858000"/>
          </a:xfrm>
          <a:custGeom>
            <a:avLst/>
            <a:gdLst>
              <a:gd name="connsiteX0" fmla="*/ 0 w 8871626"/>
              <a:gd name="connsiteY0" fmla="*/ 0 h 6858000"/>
              <a:gd name="connsiteX1" fmla="*/ 6674736 w 8871626"/>
              <a:gd name="connsiteY1" fmla="*/ 0 h 6858000"/>
              <a:gd name="connsiteX2" fmla="*/ 6730884 w 8871626"/>
              <a:gd name="connsiteY2" fmla="*/ 25301 h 6858000"/>
              <a:gd name="connsiteX3" fmla="*/ 8871626 w 8871626"/>
              <a:gd name="connsiteY3" fmla="*/ 3495454 h 6858000"/>
              <a:gd name="connsiteX4" fmla="*/ 7016421 w 8871626"/>
              <a:gd name="connsiteY4" fmla="*/ 6807477 h 6858000"/>
              <a:gd name="connsiteX5" fmla="*/ 6928992 w 8871626"/>
              <a:gd name="connsiteY5" fmla="*/ 6858000 h 6858000"/>
              <a:gd name="connsiteX6" fmla="*/ 0 w 8871626"/>
              <a:gd name="connsiteY6" fmla="*/ 6858000 h 6858000"/>
            </a:gdLst>
            <a:ahLst/>
            <a:cxnLst/>
            <a:rect l="l" t="t" r="r" b="b"/>
            <a:pathLst>
              <a:path w="8871626" h="6858000">
                <a:moveTo>
                  <a:pt x="0" y="0"/>
                </a:moveTo>
                <a:lnTo>
                  <a:pt x="6674736" y="0"/>
                </a:lnTo>
                <a:lnTo>
                  <a:pt x="6730884" y="25301"/>
                </a:lnTo>
                <a:cubicBezTo>
                  <a:pt x="7999672" y="658995"/>
                  <a:pt x="8871626" y="1974884"/>
                  <a:pt x="8871626" y="3495454"/>
                </a:cubicBezTo>
                <a:cubicBezTo>
                  <a:pt x="8871626" y="4899057"/>
                  <a:pt x="8128660" y="6128257"/>
                  <a:pt x="7016421" y="6807477"/>
                </a:cubicBezTo>
                <a:lnTo>
                  <a:pt x="6928992" y="6858000"/>
                </a:lnTo>
                <a:lnTo>
                  <a:pt x="0" y="6858000"/>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871626" y="0"/>
            <a:ext cx="3320374" cy="6858000"/>
          </a:xfrm>
          <a:custGeom>
            <a:avLst/>
            <a:gdLst>
              <a:gd name="connsiteX0" fmla="*/ 2872902 w 3457103"/>
              <a:gd name="connsiteY0" fmla="*/ 0 h 6858000"/>
              <a:gd name="connsiteX1" fmla="*/ 3457103 w 3457103"/>
              <a:gd name="connsiteY1" fmla="*/ 0 h 6858000"/>
              <a:gd name="connsiteX2" fmla="*/ 3457103 w 3457103"/>
              <a:gd name="connsiteY2" fmla="*/ 6858000 h 6858000"/>
              <a:gd name="connsiteX3" fmla="*/ 2872902 w 3457103"/>
              <a:gd name="connsiteY3" fmla="*/ 6858000 h 6858000"/>
              <a:gd name="connsiteX4" fmla="*/ 2661424 w 3457103"/>
              <a:gd name="connsiteY4" fmla="*/ 6858000 h 6858000"/>
              <a:gd name="connsiteX5" fmla="*/ 2524483 w 3457103"/>
              <a:gd name="connsiteY5" fmla="*/ 6853539 h 6858000"/>
              <a:gd name="connsiteX6" fmla="*/ 0 w 3457103"/>
              <a:gd name="connsiteY6" fmla="*/ 3429001 h 6858000"/>
              <a:gd name="connsiteX7" fmla="*/ 2661439 w 3457103"/>
              <a:gd name="connsiteY7" fmla="*/ 1 h 6858000"/>
              <a:gd name="connsiteX8" fmla="*/ 2872902 w 3457103"/>
              <a:gd name="connsiteY8" fmla="*/ 1 h 6858000"/>
            </a:gdLst>
            <a:ahLst/>
            <a:cxnLst/>
            <a:rect l="l" t="t" r="r" b="b"/>
            <a:pathLst>
              <a:path w="3457103" h="6858000">
                <a:moveTo>
                  <a:pt x="2872902" y="0"/>
                </a:moveTo>
                <a:lnTo>
                  <a:pt x="3457103" y="0"/>
                </a:lnTo>
                <a:lnTo>
                  <a:pt x="3457103" y="6858000"/>
                </a:lnTo>
                <a:lnTo>
                  <a:pt x="2872902" y="6858000"/>
                </a:lnTo>
                <a:lnTo>
                  <a:pt x="2661424" y="6858000"/>
                </a:lnTo>
                <a:lnTo>
                  <a:pt x="2524483" y="6853539"/>
                </a:lnTo>
                <a:cubicBezTo>
                  <a:pt x="1118259" y="6761700"/>
                  <a:pt x="0" y="5263604"/>
                  <a:pt x="0" y="3429001"/>
                </a:cubicBezTo>
                <a:cubicBezTo>
                  <a:pt x="-1" y="1535217"/>
                  <a:pt x="1191567" y="1"/>
                  <a:pt x="2661439" y="1"/>
                </a:cubicBezTo>
                <a:lnTo>
                  <a:pt x="2872902" y="1"/>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489979" y="527998"/>
            <a:ext cx="11214100" cy="5829300"/>
          </a:xfrm>
          <a:prstGeom prst="rect">
            <a:avLst/>
          </a:prstGeom>
          <a:solidFill>
            <a:schemeClr val="bg1"/>
          </a:solidFill>
          <a:ln w="9525" cap="sq">
            <a:solidFill>
              <a:schemeClr val="accent1">
                <a:lumMod val="60000"/>
                <a:lumOff val="40000"/>
                <a:alpha val="100000"/>
              </a:schemeClr>
            </a:solidFill>
            <a:miter/>
          </a:ln>
          <a:effectLst>
            <a:outerShdw blurRad="63500" sx="101000" sy="101000" algn="ctr" rotWithShape="0">
              <a:schemeClr val="accent1">
                <a:lumMod val="60000"/>
                <a:lumOff val="40000"/>
                <a:alpha val="4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flipH="1">
            <a:off x="487921" y="514350"/>
            <a:ext cx="5218612" cy="5829300"/>
          </a:xfrm>
          <a:custGeom>
            <a:avLst/>
            <a:gdLst>
              <a:gd name="connsiteX0" fmla="*/ 140769 w 4989228"/>
              <a:gd name="connsiteY0" fmla="*/ 0 h 5829300"/>
              <a:gd name="connsiteX1" fmla="*/ 4989228 w 4989228"/>
              <a:gd name="connsiteY1" fmla="*/ 0 h 5829300"/>
              <a:gd name="connsiteX2" fmla="*/ 4989228 w 4989228"/>
              <a:gd name="connsiteY2" fmla="*/ 5829300 h 5829300"/>
              <a:gd name="connsiteX3" fmla="*/ 140769 w 4989228"/>
              <a:gd name="connsiteY3" fmla="*/ 5829300 h 5829300"/>
              <a:gd name="connsiteX4" fmla="*/ 140769 w 4989228"/>
              <a:gd name="connsiteY4" fmla="*/ 0 h 5829300"/>
            </a:gdLst>
            <a:ahLst/>
            <a:cxnLst/>
            <a:rect l="l" t="t" r="r" b="b"/>
            <a:pathLst>
              <a:path w="4989228" h="5829300">
                <a:moveTo>
                  <a:pt x="140769" y="0"/>
                </a:moveTo>
                <a:lnTo>
                  <a:pt x="4989228" y="0"/>
                </a:lnTo>
                <a:lnTo>
                  <a:pt x="4989228" y="5829300"/>
                </a:lnTo>
                <a:lnTo>
                  <a:pt x="140769" y="5829300"/>
                </a:lnTo>
                <a:cubicBezTo>
                  <a:pt x="-417228" y="3973986"/>
                  <a:pt x="916940" y="2135159"/>
                  <a:pt x="140769" y="0"/>
                </a:cubicBezTo>
                <a:close/>
              </a:path>
            </a:pathLst>
          </a:custGeom>
          <a:solidFill>
            <a:schemeClr val="accent1">
              <a:lumMod val="40000"/>
              <a:lumOff val="60000"/>
              <a:alpha val="58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5637609" y="648697"/>
            <a:ext cx="1485150" cy="2468596"/>
          </a:xfrm>
          <a:prstGeom prst="rect">
            <a:avLst/>
          </a:prstGeom>
          <a:noFill/>
          <a:ln>
            <a:noFill/>
          </a:ln>
          <a:effectLst/>
        </p:spPr>
        <p:txBody>
          <a:bodyPr vert="horz" wrap="square" lIns="0" tIns="0" rIns="0" bIns="0" rtlCol="0" anchor="b"/>
          <a:lstStyle/>
          <a:p>
            <a:pPr algn="r">
              <a:lnSpc>
                <a:spcPct val="110000"/>
              </a:lnSpc>
            </a:pPr>
            <a:r>
              <a:rPr kumimoji="1" lang="en-US" altLang="zh-CN" sz="7200">
                <a:ln w="12700">
                  <a:noFill/>
                </a:ln>
                <a:solidFill>
                  <a:srgbClr val="316826">
                    <a:alpha val="100000"/>
                  </a:srgbClr>
                </a:solidFill>
                <a:latin typeface="Source Han Sans CN Bold Bold"/>
                <a:ea typeface="Source Han Sans CN Bold Bold"/>
                <a:cs typeface="Source Han Sans CN Bold Bold"/>
              </a:rPr>
              <a:t>03</a:t>
            </a:r>
            <a:endParaRPr kumimoji="1" lang="zh-CN" altLang="en-US"/>
          </a:p>
        </p:txBody>
      </p:sp>
      <p:sp>
        <p:nvSpPr>
          <p:cNvPr id="7" name="标题 1"/>
          <p:cNvSpPr txBox="1"/>
          <p:nvPr/>
        </p:nvSpPr>
        <p:spPr>
          <a:xfrm>
            <a:off x="7309635" y="2106521"/>
            <a:ext cx="1710232" cy="913787"/>
          </a:xfrm>
          <a:prstGeom prst="rect">
            <a:avLst/>
          </a:prstGeom>
          <a:noFill/>
          <a:ln>
            <a:noFill/>
          </a:ln>
        </p:spPr>
        <p:txBody>
          <a:bodyPr vert="horz" wrap="square" lIns="0" tIns="0" rIns="0" bIns="0" rtlCol="0" anchor="b"/>
          <a:lstStyle/>
          <a:p>
            <a:pPr algn="l">
              <a:lnSpc>
                <a:spcPct val="110000"/>
              </a:lnSpc>
            </a:pPr>
            <a:r>
              <a:rPr kumimoji="1" lang="en-US" altLang="zh-CN" sz="4800">
                <a:ln w="15875">
                  <a:solidFill>
                    <a:srgbClr val="428A33">
                      <a:alpha val="100000"/>
                    </a:srgbClr>
                  </a:solidFill>
                </a:ln>
                <a:noFill/>
                <a:latin typeface="Source Han Sans CN Bold Bold"/>
                <a:ea typeface="Source Han Sans CN Bold Bold"/>
                <a:cs typeface="Source Han Sans CN Bold Bold"/>
              </a:rPr>
              <a:t>PART</a:t>
            </a:r>
            <a:endParaRPr kumimoji="1" lang="zh-CN" altLang="en-US"/>
          </a:p>
        </p:txBody>
      </p:sp>
      <p:sp>
        <p:nvSpPr>
          <p:cNvPr id="8" name="标题 1"/>
          <p:cNvSpPr txBox="1"/>
          <p:nvPr/>
        </p:nvSpPr>
        <p:spPr>
          <a:xfrm>
            <a:off x="6108789" y="4664355"/>
            <a:ext cx="5143411" cy="152643"/>
          </a:xfrm>
          <a:custGeom>
            <a:avLst/>
            <a:gdLst>
              <a:gd name="connsiteX0" fmla="*/ 4821290 w 5017703"/>
              <a:gd name="connsiteY0" fmla="*/ 0 h 132727"/>
              <a:gd name="connsiteX1" fmla="*/ 4900540 w 5017703"/>
              <a:gd name="connsiteY1" fmla="*/ 0 h 132727"/>
              <a:gd name="connsiteX2" fmla="*/ 5017703 w 5017703"/>
              <a:gd name="connsiteY2" fmla="*/ 66364 h 132727"/>
              <a:gd name="connsiteX3" fmla="*/ 4900540 w 5017703"/>
              <a:gd name="connsiteY3" fmla="*/ 132727 h 132727"/>
              <a:gd name="connsiteX4" fmla="*/ 4821290 w 5017703"/>
              <a:gd name="connsiteY4" fmla="*/ 132727 h 132727"/>
              <a:gd name="connsiteX5" fmla="*/ 4882184 w 5017703"/>
              <a:gd name="connsiteY5" fmla="*/ 98236 h 132727"/>
              <a:gd name="connsiteX6" fmla="*/ 31873 w 5017703"/>
              <a:gd name="connsiteY6" fmla="*/ 98236 h 132727"/>
              <a:gd name="connsiteX7" fmla="*/ 0 w 5017703"/>
              <a:gd name="connsiteY7" fmla="*/ 66363 h 132727"/>
              <a:gd name="connsiteX8" fmla="*/ 31873 w 5017703"/>
              <a:gd name="connsiteY8" fmla="*/ 34490 h 132727"/>
              <a:gd name="connsiteX9" fmla="*/ 4882181 w 5017703"/>
              <a:gd name="connsiteY9" fmla="*/ 34490 h 132727"/>
            </a:gdLst>
            <a:ahLst/>
            <a:cxnLst/>
            <a:rect l="l" t="t" r="r" b="b"/>
            <a:pathLst>
              <a:path w="5017703" h="132727">
                <a:moveTo>
                  <a:pt x="4821290" y="0"/>
                </a:moveTo>
                <a:lnTo>
                  <a:pt x="4900540" y="0"/>
                </a:lnTo>
                <a:lnTo>
                  <a:pt x="5017703" y="66364"/>
                </a:lnTo>
                <a:lnTo>
                  <a:pt x="4900540" y="132727"/>
                </a:lnTo>
                <a:lnTo>
                  <a:pt x="4821290" y="132727"/>
                </a:lnTo>
                <a:lnTo>
                  <a:pt x="4882184" y="98236"/>
                </a:lnTo>
                <a:lnTo>
                  <a:pt x="31873" y="98236"/>
                </a:lnTo>
                <a:cubicBezTo>
                  <a:pt x="14270" y="98236"/>
                  <a:pt x="0" y="83966"/>
                  <a:pt x="0" y="66363"/>
                </a:cubicBezTo>
                <a:cubicBezTo>
                  <a:pt x="0" y="48760"/>
                  <a:pt x="14270" y="34490"/>
                  <a:pt x="31873" y="34490"/>
                </a:cubicBezTo>
                <a:lnTo>
                  <a:pt x="4882181" y="34490"/>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6071793" y="3076644"/>
            <a:ext cx="4791826" cy="1532544"/>
          </a:xfrm>
          <a:prstGeom prst="rect">
            <a:avLst/>
          </a:prstGeom>
          <a:noFill/>
          <a:ln>
            <a:noFill/>
          </a:ln>
          <a:effectLst/>
        </p:spPr>
        <p:txBody>
          <a:bodyPr vert="horz" wrap="square" lIns="0" tIns="0" rIns="0" bIns="0" rtlCol="0" anchor="ctr"/>
          <a:lstStyle/>
          <a:p>
            <a:pPr algn="l">
              <a:lnSpc>
                <a:spcPct val="130000"/>
              </a:lnSpc>
            </a:pPr>
            <a:r>
              <a:rPr kumimoji="1" lang="en-US" altLang="zh-CN" sz="4000">
                <a:ln w="12700">
                  <a:noFill/>
                </a:ln>
                <a:solidFill>
                  <a:srgbClr val="0451C5">
                    <a:alpha val="100000"/>
                  </a:srgbClr>
                </a:solidFill>
                <a:latin typeface="Source Han Sans CN Bold Bold"/>
                <a:ea typeface="Source Han Sans CN Bold Bold"/>
                <a:cs typeface="Source Han Sans CN Bold Bold"/>
              </a:rPr>
              <a:t>系统设计</a:t>
            </a:r>
            <a:endParaRPr kumimoji="1" lang="zh-CN" altLang="en-US"/>
          </a:p>
        </p:txBody>
      </p:sp>
      <p:pic>
        <p:nvPicPr>
          <p:cNvPr id="10" name="图片 9"/>
          <p:cNvPicPr>
            <a:picLocks noChangeAspect="1"/>
          </p:cNvPicPr>
          <p:nvPr/>
        </p:nvPicPr>
        <p:blipFill>
          <a:blip r:embed="rId3">
            <a:alphaModFix/>
          </a:blip>
          <a:srcRect/>
          <a:stretch>
            <a:fillRect/>
          </a:stretch>
        </p:blipFill>
        <p:spPr>
          <a:xfrm>
            <a:off x="696111" y="389880"/>
            <a:ext cx="4576239" cy="607823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a:spLocks noGrp="1" noRot="1" noMove="1" noResize="1" noEditPoints="1" noAdjustHandles="1" noChangeArrowheads="1" noChangeShapeType="1"/>
          </p:cNvSpPr>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241876" y="6088805"/>
            <a:ext cx="610154" cy="639060"/>
          </a:xfrm>
          <a:custGeom>
            <a:avLst/>
            <a:gdLst>
              <a:gd name="T0" fmla="*/ 1516 w 1562"/>
              <a:gd name="T1" fmla="*/ 0 h 1636"/>
              <a:gd name="T2" fmla="*/ 1562 w 1562"/>
              <a:gd name="T3" fmla="*/ 11 h 1636"/>
              <a:gd name="T4" fmla="*/ 781 w 1562"/>
              <a:gd name="T5" fmla="*/ 1636 h 1636"/>
              <a:gd name="T6" fmla="*/ 0 w 1562"/>
              <a:gd name="T7" fmla="*/ 11 h 1636"/>
              <a:gd name="T8" fmla="*/ 57 w 1562"/>
              <a:gd name="T9" fmla="*/ 0 h 1636"/>
              <a:gd name="T10" fmla="*/ 1516 w 1562"/>
              <a:gd name="T11" fmla="*/ 0 h 1636"/>
            </a:gdLst>
            <a:ahLst/>
            <a:cxnLst/>
            <a:rect l="0" t="0" r="r" b="b"/>
            <a:pathLst>
              <a:path w="1562" h="1636">
                <a:moveTo>
                  <a:pt x="1516" y="0"/>
                </a:moveTo>
                <a:lnTo>
                  <a:pt x="1562" y="11"/>
                </a:lnTo>
                <a:lnTo>
                  <a:pt x="781" y="1636"/>
                </a:lnTo>
                <a:lnTo>
                  <a:pt x="0" y="11"/>
                </a:lnTo>
                <a:lnTo>
                  <a:pt x="57" y="0"/>
                </a:lnTo>
                <a:lnTo>
                  <a:pt x="1516" y="0"/>
                </a:lnTo>
                <a:close/>
              </a:path>
            </a:pathLst>
          </a:custGeom>
          <a:solidFill>
            <a:schemeClr val="accent1"/>
          </a:solidFill>
          <a:ln cap="sq">
            <a:noFill/>
          </a:ln>
        </p:spPr>
        <p:txBody>
          <a:bodyPr vert="horz" wrap="square" lIns="91440" tIns="45720" rIns="91440" bIns="45720" rtlCol="0" anchor="t"/>
          <a:lstStyle/>
          <a:p>
            <a:pPr algn="ctr">
              <a:lnSpc>
                <a:spcPct val="100000"/>
              </a:lnSpc>
            </a:pPr>
            <a:endParaRPr kumimoji="1" lang="zh-CN" altLang="en-US"/>
          </a:p>
        </p:txBody>
      </p:sp>
      <p:sp>
        <p:nvSpPr>
          <p:cNvPr id="4" name="标题 1"/>
          <p:cNvSpPr txBox="1"/>
          <p:nvPr/>
        </p:nvSpPr>
        <p:spPr>
          <a:xfrm>
            <a:off x="244410" y="6025934"/>
            <a:ext cx="619528" cy="201170"/>
          </a:xfrm>
          <a:prstGeom prst="ellipse">
            <a:avLst/>
          </a:prstGeom>
          <a:solidFill>
            <a:schemeClr val="bg1">
              <a:lumMod val="85000"/>
            </a:schemeClr>
          </a:solidFill>
          <a:ln cap="sq">
            <a:noFill/>
          </a:ln>
        </p:spPr>
        <p:txBody>
          <a:bodyPr vert="horz" wrap="square" lIns="91440" tIns="45720" rIns="91440" bIns="45720" rtlCol="0" anchor="t"/>
          <a:lstStyle/>
          <a:p>
            <a:pPr algn="ctr">
              <a:lnSpc>
                <a:spcPct val="100000"/>
              </a:lnSpc>
            </a:pPr>
            <a:endParaRPr kumimoji="1" lang="zh-CN" altLang="en-US"/>
          </a:p>
        </p:txBody>
      </p:sp>
      <p:sp>
        <p:nvSpPr>
          <p:cNvPr id="5" name="标题 1"/>
          <p:cNvSpPr txBox="1"/>
          <p:nvPr/>
        </p:nvSpPr>
        <p:spPr>
          <a:xfrm>
            <a:off x="372112" y="5189495"/>
            <a:ext cx="349682" cy="350820"/>
          </a:xfrm>
          <a:custGeom>
            <a:avLst/>
            <a:gdLst>
              <a:gd name="T0" fmla="*/ 128 w 257"/>
              <a:gd name="T1" fmla="*/ 0 h 258"/>
              <a:gd name="T2" fmla="*/ 0 w 257"/>
              <a:gd name="T3" fmla="*/ 129 h 258"/>
              <a:gd name="T4" fmla="*/ 128 w 257"/>
              <a:gd name="T5" fmla="*/ 258 h 258"/>
              <a:gd name="T6" fmla="*/ 257 w 257"/>
              <a:gd name="T7" fmla="*/ 129 h 258"/>
              <a:gd name="T8" fmla="*/ 128 w 257"/>
              <a:gd name="T9" fmla="*/ 0 h 258"/>
              <a:gd name="T10" fmla="*/ 183 w 257"/>
              <a:gd name="T11" fmla="*/ 132 h 258"/>
              <a:gd name="T12" fmla="*/ 167 w 257"/>
              <a:gd name="T13" fmla="*/ 147 h 258"/>
              <a:gd name="T14" fmla="*/ 109 w 257"/>
              <a:gd name="T15" fmla="*/ 205 h 258"/>
              <a:gd name="T16" fmla="*/ 104 w 257"/>
              <a:gd name="T17" fmla="*/ 205 h 258"/>
              <a:gd name="T18" fmla="*/ 88 w 257"/>
              <a:gd name="T19" fmla="*/ 190 h 258"/>
              <a:gd name="T20" fmla="*/ 88 w 257"/>
              <a:gd name="T21" fmla="*/ 184 h 258"/>
              <a:gd name="T22" fmla="*/ 143 w 257"/>
              <a:gd name="T23" fmla="*/ 129 h 258"/>
              <a:gd name="T24" fmla="*/ 88 w 257"/>
              <a:gd name="T25" fmla="*/ 73 h 258"/>
              <a:gd name="T26" fmla="*/ 88 w 257"/>
              <a:gd name="T27" fmla="*/ 68 h 258"/>
              <a:gd name="T28" fmla="*/ 104 w 257"/>
              <a:gd name="T29" fmla="*/ 52 h 258"/>
              <a:gd name="T30" fmla="*/ 109 w 257"/>
              <a:gd name="T31" fmla="*/ 52 h 258"/>
              <a:gd name="T32" fmla="*/ 167 w 257"/>
              <a:gd name="T33" fmla="*/ 110 h 258"/>
              <a:gd name="T34" fmla="*/ 183 w 257"/>
              <a:gd name="T35" fmla="*/ 126 h 258"/>
              <a:gd name="T36" fmla="*/ 183 w 257"/>
              <a:gd name="T37" fmla="*/ 132 h 258"/>
            </a:gdLst>
            <a:ahLst/>
            <a:cxnLst/>
            <a:rect l="0" t="0" r="r" b="b"/>
            <a:pathLst>
              <a:path w="257" h="258">
                <a:moveTo>
                  <a:pt x="128" y="0"/>
                </a:moveTo>
                <a:cubicBezTo>
                  <a:pt x="57" y="0"/>
                  <a:pt x="0" y="58"/>
                  <a:pt x="0" y="129"/>
                </a:cubicBezTo>
                <a:cubicBezTo>
                  <a:pt x="0" y="200"/>
                  <a:pt x="57" y="258"/>
                  <a:pt x="128" y="258"/>
                </a:cubicBezTo>
                <a:cubicBezTo>
                  <a:pt x="200" y="258"/>
                  <a:pt x="257" y="200"/>
                  <a:pt x="257" y="129"/>
                </a:cubicBezTo>
                <a:cubicBezTo>
                  <a:pt x="257" y="58"/>
                  <a:pt x="200" y="0"/>
                  <a:pt x="128" y="0"/>
                </a:cubicBezTo>
                <a:close/>
                <a:moveTo>
                  <a:pt x="183" y="132"/>
                </a:moveTo>
                <a:cubicBezTo>
                  <a:pt x="167" y="147"/>
                  <a:pt x="167" y="147"/>
                  <a:pt x="167" y="147"/>
                </a:cubicBezTo>
                <a:cubicBezTo>
                  <a:pt x="109" y="205"/>
                  <a:pt x="109" y="205"/>
                  <a:pt x="109" y="205"/>
                </a:cubicBezTo>
                <a:cubicBezTo>
                  <a:pt x="108" y="207"/>
                  <a:pt x="105" y="207"/>
                  <a:pt x="104" y="205"/>
                </a:cubicBezTo>
                <a:cubicBezTo>
                  <a:pt x="88" y="190"/>
                  <a:pt x="88" y="190"/>
                  <a:pt x="88" y="190"/>
                </a:cubicBezTo>
                <a:cubicBezTo>
                  <a:pt x="86" y="188"/>
                  <a:pt x="86" y="185"/>
                  <a:pt x="88" y="184"/>
                </a:cubicBezTo>
                <a:cubicBezTo>
                  <a:pt x="143" y="129"/>
                  <a:pt x="143" y="129"/>
                  <a:pt x="143" y="129"/>
                </a:cubicBezTo>
                <a:cubicBezTo>
                  <a:pt x="88" y="73"/>
                  <a:pt x="88" y="73"/>
                  <a:pt x="88" y="73"/>
                </a:cubicBezTo>
                <a:cubicBezTo>
                  <a:pt x="86" y="72"/>
                  <a:pt x="86" y="69"/>
                  <a:pt x="88" y="68"/>
                </a:cubicBezTo>
                <a:cubicBezTo>
                  <a:pt x="104" y="52"/>
                  <a:pt x="104" y="52"/>
                  <a:pt x="104" y="52"/>
                </a:cubicBezTo>
                <a:cubicBezTo>
                  <a:pt x="105" y="50"/>
                  <a:pt x="108" y="50"/>
                  <a:pt x="109" y="52"/>
                </a:cubicBezTo>
                <a:cubicBezTo>
                  <a:pt x="167" y="110"/>
                  <a:pt x="167" y="110"/>
                  <a:pt x="167" y="110"/>
                </a:cubicBezTo>
                <a:cubicBezTo>
                  <a:pt x="183" y="126"/>
                  <a:pt x="183" y="126"/>
                  <a:pt x="183" y="126"/>
                </a:cubicBezTo>
                <a:cubicBezTo>
                  <a:pt x="185" y="127"/>
                  <a:pt x="185" y="130"/>
                  <a:pt x="183" y="132"/>
                </a:cubicBezTo>
                <a:close/>
              </a:path>
            </a:pathLst>
          </a:custGeom>
          <a:solidFill>
            <a:schemeClr val="accent1"/>
          </a:solidFill>
          <a:ln cap="sq">
            <a:noFill/>
          </a:ln>
        </p:spPr>
        <p:txBody>
          <a:bodyPr vert="horz" wrap="square" lIns="91440" tIns="45720" rIns="91440" bIns="45720" rtlCol="0" anchor="t"/>
          <a:lstStyle/>
          <a:p>
            <a:pPr algn="ctr">
              <a:lnSpc>
                <a:spcPct val="110000"/>
              </a:lnSpc>
            </a:pPr>
            <a:endParaRPr kumimoji="1" lang="zh-CN" altLang="en-US"/>
          </a:p>
        </p:txBody>
      </p:sp>
      <p:sp>
        <p:nvSpPr>
          <p:cNvPr id="7" name="标题 1"/>
          <p:cNvSpPr txBox="1"/>
          <p:nvPr/>
        </p:nvSpPr>
        <p:spPr>
          <a:xfrm>
            <a:off x="5831239" y="5939882"/>
            <a:ext cx="619528" cy="201170"/>
          </a:xfrm>
          <a:prstGeom prst="ellipse">
            <a:avLst/>
          </a:prstGeom>
          <a:solidFill>
            <a:schemeClr val="bg1">
              <a:lumMod val="85000"/>
            </a:schemeClr>
          </a:solidFill>
          <a:ln cap="sq">
            <a:noFill/>
          </a:ln>
        </p:spPr>
        <p:txBody>
          <a:bodyPr vert="horz" wrap="square" lIns="91440" tIns="45720" rIns="91440" bIns="45720" rtlCol="0" anchor="t"/>
          <a:lstStyle/>
          <a:p>
            <a:pPr algn="ctr">
              <a:lnSpc>
                <a:spcPct val="100000"/>
              </a:lnSpc>
            </a:pPr>
            <a:endParaRPr kumimoji="1" lang="zh-CN" altLang="en-US"/>
          </a:p>
        </p:txBody>
      </p:sp>
      <p:grpSp>
        <p:nvGrpSpPr>
          <p:cNvPr id="20" name="组合 19">
            <a:extLst>
              <a:ext uri="{FF2B5EF4-FFF2-40B4-BE49-F238E27FC236}">
                <a16:creationId xmlns:a16="http://schemas.microsoft.com/office/drawing/2014/main" id="{4367F334-E9F8-52DA-6795-4C2E1F133328}"/>
              </a:ext>
            </a:extLst>
          </p:cNvPr>
          <p:cNvGrpSpPr/>
          <p:nvPr/>
        </p:nvGrpSpPr>
        <p:grpSpPr>
          <a:xfrm>
            <a:off x="5824047" y="5124381"/>
            <a:ext cx="610154" cy="1557125"/>
            <a:chOff x="5824047" y="5124381"/>
            <a:chExt cx="610154" cy="1557125"/>
          </a:xfrm>
        </p:grpSpPr>
        <p:sp>
          <p:nvSpPr>
            <p:cNvPr id="6" name="标题 1"/>
            <p:cNvSpPr txBox="1"/>
            <p:nvPr/>
          </p:nvSpPr>
          <p:spPr>
            <a:xfrm>
              <a:off x="5824047" y="6042446"/>
              <a:ext cx="610154" cy="639060"/>
            </a:xfrm>
            <a:custGeom>
              <a:avLst/>
              <a:gdLst>
                <a:gd name="T0" fmla="*/ 1516 w 1562"/>
                <a:gd name="T1" fmla="*/ 0 h 1636"/>
                <a:gd name="T2" fmla="*/ 1562 w 1562"/>
                <a:gd name="T3" fmla="*/ 11 h 1636"/>
                <a:gd name="T4" fmla="*/ 781 w 1562"/>
                <a:gd name="T5" fmla="*/ 1636 h 1636"/>
                <a:gd name="T6" fmla="*/ 0 w 1562"/>
                <a:gd name="T7" fmla="*/ 11 h 1636"/>
                <a:gd name="T8" fmla="*/ 57 w 1562"/>
                <a:gd name="T9" fmla="*/ 0 h 1636"/>
                <a:gd name="T10" fmla="*/ 1516 w 1562"/>
                <a:gd name="T11" fmla="*/ 0 h 1636"/>
              </a:gdLst>
              <a:ahLst/>
              <a:cxnLst/>
              <a:rect l="0" t="0" r="r" b="b"/>
              <a:pathLst>
                <a:path w="1562" h="1636">
                  <a:moveTo>
                    <a:pt x="1516" y="0"/>
                  </a:moveTo>
                  <a:lnTo>
                    <a:pt x="1562" y="11"/>
                  </a:lnTo>
                  <a:lnTo>
                    <a:pt x="781" y="1636"/>
                  </a:lnTo>
                  <a:lnTo>
                    <a:pt x="0" y="11"/>
                  </a:lnTo>
                  <a:lnTo>
                    <a:pt x="57" y="0"/>
                  </a:lnTo>
                  <a:lnTo>
                    <a:pt x="1516" y="0"/>
                  </a:lnTo>
                  <a:close/>
                </a:path>
              </a:pathLst>
            </a:custGeom>
            <a:solidFill>
              <a:schemeClr val="accent1">
                <a:lumMod val="50000"/>
              </a:schemeClr>
            </a:solidFill>
            <a:ln cap="sq">
              <a:noFill/>
            </a:ln>
          </p:spPr>
          <p:txBody>
            <a:bodyPr vert="horz" wrap="square" lIns="91440" tIns="45720" rIns="91440" bIns="45720" rtlCol="0" anchor="t"/>
            <a:lstStyle/>
            <a:p>
              <a:pPr algn="ctr">
                <a:lnSpc>
                  <a:spcPct val="100000"/>
                </a:lnSpc>
              </a:pPr>
              <a:endParaRPr kumimoji="1" lang="zh-CN" altLang="en-US"/>
            </a:p>
          </p:txBody>
        </p:sp>
        <p:sp>
          <p:nvSpPr>
            <p:cNvPr id="8" name="标题 1"/>
            <p:cNvSpPr txBox="1"/>
            <p:nvPr/>
          </p:nvSpPr>
          <p:spPr>
            <a:xfrm>
              <a:off x="5966072" y="5124381"/>
              <a:ext cx="349682" cy="350820"/>
            </a:xfrm>
            <a:custGeom>
              <a:avLst/>
              <a:gdLst>
                <a:gd name="T0" fmla="*/ 128 w 257"/>
                <a:gd name="T1" fmla="*/ 0 h 258"/>
                <a:gd name="T2" fmla="*/ 0 w 257"/>
                <a:gd name="T3" fmla="*/ 129 h 258"/>
                <a:gd name="T4" fmla="*/ 128 w 257"/>
                <a:gd name="T5" fmla="*/ 258 h 258"/>
                <a:gd name="T6" fmla="*/ 257 w 257"/>
                <a:gd name="T7" fmla="*/ 129 h 258"/>
                <a:gd name="T8" fmla="*/ 128 w 257"/>
                <a:gd name="T9" fmla="*/ 0 h 258"/>
                <a:gd name="T10" fmla="*/ 183 w 257"/>
                <a:gd name="T11" fmla="*/ 132 h 258"/>
                <a:gd name="T12" fmla="*/ 167 w 257"/>
                <a:gd name="T13" fmla="*/ 147 h 258"/>
                <a:gd name="T14" fmla="*/ 109 w 257"/>
                <a:gd name="T15" fmla="*/ 205 h 258"/>
                <a:gd name="T16" fmla="*/ 104 w 257"/>
                <a:gd name="T17" fmla="*/ 205 h 258"/>
                <a:gd name="T18" fmla="*/ 88 w 257"/>
                <a:gd name="T19" fmla="*/ 190 h 258"/>
                <a:gd name="T20" fmla="*/ 88 w 257"/>
                <a:gd name="T21" fmla="*/ 184 h 258"/>
                <a:gd name="T22" fmla="*/ 143 w 257"/>
                <a:gd name="T23" fmla="*/ 129 h 258"/>
                <a:gd name="T24" fmla="*/ 88 w 257"/>
                <a:gd name="T25" fmla="*/ 73 h 258"/>
                <a:gd name="T26" fmla="*/ 88 w 257"/>
                <a:gd name="T27" fmla="*/ 68 h 258"/>
                <a:gd name="T28" fmla="*/ 104 w 257"/>
                <a:gd name="T29" fmla="*/ 52 h 258"/>
                <a:gd name="T30" fmla="*/ 109 w 257"/>
                <a:gd name="T31" fmla="*/ 52 h 258"/>
                <a:gd name="T32" fmla="*/ 167 w 257"/>
                <a:gd name="T33" fmla="*/ 110 h 258"/>
                <a:gd name="T34" fmla="*/ 183 w 257"/>
                <a:gd name="T35" fmla="*/ 126 h 258"/>
                <a:gd name="T36" fmla="*/ 183 w 257"/>
                <a:gd name="T37" fmla="*/ 132 h 258"/>
              </a:gdLst>
              <a:ahLst/>
              <a:cxnLst/>
              <a:rect l="0" t="0" r="r" b="b"/>
              <a:pathLst>
                <a:path w="257" h="258">
                  <a:moveTo>
                    <a:pt x="128" y="0"/>
                  </a:moveTo>
                  <a:cubicBezTo>
                    <a:pt x="57" y="0"/>
                    <a:pt x="0" y="58"/>
                    <a:pt x="0" y="129"/>
                  </a:cubicBezTo>
                  <a:cubicBezTo>
                    <a:pt x="0" y="200"/>
                    <a:pt x="57" y="258"/>
                    <a:pt x="128" y="258"/>
                  </a:cubicBezTo>
                  <a:cubicBezTo>
                    <a:pt x="200" y="258"/>
                    <a:pt x="257" y="200"/>
                    <a:pt x="257" y="129"/>
                  </a:cubicBezTo>
                  <a:cubicBezTo>
                    <a:pt x="257" y="58"/>
                    <a:pt x="200" y="0"/>
                    <a:pt x="128" y="0"/>
                  </a:cubicBezTo>
                  <a:close/>
                  <a:moveTo>
                    <a:pt x="183" y="132"/>
                  </a:moveTo>
                  <a:cubicBezTo>
                    <a:pt x="167" y="147"/>
                    <a:pt x="167" y="147"/>
                    <a:pt x="167" y="147"/>
                  </a:cubicBezTo>
                  <a:cubicBezTo>
                    <a:pt x="109" y="205"/>
                    <a:pt x="109" y="205"/>
                    <a:pt x="109" y="205"/>
                  </a:cubicBezTo>
                  <a:cubicBezTo>
                    <a:pt x="108" y="207"/>
                    <a:pt x="105" y="207"/>
                    <a:pt x="104" y="205"/>
                  </a:cubicBezTo>
                  <a:cubicBezTo>
                    <a:pt x="88" y="190"/>
                    <a:pt x="88" y="190"/>
                    <a:pt x="88" y="190"/>
                  </a:cubicBezTo>
                  <a:cubicBezTo>
                    <a:pt x="86" y="188"/>
                    <a:pt x="86" y="185"/>
                    <a:pt x="88" y="184"/>
                  </a:cubicBezTo>
                  <a:cubicBezTo>
                    <a:pt x="143" y="129"/>
                    <a:pt x="143" y="129"/>
                    <a:pt x="143" y="129"/>
                  </a:cubicBezTo>
                  <a:cubicBezTo>
                    <a:pt x="88" y="73"/>
                    <a:pt x="88" y="73"/>
                    <a:pt x="88" y="73"/>
                  </a:cubicBezTo>
                  <a:cubicBezTo>
                    <a:pt x="86" y="72"/>
                    <a:pt x="86" y="69"/>
                    <a:pt x="88" y="68"/>
                  </a:cubicBezTo>
                  <a:cubicBezTo>
                    <a:pt x="104" y="52"/>
                    <a:pt x="104" y="52"/>
                    <a:pt x="104" y="52"/>
                  </a:cubicBezTo>
                  <a:cubicBezTo>
                    <a:pt x="105" y="50"/>
                    <a:pt x="108" y="50"/>
                    <a:pt x="109" y="52"/>
                  </a:cubicBezTo>
                  <a:cubicBezTo>
                    <a:pt x="167" y="110"/>
                    <a:pt x="167" y="110"/>
                    <a:pt x="167" y="110"/>
                  </a:cubicBezTo>
                  <a:cubicBezTo>
                    <a:pt x="183" y="126"/>
                    <a:pt x="183" y="126"/>
                    <a:pt x="183" y="126"/>
                  </a:cubicBezTo>
                  <a:cubicBezTo>
                    <a:pt x="185" y="127"/>
                    <a:pt x="185" y="130"/>
                    <a:pt x="183" y="132"/>
                  </a:cubicBezTo>
                  <a:close/>
                </a:path>
              </a:pathLst>
            </a:custGeom>
            <a:solidFill>
              <a:schemeClr val="accent1">
                <a:lumMod val="50000"/>
              </a:schemeClr>
            </a:solidFill>
            <a:ln cap="sq">
              <a:noFill/>
            </a:ln>
          </p:spPr>
          <p:txBody>
            <a:bodyPr vert="horz" wrap="square" lIns="91440" tIns="45720" rIns="91440" bIns="45720" rtlCol="0" anchor="t"/>
            <a:lstStyle/>
            <a:p>
              <a:pPr algn="ctr">
                <a:lnSpc>
                  <a:spcPct val="110000"/>
                </a:lnSpc>
              </a:pPr>
              <a:endParaRPr kumimoji="1" lang="zh-CN" altLang="en-US"/>
            </a:p>
          </p:txBody>
        </p:sp>
      </p:grpSp>
      <p:pic>
        <p:nvPicPr>
          <p:cNvPr id="19" name="图片 18" descr="IMG_260">
            <a:extLst>
              <a:ext uri="{FF2B5EF4-FFF2-40B4-BE49-F238E27FC236}">
                <a16:creationId xmlns:a16="http://schemas.microsoft.com/office/drawing/2014/main" id="{63447BBA-CB08-6657-E61B-25E48FEB3B1A}"/>
              </a:ext>
            </a:extLst>
          </p:cNvPr>
          <p:cNvPicPr>
            <a:picLocks noChangeAspect="1"/>
          </p:cNvPicPr>
          <p:nvPr/>
        </p:nvPicPr>
        <p:blipFill>
          <a:blip r:embed="rId3"/>
          <a:stretch>
            <a:fillRect/>
          </a:stretch>
        </p:blipFill>
        <p:spPr>
          <a:xfrm>
            <a:off x="6412658" y="624936"/>
            <a:ext cx="5271770" cy="3187700"/>
          </a:xfrm>
          <a:prstGeom prst="rect">
            <a:avLst/>
          </a:prstGeom>
          <a:gradFill>
            <a:gsLst>
              <a:gs pos="53000">
                <a:schemeClr val="accent1">
                  <a:lumMod val="5000"/>
                  <a:lumOff val="95000"/>
                  <a:alpha val="0"/>
                </a:schemeClr>
              </a:gs>
              <a:gs pos="17822">
                <a:schemeClr val="accent1">
                  <a:lumMod val="5000"/>
                  <a:lumOff val="95000"/>
                  <a:alpha val="0"/>
                </a:schemeClr>
              </a:gs>
              <a:gs pos="95000">
                <a:schemeClr val="accent1">
                  <a:lumMod val="20000"/>
                  <a:lumOff val="80000"/>
                </a:schemeClr>
              </a:gs>
            </a:gsLst>
            <a:lin ang="5400000" scaled="0"/>
          </a:gradFill>
          <a:ln w="9525">
            <a:noFill/>
          </a:ln>
        </p:spPr>
      </p:pic>
      <p:pic>
        <p:nvPicPr>
          <p:cNvPr id="18" name="图片 17" descr="IMG_258">
            <a:extLst>
              <a:ext uri="{FF2B5EF4-FFF2-40B4-BE49-F238E27FC236}">
                <a16:creationId xmlns:a16="http://schemas.microsoft.com/office/drawing/2014/main" id="{F2657585-7A1F-D10D-0CAE-165ADCB0AE90}"/>
              </a:ext>
            </a:extLst>
          </p:cNvPr>
          <p:cNvPicPr>
            <a:picLocks noChangeAspect="1"/>
          </p:cNvPicPr>
          <p:nvPr/>
        </p:nvPicPr>
        <p:blipFill>
          <a:blip r:embed="rId4"/>
          <a:stretch>
            <a:fillRect/>
          </a:stretch>
        </p:blipFill>
        <p:spPr>
          <a:xfrm>
            <a:off x="102908" y="929073"/>
            <a:ext cx="6249729" cy="1251903"/>
          </a:xfrm>
          <a:prstGeom prst="rect">
            <a:avLst/>
          </a:prstGeom>
          <a:noFill/>
          <a:ln w="9525">
            <a:noFill/>
          </a:ln>
        </p:spPr>
      </p:pic>
      <p:sp>
        <p:nvSpPr>
          <p:cNvPr id="9" name="标题 1"/>
          <p:cNvSpPr txBox="1"/>
          <p:nvPr/>
        </p:nvSpPr>
        <p:spPr>
          <a:xfrm>
            <a:off x="348958" y="2595197"/>
            <a:ext cx="5688981" cy="1662506"/>
          </a:xfrm>
          <a:prstGeom prst="rect">
            <a:avLst/>
          </a:prstGeom>
          <a:noFill/>
          <a:ln>
            <a:noFill/>
          </a:ln>
        </p:spPr>
        <p:txBody>
          <a:bodyPr vert="horz" wrap="square" lIns="0" tIns="0" rIns="0" bIns="0" rtlCol="0" anchor="t"/>
          <a:lstStyle/>
          <a:p>
            <a:pPr>
              <a:lnSpc>
                <a:spcPct val="130000"/>
              </a:lnSpc>
            </a:pPr>
            <a:r>
              <a:rPr kumimoji="1" lang="zh-CN" altLang="zh-CN" sz="1264" dirty="0">
                <a:ln w="12700">
                  <a:noFill/>
                </a:ln>
                <a:solidFill>
                  <a:srgbClr val="262626">
                    <a:alpha val="100000"/>
                  </a:srgbClr>
                </a:solidFill>
                <a:latin typeface="Source Han Sans CN Normal"/>
                <a:ea typeface="Source Han Sans CN Normal"/>
              </a:rPr>
              <a:t>数据集包含八类标签，分别为</a:t>
            </a:r>
            <a:r>
              <a:rPr kumimoji="1" lang="en-US" altLang="zh-CN" sz="1264" dirty="0">
                <a:ln w="12700">
                  <a:noFill/>
                </a:ln>
                <a:solidFill>
                  <a:srgbClr val="262626">
                    <a:alpha val="100000"/>
                  </a:srgbClr>
                </a:solidFill>
                <a:latin typeface="Source Han Sans CN Normal"/>
                <a:ea typeface="Source Han Sans CN Normal"/>
              </a:rPr>
              <a:t>AMD</a:t>
            </a:r>
            <a:r>
              <a:rPr kumimoji="1" lang="zh-CN" altLang="zh-CN" sz="1264" dirty="0">
                <a:ln w="12700">
                  <a:noFill/>
                </a:ln>
                <a:solidFill>
                  <a:srgbClr val="262626">
                    <a:alpha val="100000"/>
                  </a:srgbClr>
                </a:solidFill>
                <a:latin typeface="Source Han Sans CN Normal"/>
                <a:ea typeface="Source Han Sans CN Normal"/>
              </a:rPr>
              <a:t>（</a:t>
            </a:r>
            <a:r>
              <a:rPr kumimoji="1" lang="en-US" altLang="zh-CN" sz="1264" dirty="0">
                <a:ln w="12700">
                  <a:noFill/>
                </a:ln>
                <a:solidFill>
                  <a:srgbClr val="262626">
                    <a:alpha val="100000"/>
                  </a:srgbClr>
                </a:solidFill>
                <a:latin typeface="Source Han Sans CN Normal"/>
                <a:ea typeface="Source Han Sans CN Normal"/>
              </a:rPr>
              <a:t>A</a:t>
            </a:r>
            <a:r>
              <a:rPr kumimoji="1" lang="zh-CN" altLang="zh-CN" sz="1264" dirty="0">
                <a:ln w="12700">
                  <a:noFill/>
                </a:ln>
                <a:solidFill>
                  <a:srgbClr val="262626">
                    <a:alpha val="100000"/>
                  </a:srgbClr>
                </a:solidFill>
                <a:latin typeface="Source Han Sans CN Normal"/>
                <a:ea typeface="Source Han Sans CN Normal"/>
              </a:rPr>
              <a:t>）、白内障（</a:t>
            </a:r>
            <a:r>
              <a:rPr kumimoji="1" lang="en-US" altLang="zh-CN" sz="1264" dirty="0">
                <a:ln w="12700">
                  <a:noFill/>
                </a:ln>
                <a:solidFill>
                  <a:srgbClr val="262626">
                    <a:alpha val="100000"/>
                  </a:srgbClr>
                </a:solidFill>
                <a:latin typeface="Source Han Sans CN Normal"/>
                <a:ea typeface="Source Han Sans CN Normal"/>
              </a:rPr>
              <a:t>C</a:t>
            </a:r>
            <a:r>
              <a:rPr kumimoji="1" lang="zh-CN" altLang="zh-CN" sz="1264" dirty="0">
                <a:ln w="12700">
                  <a:noFill/>
                </a:ln>
                <a:solidFill>
                  <a:srgbClr val="262626">
                    <a:alpha val="100000"/>
                  </a:srgbClr>
                </a:solidFill>
                <a:latin typeface="Source Han Sans CN Normal"/>
                <a:ea typeface="Source Han Sans CN Normal"/>
              </a:rPr>
              <a:t>）、糖尿病（</a:t>
            </a:r>
            <a:r>
              <a:rPr kumimoji="1" lang="en-US" altLang="zh-CN" sz="1264" dirty="0">
                <a:ln w="12700">
                  <a:noFill/>
                </a:ln>
                <a:solidFill>
                  <a:srgbClr val="262626">
                    <a:alpha val="100000"/>
                  </a:srgbClr>
                </a:solidFill>
                <a:latin typeface="Source Han Sans CN Normal"/>
                <a:ea typeface="Source Han Sans CN Normal"/>
              </a:rPr>
              <a:t>D</a:t>
            </a:r>
            <a:r>
              <a:rPr kumimoji="1" lang="zh-CN" altLang="zh-CN" sz="1264" dirty="0">
                <a:ln w="12700">
                  <a:noFill/>
                </a:ln>
                <a:solidFill>
                  <a:srgbClr val="262626">
                    <a:alpha val="100000"/>
                  </a:srgbClr>
                </a:solidFill>
                <a:latin typeface="Source Han Sans CN Normal"/>
                <a:ea typeface="Source Han Sans CN Normal"/>
              </a:rPr>
              <a:t>）、青光眼（</a:t>
            </a:r>
            <a:r>
              <a:rPr kumimoji="1" lang="en-US" altLang="zh-CN" sz="1264" dirty="0">
                <a:ln w="12700">
                  <a:noFill/>
                </a:ln>
                <a:solidFill>
                  <a:srgbClr val="262626">
                    <a:alpha val="100000"/>
                  </a:srgbClr>
                </a:solidFill>
                <a:latin typeface="Source Han Sans CN Normal"/>
                <a:ea typeface="Source Han Sans CN Normal"/>
              </a:rPr>
              <a:t>G</a:t>
            </a:r>
            <a:r>
              <a:rPr kumimoji="1" lang="zh-CN" altLang="zh-CN" sz="1264" dirty="0">
                <a:ln w="12700">
                  <a:noFill/>
                </a:ln>
                <a:solidFill>
                  <a:srgbClr val="262626">
                    <a:alpha val="100000"/>
                  </a:srgbClr>
                </a:solidFill>
                <a:latin typeface="Source Han Sans CN Normal"/>
                <a:ea typeface="Source Han Sans CN Normal"/>
              </a:rPr>
              <a:t>）、高血压（</a:t>
            </a:r>
            <a:r>
              <a:rPr kumimoji="1" lang="en-US" altLang="zh-CN" sz="1264" dirty="0">
                <a:ln w="12700">
                  <a:noFill/>
                </a:ln>
                <a:solidFill>
                  <a:srgbClr val="262626">
                    <a:alpha val="100000"/>
                  </a:srgbClr>
                </a:solidFill>
                <a:latin typeface="Source Han Sans CN Normal"/>
                <a:ea typeface="Source Han Sans CN Normal"/>
              </a:rPr>
              <a:t>H</a:t>
            </a:r>
            <a:r>
              <a:rPr kumimoji="1" lang="zh-CN" altLang="zh-CN" sz="1264" dirty="0">
                <a:ln w="12700">
                  <a:noFill/>
                </a:ln>
                <a:solidFill>
                  <a:srgbClr val="262626">
                    <a:alpha val="100000"/>
                  </a:srgbClr>
                </a:solidFill>
                <a:latin typeface="Source Han Sans CN Normal"/>
                <a:ea typeface="Source Han Sans CN Normal"/>
              </a:rPr>
              <a:t>）、近视眼（</a:t>
            </a:r>
            <a:r>
              <a:rPr kumimoji="1" lang="en-US" altLang="zh-CN" sz="1264" dirty="0">
                <a:ln w="12700">
                  <a:noFill/>
                </a:ln>
                <a:solidFill>
                  <a:srgbClr val="262626">
                    <a:alpha val="100000"/>
                  </a:srgbClr>
                </a:solidFill>
                <a:latin typeface="Source Han Sans CN Normal"/>
                <a:ea typeface="Source Han Sans CN Normal"/>
              </a:rPr>
              <a:t>M</a:t>
            </a:r>
            <a:r>
              <a:rPr kumimoji="1" lang="zh-CN" altLang="zh-CN" sz="1264" dirty="0">
                <a:ln w="12700">
                  <a:noFill/>
                </a:ln>
                <a:solidFill>
                  <a:srgbClr val="262626">
                    <a:alpha val="100000"/>
                  </a:srgbClr>
                </a:solidFill>
                <a:latin typeface="Source Han Sans CN Normal"/>
                <a:ea typeface="Source Han Sans CN Normal"/>
              </a:rPr>
              <a:t>）、正常（</a:t>
            </a:r>
            <a:r>
              <a:rPr kumimoji="1" lang="en-US" altLang="zh-CN" sz="1264" dirty="0">
                <a:ln w="12700">
                  <a:noFill/>
                </a:ln>
                <a:solidFill>
                  <a:srgbClr val="262626">
                    <a:alpha val="100000"/>
                  </a:srgbClr>
                </a:solidFill>
                <a:latin typeface="Source Han Sans CN Normal"/>
                <a:ea typeface="Source Han Sans CN Normal"/>
              </a:rPr>
              <a:t>N</a:t>
            </a:r>
            <a:r>
              <a:rPr kumimoji="1" lang="zh-CN" altLang="zh-CN" sz="1264" dirty="0">
                <a:ln w="12700">
                  <a:noFill/>
                </a:ln>
                <a:solidFill>
                  <a:srgbClr val="262626">
                    <a:alpha val="100000"/>
                  </a:srgbClr>
                </a:solidFill>
                <a:latin typeface="Source Han Sans CN Normal"/>
                <a:ea typeface="Source Han Sans CN Normal"/>
              </a:rPr>
              <a:t>）和其它异常（</a:t>
            </a:r>
            <a:r>
              <a:rPr kumimoji="1" lang="en-US" altLang="zh-CN" sz="1264" dirty="0">
                <a:ln w="12700">
                  <a:noFill/>
                </a:ln>
                <a:solidFill>
                  <a:srgbClr val="262626">
                    <a:alpha val="100000"/>
                  </a:srgbClr>
                </a:solidFill>
                <a:latin typeface="Source Han Sans CN Normal"/>
                <a:ea typeface="Source Han Sans CN Normal"/>
              </a:rPr>
              <a:t>O</a:t>
            </a:r>
            <a:r>
              <a:rPr kumimoji="1" lang="zh-CN" altLang="zh-CN" sz="1264" dirty="0">
                <a:ln w="12700">
                  <a:noFill/>
                </a:ln>
                <a:solidFill>
                  <a:srgbClr val="262626">
                    <a:alpha val="100000"/>
                  </a:srgbClr>
                </a:solidFill>
                <a:latin typeface="Source Han Sans CN Normal"/>
                <a:ea typeface="Source Han Sans CN Normal"/>
              </a:rPr>
              <a:t>）。上工医疗借助专业工程师根据编号（</a:t>
            </a:r>
            <a:r>
              <a:rPr kumimoji="1" lang="en-US" altLang="zh-CN" sz="1264" dirty="0">
                <a:ln w="12700">
                  <a:noFill/>
                </a:ln>
                <a:solidFill>
                  <a:srgbClr val="262626">
                    <a:alpha val="100000"/>
                  </a:srgbClr>
                </a:solidFill>
                <a:latin typeface="Source Han Sans CN Normal"/>
                <a:ea typeface="Source Han Sans CN Normal"/>
              </a:rPr>
              <a:t>Identification</a:t>
            </a:r>
            <a:r>
              <a:rPr kumimoji="1" lang="zh-CN" altLang="zh-CN" sz="1264" dirty="0">
                <a:ln w="12700">
                  <a:noFill/>
                </a:ln>
                <a:solidFill>
                  <a:srgbClr val="262626">
                    <a:alpha val="100000"/>
                  </a:srgbClr>
                </a:solidFill>
                <a:latin typeface="Source Han Sans CN Normal"/>
                <a:ea typeface="Source Han Sans CN Normal"/>
              </a:rPr>
              <a:t>，</a:t>
            </a:r>
            <a:r>
              <a:rPr kumimoji="1" lang="en-US" altLang="zh-CN" sz="1264" dirty="0">
                <a:ln w="12700">
                  <a:noFill/>
                </a:ln>
                <a:solidFill>
                  <a:srgbClr val="262626">
                    <a:alpha val="100000"/>
                  </a:srgbClr>
                </a:solidFill>
                <a:latin typeface="Source Han Sans CN Normal"/>
                <a:ea typeface="Source Han Sans CN Normal"/>
              </a:rPr>
              <a:t>ID</a:t>
            </a:r>
            <a:r>
              <a:rPr kumimoji="1" lang="zh-CN" altLang="zh-CN" sz="1264" dirty="0">
                <a:ln w="12700">
                  <a:noFill/>
                </a:ln>
                <a:solidFill>
                  <a:srgbClr val="262626">
                    <a:alpha val="100000"/>
                  </a:srgbClr>
                </a:solidFill>
                <a:latin typeface="Source Han Sans CN Normal"/>
                <a:ea typeface="Source Han Sans CN Normal"/>
              </a:rPr>
              <a:t>）、年龄（</a:t>
            </a:r>
            <a:r>
              <a:rPr kumimoji="1" lang="en-US" altLang="zh-CN" sz="1264" dirty="0">
                <a:ln w="12700">
                  <a:noFill/>
                </a:ln>
                <a:solidFill>
                  <a:srgbClr val="262626">
                    <a:alpha val="100000"/>
                  </a:srgbClr>
                </a:solidFill>
                <a:latin typeface="Source Han Sans CN Normal"/>
                <a:ea typeface="Source Han Sans CN Normal"/>
              </a:rPr>
              <a:t>age</a:t>
            </a:r>
            <a:r>
              <a:rPr kumimoji="1" lang="zh-CN" altLang="zh-CN" sz="1264" dirty="0">
                <a:ln w="12700">
                  <a:noFill/>
                </a:ln>
                <a:solidFill>
                  <a:srgbClr val="262626">
                    <a:alpha val="100000"/>
                  </a:srgbClr>
                </a:solidFill>
                <a:latin typeface="Source Han Sans CN Normal"/>
                <a:ea typeface="Source Han Sans CN Normal"/>
              </a:rPr>
              <a:t>）、性别（</a:t>
            </a:r>
            <a:r>
              <a:rPr kumimoji="1" lang="en-US" altLang="zh-CN" sz="1264" dirty="0">
                <a:ln w="12700">
                  <a:noFill/>
                </a:ln>
                <a:solidFill>
                  <a:srgbClr val="262626">
                    <a:alpha val="100000"/>
                  </a:srgbClr>
                </a:solidFill>
                <a:latin typeface="Source Han Sans CN Normal"/>
                <a:ea typeface="Source Han Sans CN Normal"/>
              </a:rPr>
              <a:t>sex</a:t>
            </a:r>
            <a:r>
              <a:rPr kumimoji="1" lang="zh-CN" altLang="zh-CN" sz="1264" dirty="0">
                <a:ln w="12700">
                  <a:noFill/>
                </a:ln>
                <a:solidFill>
                  <a:srgbClr val="262626">
                    <a:alpha val="100000"/>
                  </a:srgbClr>
                </a:solidFill>
                <a:latin typeface="Source Han Sans CN Normal"/>
                <a:ea typeface="Source Han Sans CN Normal"/>
              </a:rPr>
              <a:t>）、左眼（</a:t>
            </a:r>
            <a:r>
              <a:rPr kumimoji="1" lang="en-US" altLang="zh-CN" sz="1264" dirty="0">
                <a:ln w="12700">
                  <a:noFill/>
                </a:ln>
                <a:solidFill>
                  <a:srgbClr val="262626">
                    <a:alpha val="100000"/>
                  </a:srgbClr>
                </a:solidFill>
                <a:latin typeface="Source Han Sans CN Normal"/>
                <a:ea typeface="Source Han Sans CN Normal"/>
              </a:rPr>
              <a:t>Left-Fundus</a:t>
            </a:r>
            <a:r>
              <a:rPr kumimoji="1" lang="zh-CN" altLang="zh-CN" sz="1264" dirty="0">
                <a:ln w="12700">
                  <a:noFill/>
                </a:ln>
                <a:solidFill>
                  <a:srgbClr val="262626">
                    <a:alpha val="100000"/>
                  </a:srgbClr>
                </a:solidFill>
                <a:latin typeface="Source Han Sans CN Normal"/>
                <a:ea typeface="Source Han Sans CN Normal"/>
              </a:rPr>
              <a:t>，</a:t>
            </a:r>
            <a:r>
              <a:rPr kumimoji="1" lang="en-US" altLang="zh-CN" sz="1264" dirty="0">
                <a:ln w="12700">
                  <a:noFill/>
                </a:ln>
                <a:solidFill>
                  <a:srgbClr val="262626">
                    <a:alpha val="100000"/>
                  </a:srgbClr>
                </a:solidFill>
                <a:latin typeface="Source Han Sans CN Normal"/>
                <a:ea typeface="Source Han Sans CN Normal"/>
              </a:rPr>
              <a:t>LF</a:t>
            </a:r>
            <a:r>
              <a:rPr kumimoji="1" lang="zh-CN" altLang="zh-CN" sz="1264" dirty="0">
                <a:ln w="12700">
                  <a:noFill/>
                </a:ln>
                <a:solidFill>
                  <a:srgbClr val="262626">
                    <a:alpha val="100000"/>
                  </a:srgbClr>
                </a:solidFill>
                <a:latin typeface="Source Han Sans CN Normal"/>
                <a:ea typeface="Source Han Sans CN Normal"/>
              </a:rPr>
              <a:t>）、右眼（</a:t>
            </a:r>
            <a:r>
              <a:rPr kumimoji="1" lang="en-US" altLang="zh-CN" sz="1264" dirty="0">
                <a:ln w="12700">
                  <a:noFill/>
                </a:ln>
                <a:solidFill>
                  <a:srgbClr val="262626">
                    <a:alpha val="100000"/>
                  </a:srgbClr>
                </a:solidFill>
                <a:latin typeface="Source Han Sans CN Normal"/>
                <a:ea typeface="Source Han Sans CN Normal"/>
              </a:rPr>
              <a:t>Right-Fundus</a:t>
            </a:r>
            <a:r>
              <a:rPr kumimoji="1" lang="zh-CN" altLang="zh-CN" sz="1264" dirty="0">
                <a:ln w="12700">
                  <a:noFill/>
                </a:ln>
                <a:solidFill>
                  <a:srgbClr val="262626">
                    <a:alpha val="100000"/>
                  </a:srgbClr>
                </a:solidFill>
                <a:latin typeface="Source Han Sans CN Normal"/>
                <a:ea typeface="Source Han Sans CN Normal"/>
              </a:rPr>
              <a:t>，</a:t>
            </a:r>
            <a:r>
              <a:rPr kumimoji="1" lang="en-US" altLang="zh-CN" sz="1264" dirty="0">
                <a:ln w="12700">
                  <a:noFill/>
                </a:ln>
                <a:solidFill>
                  <a:srgbClr val="262626">
                    <a:alpha val="100000"/>
                  </a:srgbClr>
                </a:solidFill>
                <a:latin typeface="Source Han Sans CN Normal"/>
                <a:ea typeface="Source Han Sans CN Normal"/>
              </a:rPr>
              <a:t>RF</a:t>
            </a:r>
            <a:r>
              <a:rPr kumimoji="1" lang="zh-CN" altLang="zh-CN" sz="1264" dirty="0">
                <a:ln w="12700">
                  <a:noFill/>
                </a:ln>
                <a:solidFill>
                  <a:srgbClr val="262626">
                    <a:alpha val="100000"/>
                  </a:srgbClr>
                </a:solidFill>
                <a:latin typeface="Source Han Sans CN Normal"/>
                <a:ea typeface="Source Han Sans CN Normal"/>
              </a:rPr>
              <a:t>）、左眼诊断（</a:t>
            </a:r>
            <a:r>
              <a:rPr kumimoji="1" lang="en-US" altLang="zh-CN" sz="1264" dirty="0">
                <a:ln w="12700">
                  <a:noFill/>
                </a:ln>
                <a:solidFill>
                  <a:srgbClr val="262626">
                    <a:alpha val="100000"/>
                  </a:srgbClr>
                </a:solidFill>
                <a:latin typeface="Source Han Sans CN Normal"/>
                <a:ea typeface="Source Han Sans CN Normal"/>
              </a:rPr>
              <a:t>Left-</a:t>
            </a:r>
            <a:r>
              <a:rPr kumimoji="1" lang="en-US" altLang="zh-CN" sz="1264" dirty="0" err="1">
                <a:ln w="12700">
                  <a:noFill/>
                </a:ln>
                <a:solidFill>
                  <a:srgbClr val="262626">
                    <a:alpha val="100000"/>
                  </a:srgbClr>
                </a:solidFill>
                <a:latin typeface="Source Han Sans CN Normal"/>
                <a:ea typeface="Source Han Sans CN Normal"/>
              </a:rPr>
              <a:t>FundusDiagnosis</a:t>
            </a:r>
            <a:r>
              <a:rPr kumimoji="1" lang="zh-CN" altLang="zh-CN" sz="1264" dirty="0">
                <a:ln w="12700">
                  <a:noFill/>
                </a:ln>
                <a:solidFill>
                  <a:srgbClr val="262626">
                    <a:alpha val="100000"/>
                  </a:srgbClr>
                </a:solidFill>
                <a:latin typeface="Source Han Sans CN Normal"/>
                <a:ea typeface="Source Han Sans CN Normal"/>
              </a:rPr>
              <a:t>，</a:t>
            </a:r>
            <a:r>
              <a:rPr kumimoji="1" lang="en-US" altLang="zh-CN" sz="1264" dirty="0">
                <a:ln w="12700">
                  <a:noFill/>
                </a:ln>
                <a:solidFill>
                  <a:srgbClr val="262626">
                    <a:alpha val="100000"/>
                  </a:srgbClr>
                </a:solidFill>
                <a:latin typeface="Source Han Sans CN Normal"/>
                <a:ea typeface="Source Han Sans CN Normal"/>
              </a:rPr>
              <a:t>LFD</a:t>
            </a:r>
            <a:r>
              <a:rPr kumimoji="1" lang="zh-CN" altLang="zh-CN" sz="1264" dirty="0">
                <a:ln w="12700">
                  <a:noFill/>
                </a:ln>
                <a:solidFill>
                  <a:srgbClr val="262626">
                    <a:alpha val="100000"/>
                  </a:srgbClr>
                </a:solidFill>
                <a:latin typeface="Source Han Sans CN Normal"/>
                <a:ea typeface="Source Han Sans CN Normal"/>
              </a:rPr>
              <a:t>）、右眼诊断（</a:t>
            </a:r>
            <a:r>
              <a:rPr kumimoji="1" lang="en-US" altLang="zh-CN" sz="1264" dirty="0">
                <a:ln w="12700">
                  <a:noFill/>
                </a:ln>
                <a:solidFill>
                  <a:srgbClr val="262626">
                    <a:alpha val="100000"/>
                  </a:srgbClr>
                </a:solidFill>
                <a:latin typeface="Source Han Sans CN Normal"/>
                <a:ea typeface="Source Han Sans CN Normal"/>
              </a:rPr>
              <a:t>Right-</a:t>
            </a:r>
            <a:r>
              <a:rPr kumimoji="1" lang="en-US" altLang="zh-CN" sz="1264" dirty="0" err="1">
                <a:ln w="12700">
                  <a:noFill/>
                </a:ln>
                <a:solidFill>
                  <a:srgbClr val="262626">
                    <a:alpha val="100000"/>
                  </a:srgbClr>
                </a:solidFill>
                <a:latin typeface="Source Han Sans CN Normal"/>
                <a:ea typeface="Source Han Sans CN Normal"/>
              </a:rPr>
              <a:t>FundusDiagnosis</a:t>
            </a:r>
            <a:r>
              <a:rPr kumimoji="1" lang="zh-CN" altLang="zh-CN" sz="1264" dirty="0">
                <a:ln w="12700">
                  <a:noFill/>
                </a:ln>
                <a:solidFill>
                  <a:srgbClr val="262626">
                    <a:alpha val="100000"/>
                  </a:srgbClr>
                </a:solidFill>
                <a:latin typeface="Source Han Sans CN Normal"/>
                <a:ea typeface="Source Han Sans CN Normal"/>
              </a:rPr>
              <a:t>，</a:t>
            </a:r>
            <a:r>
              <a:rPr kumimoji="1" lang="en-US" altLang="zh-CN" sz="1264" dirty="0">
                <a:ln w="12700">
                  <a:noFill/>
                </a:ln>
                <a:solidFill>
                  <a:srgbClr val="262626">
                    <a:alpha val="100000"/>
                  </a:srgbClr>
                </a:solidFill>
                <a:latin typeface="Source Han Sans CN Normal"/>
                <a:ea typeface="Source Han Sans CN Normal"/>
              </a:rPr>
              <a:t>RFD</a:t>
            </a:r>
            <a:r>
              <a:rPr kumimoji="1" lang="zh-CN" altLang="zh-CN" sz="1264" dirty="0">
                <a:ln w="12700">
                  <a:noFill/>
                </a:ln>
                <a:solidFill>
                  <a:srgbClr val="262626">
                    <a:alpha val="100000"/>
                  </a:srgbClr>
                </a:solidFill>
                <a:latin typeface="Source Han Sans CN Normal"/>
                <a:ea typeface="Source Han Sans CN Normal"/>
              </a:rPr>
              <a:t>）</a:t>
            </a:r>
            <a:endParaRPr kumimoji="1" lang="zh-CN" altLang="en-US" sz="1264" dirty="0">
              <a:ln w="12700">
                <a:noFill/>
              </a:ln>
              <a:solidFill>
                <a:srgbClr val="262626">
                  <a:alpha val="100000"/>
                </a:srgbClr>
              </a:solidFill>
              <a:latin typeface="Source Han Sans CN Normal"/>
              <a:ea typeface="Source Han Sans CN Normal"/>
            </a:endParaRPr>
          </a:p>
        </p:txBody>
      </p:sp>
      <p:sp>
        <p:nvSpPr>
          <p:cNvPr id="10" name="标题 1"/>
          <p:cNvSpPr txBox="1"/>
          <p:nvPr/>
        </p:nvSpPr>
        <p:spPr>
          <a:xfrm>
            <a:off x="659305" y="2160085"/>
            <a:ext cx="4905628" cy="307777"/>
          </a:xfrm>
          <a:prstGeom prst="rect">
            <a:avLst/>
          </a:prstGeom>
          <a:noFill/>
          <a:ln>
            <a:noFill/>
          </a:ln>
        </p:spPr>
        <p:txBody>
          <a:bodyPr vert="horz" wrap="square" lIns="0" tIns="0" rIns="0" bIns="0" rtlCol="0" anchor="b"/>
          <a:lstStyle/>
          <a:p>
            <a:pPr algn="ctr">
              <a:lnSpc>
                <a:spcPct val="100000"/>
              </a:lnSpc>
            </a:pPr>
            <a:r>
              <a:rPr kumimoji="1" lang="en-US" altLang="zh-CN" sz="1600" dirty="0" err="1">
                <a:ln w="12700">
                  <a:noFill/>
                </a:ln>
                <a:solidFill>
                  <a:srgbClr val="0451C5">
                    <a:alpha val="100000"/>
                  </a:srgbClr>
                </a:solidFill>
                <a:latin typeface="Source Han Sans CN Bold Bold"/>
                <a:ea typeface="Source Han Sans CN Bold Bold"/>
                <a:cs typeface="Source Han Sans CN Bold Bold"/>
              </a:rPr>
              <a:t>标签信息</a:t>
            </a:r>
            <a:endParaRPr kumimoji="1" lang="zh-CN" altLang="en-US" dirty="0"/>
          </a:p>
        </p:txBody>
      </p:sp>
      <p:sp>
        <p:nvSpPr>
          <p:cNvPr id="11" name="标题 1"/>
          <p:cNvSpPr txBox="1"/>
          <p:nvPr/>
        </p:nvSpPr>
        <p:spPr>
          <a:xfrm>
            <a:off x="6744449" y="4277376"/>
            <a:ext cx="4886414" cy="1662506"/>
          </a:xfrm>
          <a:prstGeom prst="rect">
            <a:avLst/>
          </a:prstGeom>
          <a:noFill/>
          <a:ln>
            <a:noFill/>
          </a:ln>
        </p:spPr>
        <p:txBody>
          <a:bodyPr vert="horz" wrap="square" lIns="0" tIns="0" rIns="0" bIns="0" rtlCol="0" anchor="t"/>
          <a:lstStyle/>
          <a:p>
            <a:pPr algn="ctr">
              <a:lnSpc>
                <a:spcPct val="130000"/>
              </a:lnSpc>
            </a:pPr>
            <a:r>
              <a:rPr kumimoji="1" lang="en-US" altLang="zh-CN" sz="1264" dirty="0">
                <a:ln w="12700">
                  <a:noFill/>
                </a:ln>
                <a:solidFill>
                  <a:srgbClr val="262626">
                    <a:alpha val="100000"/>
                  </a:srgbClr>
                </a:solidFill>
                <a:latin typeface="Source Han Sans CN Normal"/>
                <a:ea typeface="Source Han Sans CN Normal"/>
                <a:cs typeface="Source Han Sans CN Normal"/>
              </a:rPr>
              <a:t>数据集中的图片来源于多个医疗中心及医院，由于拍摄设备多样，导致图片的分辨率、大小存在差异。例如，有些图片分辨率较高，能够清晰地显示眼底的细节；而有些图片分辨率较低，可能会影响病变的识别。部分图片存在阴影噪声多、对比度低等问题，这些问题会干扰图像分析和疾病诊断。例如，阴影噪声可能会掩盖病变的特征，低对比度的图像可能会使病变难以辨认。因此，需要对这些图片进行预处理，以提高图像质量。</a:t>
            </a:r>
            <a:endParaRPr kumimoji="1" lang="zh-CN" altLang="en-US" dirty="0"/>
          </a:p>
        </p:txBody>
      </p:sp>
      <p:sp>
        <p:nvSpPr>
          <p:cNvPr id="12" name="标题 1"/>
          <p:cNvSpPr txBox="1"/>
          <p:nvPr/>
        </p:nvSpPr>
        <p:spPr>
          <a:xfrm>
            <a:off x="6677643" y="3835802"/>
            <a:ext cx="4905628" cy="307777"/>
          </a:xfrm>
          <a:prstGeom prst="rect">
            <a:avLst/>
          </a:prstGeom>
          <a:noFill/>
          <a:ln>
            <a:noFill/>
          </a:ln>
        </p:spPr>
        <p:txBody>
          <a:bodyPr vert="horz" wrap="square" lIns="0" tIns="0" rIns="0" bIns="0" rtlCol="0" anchor="b"/>
          <a:lstStyle/>
          <a:p>
            <a:pPr algn="ctr">
              <a:lnSpc>
                <a:spcPct val="100000"/>
              </a:lnSpc>
            </a:pPr>
            <a:r>
              <a:rPr kumimoji="1" lang="en-US" altLang="zh-CN" sz="1600" dirty="0" err="1">
                <a:ln w="12700">
                  <a:noFill/>
                </a:ln>
                <a:solidFill>
                  <a:srgbClr val="0451C5">
                    <a:alpha val="100000"/>
                  </a:srgbClr>
                </a:solidFill>
                <a:latin typeface="Source Han Sans CN Bold Bold"/>
                <a:ea typeface="Source Han Sans CN Bold Bold"/>
                <a:cs typeface="Source Han Sans CN Bold Bold"/>
              </a:rPr>
              <a:t>图片数据分析</a:t>
            </a:r>
            <a:endParaRPr kumimoji="1" lang="zh-CN" altLang="en-US" dirty="0"/>
          </a:p>
        </p:txBody>
      </p:sp>
      <p:sp>
        <p:nvSpPr>
          <p:cNvPr id="13" name="标题 1"/>
          <p:cNvSpPr txBox="1"/>
          <p:nvPr/>
        </p:nvSpPr>
        <p:spPr>
          <a:xfrm>
            <a:off x="5575741" y="5275276"/>
            <a:ext cx="1109980" cy="840740"/>
          </a:xfrm>
          <a:prstGeom prst="rect">
            <a:avLst/>
          </a:prstGeom>
          <a:noFill/>
          <a:ln>
            <a:noFill/>
          </a:ln>
          <a:effectLst/>
        </p:spPr>
        <p:txBody>
          <a:bodyPr vert="horz" wrap="none" lIns="91440" tIns="45720" rIns="91440" bIns="45720" rtlCol="0" anchor="t">
            <a:spAutoFit/>
          </a:bodyPr>
          <a:lstStyle/>
          <a:p>
            <a:pPr algn="ctr">
              <a:lnSpc>
                <a:spcPct val="110000"/>
              </a:lnSpc>
            </a:pPr>
            <a:r>
              <a:rPr kumimoji="1" lang="en-US" altLang="zh-CN" sz="5400" dirty="0">
                <a:ln w="12700">
                  <a:noFill/>
                </a:ln>
                <a:solidFill>
                  <a:srgbClr val="262626">
                    <a:alpha val="100000"/>
                  </a:srgbClr>
                </a:solidFill>
                <a:latin typeface="OPPOSans H"/>
                <a:ea typeface="OPPOSans H"/>
                <a:cs typeface="OPPOSans H"/>
              </a:rPr>
              <a:t>02</a:t>
            </a:r>
            <a:endParaRPr kumimoji="1" lang="zh-CN" altLang="en-US" dirty="0"/>
          </a:p>
        </p:txBody>
      </p:sp>
      <p:sp>
        <p:nvSpPr>
          <p:cNvPr id="14" name="标题 1"/>
          <p:cNvSpPr txBox="1"/>
          <p:nvPr/>
        </p:nvSpPr>
        <p:spPr>
          <a:xfrm>
            <a:off x="84838" y="5321296"/>
            <a:ext cx="995680" cy="840740"/>
          </a:xfrm>
          <a:prstGeom prst="rect">
            <a:avLst/>
          </a:prstGeom>
          <a:noFill/>
          <a:ln>
            <a:noFill/>
          </a:ln>
          <a:effectLst/>
        </p:spPr>
        <p:txBody>
          <a:bodyPr vert="horz" wrap="none" lIns="91440" tIns="45720" rIns="91440" bIns="45720" rtlCol="0" anchor="t">
            <a:spAutoFit/>
          </a:bodyPr>
          <a:lstStyle/>
          <a:p>
            <a:pPr algn="ctr">
              <a:lnSpc>
                <a:spcPct val="110000"/>
              </a:lnSpc>
            </a:pPr>
            <a:r>
              <a:rPr kumimoji="1" lang="en-US" altLang="zh-CN" sz="5400" dirty="0">
                <a:ln w="12700">
                  <a:noFill/>
                </a:ln>
                <a:solidFill>
                  <a:srgbClr val="262626">
                    <a:alpha val="100000"/>
                  </a:srgbClr>
                </a:solidFill>
                <a:latin typeface="OPPOSans H"/>
                <a:ea typeface="OPPOSans H"/>
                <a:cs typeface="OPPOSans H"/>
              </a:rPr>
              <a:t>01</a:t>
            </a:r>
            <a:endParaRPr kumimoji="1" lang="zh-CN" altLang="en-US" dirty="0"/>
          </a:p>
        </p:txBody>
      </p:sp>
      <p:sp>
        <p:nvSpPr>
          <p:cNvPr id="15" name="标题 1"/>
          <p:cNvSpPr txBox="1"/>
          <p:nvPr/>
        </p:nvSpPr>
        <p:spPr>
          <a:xfrm>
            <a:off x="847725" y="450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Bold"/>
                <a:ea typeface="Source Han Sans CN Bold Bold"/>
                <a:cs typeface="Source Han Sans CN Bold Bold"/>
              </a:rPr>
              <a:t>数据集介绍</a:t>
            </a:r>
            <a:endParaRPr kumimoji="1" lang="zh-CN" altLang="en-US"/>
          </a:p>
        </p:txBody>
      </p:sp>
      <p:sp>
        <p:nvSpPr>
          <p:cNvPr id="16" name="标题 1"/>
          <p:cNvSpPr txBox="1"/>
          <p:nvPr/>
        </p:nvSpPr>
        <p:spPr>
          <a:xfrm>
            <a:off x="348958" y="502433"/>
            <a:ext cx="387642" cy="38764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271663" y="431800"/>
            <a:ext cx="387642" cy="387642"/>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60400" y="1297826"/>
            <a:ext cx="3073854" cy="1792809"/>
          </a:xfrm>
          <a:custGeom>
            <a:avLst/>
            <a:gdLst>
              <a:gd name="T0" fmla="*/ 549 w 585"/>
              <a:gd name="T1" fmla="*/ 0 h 386"/>
              <a:gd name="T2" fmla="*/ 36 w 585"/>
              <a:gd name="T3" fmla="*/ 0 h 386"/>
              <a:gd name="T4" fmla="*/ 0 w 585"/>
              <a:gd name="T5" fmla="*/ 36 h 386"/>
              <a:gd name="T6" fmla="*/ 0 w 585"/>
              <a:gd name="T7" fmla="*/ 283 h 386"/>
              <a:gd name="T8" fmla="*/ 36 w 585"/>
              <a:gd name="T9" fmla="*/ 319 h 386"/>
              <a:gd name="T10" fmla="*/ 418 w 585"/>
              <a:gd name="T11" fmla="*/ 319 h 386"/>
              <a:gd name="T12" fmla="*/ 405 w 585"/>
              <a:gd name="T13" fmla="*/ 363 h 386"/>
              <a:gd name="T14" fmla="*/ 426 w 585"/>
              <a:gd name="T15" fmla="*/ 378 h 386"/>
              <a:gd name="T16" fmla="*/ 500 w 585"/>
              <a:gd name="T17" fmla="*/ 323 h 386"/>
              <a:gd name="T18" fmla="*/ 504 w 585"/>
              <a:gd name="T19" fmla="*/ 319 h 386"/>
              <a:gd name="T20" fmla="*/ 549 w 585"/>
              <a:gd name="T21" fmla="*/ 319 h 386"/>
              <a:gd name="T22" fmla="*/ 585 w 585"/>
              <a:gd name="T23" fmla="*/ 283 h 386"/>
              <a:gd name="T24" fmla="*/ 585 w 585"/>
              <a:gd name="T25" fmla="*/ 36 h 386"/>
              <a:gd name="T26" fmla="*/ 549 w 585"/>
              <a:gd name="T27" fmla="*/ 0 h 386"/>
            </a:gdLst>
            <a:ahLst/>
            <a:cxnLst/>
            <a:rect l="0" t="0" r="r" b="b"/>
            <a:pathLst>
              <a:path w="585" h="386">
                <a:moveTo>
                  <a:pt x="549" y="0"/>
                </a:moveTo>
                <a:cubicBezTo>
                  <a:pt x="36" y="0"/>
                  <a:pt x="36" y="0"/>
                  <a:pt x="36" y="0"/>
                </a:cubicBezTo>
                <a:cubicBezTo>
                  <a:pt x="16" y="0"/>
                  <a:pt x="0" y="16"/>
                  <a:pt x="0" y="36"/>
                </a:cubicBezTo>
                <a:cubicBezTo>
                  <a:pt x="0" y="283"/>
                  <a:pt x="0" y="283"/>
                  <a:pt x="0" y="283"/>
                </a:cubicBezTo>
                <a:cubicBezTo>
                  <a:pt x="0" y="302"/>
                  <a:pt x="16" y="319"/>
                  <a:pt x="36" y="319"/>
                </a:cubicBezTo>
                <a:cubicBezTo>
                  <a:pt x="418" y="319"/>
                  <a:pt x="418" y="319"/>
                  <a:pt x="418" y="319"/>
                </a:cubicBezTo>
                <a:cubicBezTo>
                  <a:pt x="405" y="363"/>
                  <a:pt x="405" y="363"/>
                  <a:pt x="405" y="363"/>
                </a:cubicBezTo>
                <a:cubicBezTo>
                  <a:pt x="401" y="376"/>
                  <a:pt x="415" y="386"/>
                  <a:pt x="426" y="378"/>
                </a:cubicBezTo>
                <a:cubicBezTo>
                  <a:pt x="500" y="323"/>
                  <a:pt x="500" y="323"/>
                  <a:pt x="500" y="323"/>
                </a:cubicBezTo>
                <a:cubicBezTo>
                  <a:pt x="502" y="322"/>
                  <a:pt x="503" y="320"/>
                  <a:pt x="504" y="319"/>
                </a:cubicBezTo>
                <a:cubicBezTo>
                  <a:pt x="549" y="319"/>
                  <a:pt x="549" y="319"/>
                  <a:pt x="549" y="319"/>
                </a:cubicBezTo>
                <a:cubicBezTo>
                  <a:pt x="569" y="319"/>
                  <a:pt x="585" y="302"/>
                  <a:pt x="585" y="283"/>
                </a:cubicBezTo>
                <a:cubicBezTo>
                  <a:pt x="585" y="36"/>
                  <a:pt x="585" y="36"/>
                  <a:pt x="585" y="36"/>
                </a:cubicBezTo>
                <a:cubicBezTo>
                  <a:pt x="585" y="16"/>
                  <a:pt x="569" y="0"/>
                  <a:pt x="549" y="0"/>
                </a:cubicBezTo>
                <a:close/>
              </a:path>
            </a:pathLst>
          </a:custGeom>
          <a:solidFill>
            <a:schemeClr val="accent1"/>
          </a:solidFill>
          <a:ln cap="sq">
            <a:noFill/>
          </a:ln>
        </p:spPr>
        <p:txBody>
          <a:bodyPr vert="horz" wrap="square" lIns="91440" tIns="45720" rIns="91440" bIns="45720" rtlCol="0" anchor="t"/>
          <a:lstStyle/>
          <a:p>
            <a:pPr algn="l">
              <a:lnSpc>
                <a:spcPct val="110000"/>
              </a:lnSpc>
            </a:pPr>
            <a:endParaRPr kumimoji="1" lang="zh-CN" altLang="en-US"/>
          </a:p>
        </p:txBody>
      </p:sp>
      <p:sp>
        <p:nvSpPr>
          <p:cNvPr id="4" name="标题 1"/>
          <p:cNvSpPr txBox="1"/>
          <p:nvPr/>
        </p:nvSpPr>
        <p:spPr>
          <a:xfrm>
            <a:off x="1817881" y="1612365"/>
            <a:ext cx="758892" cy="822066"/>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60400" y="3674589"/>
            <a:ext cx="3073854" cy="2510311"/>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CN Normal"/>
                <a:ea typeface="Source Han Sans CN Normal"/>
                <a:cs typeface="Source Han Sans CN Normal"/>
              </a:rPr>
              <a:t>不同分辨率的图片对模型特征提取和分类指标影响较大。高分辨率图片包含更多的细节信息，但也会增加模型的计算负担；低分辨率图片虽然计算量小，但可能会丢失一些关键信息。通过展示不同分辨率图片示例，直观地说明分辨率对图像分析的影响。</a:t>
            </a:r>
            <a:endParaRPr kumimoji="1" lang="zh-CN" altLang="en-US"/>
          </a:p>
        </p:txBody>
      </p:sp>
      <p:sp>
        <p:nvSpPr>
          <p:cNvPr id="6" name="标题 1"/>
          <p:cNvSpPr txBox="1"/>
          <p:nvPr/>
        </p:nvSpPr>
        <p:spPr>
          <a:xfrm>
            <a:off x="660400" y="3187556"/>
            <a:ext cx="3073854" cy="436721"/>
          </a:xfrm>
          <a:prstGeom prst="rect">
            <a:avLst/>
          </a:prstGeom>
          <a:noFill/>
          <a:ln>
            <a:noFill/>
          </a:ln>
        </p:spPr>
        <p:txBody>
          <a:bodyPr vert="horz" wrap="square" lIns="0" tIns="0" rIns="0" bIns="0" rtlCol="0" anchor="b"/>
          <a:lstStyle/>
          <a:p>
            <a:pPr algn="ctr">
              <a:lnSpc>
                <a:spcPct val="130000"/>
              </a:lnSpc>
            </a:pPr>
            <a:r>
              <a:rPr kumimoji="1" lang="en-US" altLang="zh-CN" sz="1600">
                <a:ln w="12700">
                  <a:noFill/>
                </a:ln>
                <a:solidFill>
                  <a:srgbClr val="0451C5">
                    <a:alpha val="100000"/>
                  </a:srgbClr>
                </a:solidFill>
                <a:latin typeface="Source Han Sans CN Bold Bold"/>
                <a:ea typeface="Source Han Sans CN Bold Bold"/>
                <a:cs typeface="Source Han Sans CN Bold Bold"/>
              </a:rPr>
              <a:t>采集成像图片差异大</a:t>
            </a:r>
            <a:endParaRPr kumimoji="1" lang="zh-CN" altLang="en-US"/>
          </a:p>
        </p:txBody>
      </p:sp>
      <p:sp>
        <p:nvSpPr>
          <p:cNvPr id="8" name="标题 1"/>
          <p:cNvSpPr txBox="1"/>
          <p:nvPr/>
        </p:nvSpPr>
        <p:spPr>
          <a:xfrm>
            <a:off x="5694363" y="1612365"/>
            <a:ext cx="790574" cy="822066"/>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4552723" y="3674589"/>
            <a:ext cx="3073854" cy="2510311"/>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CN Normal"/>
                <a:ea typeface="Source Han Sans CN Normal"/>
                <a:cs typeface="Source Han Sans CN Normal"/>
              </a:rPr>
              <a:t>各类眼疾数据数量差异大，严重不平衡的数据会误导模型分类。例如，某些罕见眼疾的数据量较少，而常见眼疾的数据量较多，模型在训练过程中可能会更倾向于学习常见眼疾的特征，从而导致对罕见眼疾的识别准确率较低。通过展示数据统计图，清晰地呈现数据不平衡的情况。</a:t>
            </a:r>
            <a:endParaRPr kumimoji="1" lang="zh-CN" altLang="en-US"/>
          </a:p>
        </p:txBody>
      </p:sp>
      <p:sp>
        <p:nvSpPr>
          <p:cNvPr id="10" name="标题 1"/>
          <p:cNvSpPr txBox="1"/>
          <p:nvPr/>
        </p:nvSpPr>
        <p:spPr>
          <a:xfrm>
            <a:off x="4552723" y="3187556"/>
            <a:ext cx="3073854" cy="436721"/>
          </a:xfrm>
          <a:prstGeom prst="rect">
            <a:avLst/>
          </a:prstGeom>
          <a:noFill/>
          <a:ln>
            <a:noFill/>
          </a:ln>
        </p:spPr>
        <p:txBody>
          <a:bodyPr vert="horz" wrap="square" lIns="0" tIns="0" rIns="0" bIns="0" rtlCol="0" anchor="b"/>
          <a:lstStyle/>
          <a:p>
            <a:pPr algn="ctr">
              <a:lnSpc>
                <a:spcPct val="130000"/>
              </a:lnSpc>
            </a:pPr>
            <a:r>
              <a:rPr kumimoji="1" lang="en-US" altLang="zh-CN" sz="1600">
                <a:ln w="12700">
                  <a:noFill/>
                </a:ln>
                <a:solidFill>
                  <a:srgbClr val="0451C5">
                    <a:alpha val="100000"/>
                  </a:srgbClr>
                </a:solidFill>
                <a:latin typeface="Source Han Sans CN Bold Bold"/>
                <a:ea typeface="Source Han Sans CN Bold Bold"/>
                <a:cs typeface="Source Han Sans CN Bold Bold"/>
              </a:rPr>
              <a:t>数据不平衡性</a:t>
            </a:r>
            <a:endParaRPr kumimoji="1" lang="zh-CN" altLang="en-US"/>
          </a:p>
        </p:txBody>
      </p:sp>
      <p:sp>
        <p:nvSpPr>
          <p:cNvPr id="11" name="标题 1"/>
          <p:cNvSpPr txBox="1"/>
          <p:nvPr/>
        </p:nvSpPr>
        <p:spPr>
          <a:xfrm>
            <a:off x="8445046" y="1297826"/>
            <a:ext cx="3073854" cy="1792809"/>
          </a:xfrm>
          <a:custGeom>
            <a:avLst/>
            <a:gdLst>
              <a:gd name="T0" fmla="*/ 549 w 585"/>
              <a:gd name="T1" fmla="*/ 0 h 386"/>
              <a:gd name="T2" fmla="*/ 36 w 585"/>
              <a:gd name="T3" fmla="*/ 0 h 386"/>
              <a:gd name="T4" fmla="*/ 0 w 585"/>
              <a:gd name="T5" fmla="*/ 36 h 386"/>
              <a:gd name="T6" fmla="*/ 0 w 585"/>
              <a:gd name="T7" fmla="*/ 283 h 386"/>
              <a:gd name="T8" fmla="*/ 36 w 585"/>
              <a:gd name="T9" fmla="*/ 319 h 386"/>
              <a:gd name="T10" fmla="*/ 418 w 585"/>
              <a:gd name="T11" fmla="*/ 319 h 386"/>
              <a:gd name="T12" fmla="*/ 405 w 585"/>
              <a:gd name="T13" fmla="*/ 363 h 386"/>
              <a:gd name="T14" fmla="*/ 426 w 585"/>
              <a:gd name="T15" fmla="*/ 378 h 386"/>
              <a:gd name="T16" fmla="*/ 500 w 585"/>
              <a:gd name="T17" fmla="*/ 323 h 386"/>
              <a:gd name="T18" fmla="*/ 504 w 585"/>
              <a:gd name="T19" fmla="*/ 319 h 386"/>
              <a:gd name="T20" fmla="*/ 549 w 585"/>
              <a:gd name="T21" fmla="*/ 319 h 386"/>
              <a:gd name="T22" fmla="*/ 585 w 585"/>
              <a:gd name="T23" fmla="*/ 283 h 386"/>
              <a:gd name="T24" fmla="*/ 585 w 585"/>
              <a:gd name="T25" fmla="*/ 36 h 386"/>
              <a:gd name="T26" fmla="*/ 549 w 585"/>
              <a:gd name="T27" fmla="*/ 0 h 386"/>
            </a:gdLst>
            <a:ahLst/>
            <a:cxnLst/>
            <a:rect l="0" t="0" r="r" b="b"/>
            <a:pathLst>
              <a:path w="585" h="386">
                <a:moveTo>
                  <a:pt x="549" y="0"/>
                </a:moveTo>
                <a:cubicBezTo>
                  <a:pt x="36" y="0"/>
                  <a:pt x="36" y="0"/>
                  <a:pt x="36" y="0"/>
                </a:cubicBezTo>
                <a:cubicBezTo>
                  <a:pt x="16" y="0"/>
                  <a:pt x="0" y="16"/>
                  <a:pt x="0" y="36"/>
                </a:cubicBezTo>
                <a:cubicBezTo>
                  <a:pt x="0" y="283"/>
                  <a:pt x="0" y="283"/>
                  <a:pt x="0" y="283"/>
                </a:cubicBezTo>
                <a:cubicBezTo>
                  <a:pt x="0" y="302"/>
                  <a:pt x="16" y="319"/>
                  <a:pt x="36" y="319"/>
                </a:cubicBezTo>
                <a:cubicBezTo>
                  <a:pt x="418" y="319"/>
                  <a:pt x="418" y="319"/>
                  <a:pt x="418" y="319"/>
                </a:cubicBezTo>
                <a:cubicBezTo>
                  <a:pt x="405" y="363"/>
                  <a:pt x="405" y="363"/>
                  <a:pt x="405" y="363"/>
                </a:cubicBezTo>
                <a:cubicBezTo>
                  <a:pt x="401" y="376"/>
                  <a:pt x="415" y="386"/>
                  <a:pt x="426" y="378"/>
                </a:cubicBezTo>
                <a:cubicBezTo>
                  <a:pt x="500" y="323"/>
                  <a:pt x="500" y="323"/>
                  <a:pt x="500" y="323"/>
                </a:cubicBezTo>
                <a:cubicBezTo>
                  <a:pt x="502" y="322"/>
                  <a:pt x="503" y="320"/>
                  <a:pt x="504" y="319"/>
                </a:cubicBezTo>
                <a:cubicBezTo>
                  <a:pt x="549" y="319"/>
                  <a:pt x="549" y="319"/>
                  <a:pt x="549" y="319"/>
                </a:cubicBezTo>
                <a:cubicBezTo>
                  <a:pt x="569" y="319"/>
                  <a:pt x="585" y="302"/>
                  <a:pt x="585" y="283"/>
                </a:cubicBezTo>
                <a:cubicBezTo>
                  <a:pt x="585" y="36"/>
                  <a:pt x="585" y="36"/>
                  <a:pt x="585" y="36"/>
                </a:cubicBezTo>
                <a:cubicBezTo>
                  <a:pt x="585" y="16"/>
                  <a:pt x="569" y="0"/>
                  <a:pt x="549" y="0"/>
                </a:cubicBezTo>
                <a:close/>
              </a:path>
            </a:pathLst>
          </a:custGeom>
          <a:solidFill>
            <a:schemeClr val="accent1"/>
          </a:solidFill>
          <a:ln cap="sq">
            <a:noFill/>
          </a:ln>
        </p:spPr>
        <p:txBody>
          <a:bodyPr vert="horz" wrap="square" lIns="91440" tIns="45720" rIns="91440" bIns="45720" rtlCol="0" anchor="t"/>
          <a:lstStyle/>
          <a:p>
            <a:pPr algn="l">
              <a:lnSpc>
                <a:spcPct val="110000"/>
              </a:lnSpc>
            </a:pPr>
            <a:endParaRPr kumimoji="1" lang="zh-CN" altLang="en-US"/>
          </a:p>
        </p:txBody>
      </p:sp>
      <p:sp>
        <p:nvSpPr>
          <p:cNvPr id="12" name="标题 1"/>
          <p:cNvSpPr txBox="1"/>
          <p:nvPr/>
        </p:nvSpPr>
        <p:spPr>
          <a:xfrm>
            <a:off x="9571000" y="1612365"/>
            <a:ext cx="821946" cy="822066"/>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8445046" y="3674589"/>
            <a:ext cx="3073854" cy="2510311"/>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CN Normal"/>
                <a:ea typeface="Source Han Sans CN Normal"/>
                <a:cs typeface="Source Han Sans CN Normal"/>
              </a:rPr>
              <a:t>眼部可能患多种疾病，多标签诊断具有重要实际意义。例如，一个患者可能同时患有糖尿病视网膜病变和青光眼，准确识别多种疾病对于制定治疗方案至关重要。通过展示多标签疾病图片示例，说明多标签诊断的必要性。</a:t>
            </a:r>
            <a:endParaRPr kumimoji="1" lang="zh-CN" altLang="en-US"/>
          </a:p>
        </p:txBody>
      </p:sp>
      <p:sp>
        <p:nvSpPr>
          <p:cNvPr id="14" name="标题 1"/>
          <p:cNvSpPr txBox="1"/>
          <p:nvPr/>
        </p:nvSpPr>
        <p:spPr>
          <a:xfrm>
            <a:off x="8445046" y="3200256"/>
            <a:ext cx="3073854" cy="424021"/>
          </a:xfrm>
          <a:prstGeom prst="rect">
            <a:avLst/>
          </a:prstGeom>
          <a:noFill/>
          <a:ln>
            <a:noFill/>
          </a:ln>
        </p:spPr>
        <p:txBody>
          <a:bodyPr vert="horz" wrap="square" lIns="0" tIns="0" rIns="0" bIns="0" rtlCol="0" anchor="b"/>
          <a:lstStyle/>
          <a:p>
            <a:pPr algn="ctr">
              <a:lnSpc>
                <a:spcPct val="130000"/>
              </a:lnSpc>
            </a:pPr>
            <a:r>
              <a:rPr kumimoji="1" lang="en-US" altLang="zh-CN" sz="1600">
                <a:ln w="12700">
                  <a:noFill/>
                </a:ln>
                <a:solidFill>
                  <a:srgbClr val="0451C5">
                    <a:alpha val="100000"/>
                  </a:srgbClr>
                </a:solidFill>
                <a:latin typeface="Source Han Sans CN Bold Bold"/>
                <a:ea typeface="Source Han Sans CN Bold Bold"/>
                <a:cs typeface="Source Han Sans CN Bold Bold"/>
              </a:rPr>
              <a:t>多标签性</a:t>
            </a:r>
            <a:endParaRPr kumimoji="1" lang="zh-CN" altLang="en-US"/>
          </a:p>
        </p:txBody>
      </p:sp>
      <p:sp>
        <p:nvSpPr>
          <p:cNvPr id="15" name="标题 1"/>
          <p:cNvSpPr txBox="1"/>
          <p:nvPr/>
        </p:nvSpPr>
        <p:spPr>
          <a:xfrm>
            <a:off x="847725" y="450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Bold"/>
                <a:ea typeface="Source Han Sans CN Bold Bold"/>
                <a:cs typeface="Source Han Sans CN Bold Bold"/>
              </a:rPr>
              <a:t>数据集分类识别中的困难与挑战</a:t>
            </a:r>
            <a:endParaRPr kumimoji="1" lang="zh-CN" altLang="en-US"/>
          </a:p>
        </p:txBody>
      </p:sp>
      <p:sp>
        <p:nvSpPr>
          <p:cNvPr id="16" name="标题 1"/>
          <p:cNvSpPr txBox="1"/>
          <p:nvPr/>
        </p:nvSpPr>
        <p:spPr>
          <a:xfrm>
            <a:off x="348958" y="502433"/>
            <a:ext cx="387642" cy="38764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271663" y="431800"/>
            <a:ext cx="387642" cy="387642"/>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18" name="图片 17" descr="IMG_262">
            <a:extLst>
              <a:ext uri="{FF2B5EF4-FFF2-40B4-BE49-F238E27FC236}">
                <a16:creationId xmlns:a16="http://schemas.microsoft.com/office/drawing/2014/main" id="{C41887B0-8FDF-A8C5-AB8C-33A6355EB582}"/>
              </a:ext>
            </a:extLst>
          </p:cNvPr>
          <p:cNvPicPr>
            <a:picLocks noChangeAspect="1"/>
          </p:cNvPicPr>
          <p:nvPr/>
        </p:nvPicPr>
        <p:blipFill>
          <a:blip r:embed="rId3"/>
          <a:stretch>
            <a:fillRect/>
          </a:stretch>
        </p:blipFill>
        <p:spPr>
          <a:xfrm>
            <a:off x="4006419" y="1145086"/>
            <a:ext cx="4166462" cy="2098287"/>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0" y="6410226"/>
            <a:ext cx="12192000" cy="393481"/>
          </a:xfrm>
          <a:custGeom>
            <a:avLst/>
            <a:gdLst>
              <a:gd name="connsiteX0" fmla="*/ 6766630 w 12192000"/>
              <a:gd name="connsiteY0" fmla="*/ 1948 h 843459"/>
              <a:gd name="connsiteX1" fmla="*/ 12192000 w 12192000"/>
              <a:gd name="connsiteY1" fmla="*/ 632236 h 843459"/>
              <a:gd name="connsiteX2" fmla="*/ 12192000 w 12192000"/>
              <a:gd name="connsiteY2" fmla="*/ 843459 h 843459"/>
              <a:gd name="connsiteX3" fmla="*/ 0 w 12192000"/>
              <a:gd name="connsiteY3" fmla="*/ 843459 h 843459"/>
              <a:gd name="connsiteX4" fmla="*/ 0 w 12192000"/>
              <a:gd name="connsiteY4" fmla="*/ 632236 h 843459"/>
              <a:gd name="connsiteX5" fmla="*/ 6766630 w 12192000"/>
              <a:gd name="connsiteY5" fmla="*/ 1948 h 843459"/>
            </a:gdLst>
            <a:ahLst/>
            <a:cxnLst/>
            <a:rect l="l" t="t" r="r" b="b"/>
            <a:pathLst>
              <a:path w="12192000" h="843459">
                <a:moveTo>
                  <a:pt x="6766630" y="1948"/>
                </a:moveTo>
                <a:cubicBezTo>
                  <a:pt x="8577827" y="22835"/>
                  <a:pt x="10406840" y="212863"/>
                  <a:pt x="12192000" y="632236"/>
                </a:cubicBezTo>
                <a:lnTo>
                  <a:pt x="12192000" y="843459"/>
                </a:lnTo>
                <a:lnTo>
                  <a:pt x="0" y="843459"/>
                </a:lnTo>
                <a:lnTo>
                  <a:pt x="0" y="632236"/>
                </a:lnTo>
                <a:cubicBezTo>
                  <a:pt x="2138715" y="227841"/>
                  <a:pt x="4437947" y="-24907"/>
                  <a:pt x="6766630" y="1948"/>
                </a:cubicBezTo>
                <a:close/>
              </a:path>
            </a:pathLst>
          </a:custGeom>
          <a:gradFill>
            <a:gsLst>
              <a:gs pos="0">
                <a:schemeClr val="accent1">
                  <a:lumMod val="60000"/>
                  <a:lumOff val="40000"/>
                </a:schemeClr>
              </a:gs>
              <a:gs pos="100000">
                <a:schemeClr val="accent1">
                  <a:lumMod val="40000"/>
                  <a:lumOff val="6000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0" y="6583398"/>
            <a:ext cx="12192000" cy="270477"/>
          </a:xfrm>
          <a:custGeom>
            <a:avLst/>
            <a:gdLst>
              <a:gd name="connsiteX0" fmla="*/ 6766630 w 12192000"/>
              <a:gd name="connsiteY0" fmla="*/ 1481 h 579791"/>
              <a:gd name="connsiteX1" fmla="*/ 12192000 w 12192000"/>
              <a:gd name="connsiteY1" fmla="*/ 480659 h 579791"/>
              <a:gd name="connsiteX2" fmla="*/ 12192000 w 12192000"/>
              <a:gd name="connsiteY2" fmla="*/ 579791 h 579791"/>
              <a:gd name="connsiteX3" fmla="*/ 0 w 12192000"/>
              <a:gd name="connsiteY3" fmla="*/ 579791 h 579791"/>
              <a:gd name="connsiteX4" fmla="*/ 0 w 12192000"/>
              <a:gd name="connsiteY4" fmla="*/ 480659 h 579791"/>
              <a:gd name="connsiteX5" fmla="*/ 6766630 w 12192000"/>
              <a:gd name="connsiteY5" fmla="*/ 1481 h 579791"/>
            </a:gdLst>
            <a:ahLst/>
            <a:cxnLst/>
            <a:rect l="l" t="t" r="r" b="b"/>
            <a:pathLst>
              <a:path w="12192000" h="579791">
                <a:moveTo>
                  <a:pt x="6766630" y="1481"/>
                </a:moveTo>
                <a:cubicBezTo>
                  <a:pt x="8577827" y="17360"/>
                  <a:pt x="10406840" y="161830"/>
                  <a:pt x="12192000" y="480659"/>
                </a:cubicBezTo>
                <a:lnTo>
                  <a:pt x="12192000" y="579791"/>
                </a:lnTo>
                <a:lnTo>
                  <a:pt x="0" y="579791"/>
                </a:lnTo>
                <a:lnTo>
                  <a:pt x="0" y="480659"/>
                </a:lnTo>
                <a:cubicBezTo>
                  <a:pt x="2138715" y="173216"/>
                  <a:pt x="4437947" y="-18936"/>
                  <a:pt x="6766630" y="1481"/>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15898695" flipH="1">
            <a:off x="10791580" y="5373268"/>
            <a:ext cx="416417" cy="2395596"/>
          </a:xfrm>
          <a:custGeom>
            <a:avLst/>
            <a:gdLst>
              <a:gd name="connsiteX0" fmla="*/ 59613 w 416417"/>
              <a:gd name="connsiteY0" fmla="*/ 1437704 h 2395596"/>
              <a:gd name="connsiteX1" fmla="*/ 161207 w 416417"/>
              <a:gd name="connsiteY1" fmla="*/ 2212824 h 2395596"/>
              <a:gd name="connsiteX2" fmla="*/ 196920 w 416417"/>
              <a:gd name="connsiteY2" fmla="*/ 2395596 h 2395596"/>
              <a:gd name="connsiteX3" fmla="*/ 416417 w 416417"/>
              <a:gd name="connsiteY3" fmla="*/ 2376308 h 2395596"/>
              <a:gd name="connsiteX4" fmla="*/ 403543 w 416417"/>
              <a:gd name="connsiteY4" fmla="*/ 2328155 h 2395596"/>
              <a:gd name="connsiteX5" fmla="*/ 1395 w 416417"/>
              <a:gd name="connsiteY5" fmla="*/ 0 h 2395596"/>
              <a:gd name="connsiteX6" fmla="*/ 59613 w 416417"/>
              <a:gd name="connsiteY6" fmla="*/ 1437704 h 2395596"/>
            </a:gdLst>
            <a:ahLst/>
            <a:cxnLst/>
            <a:rect l="l" t="t" r="r" b="b"/>
            <a:pathLst>
              <a:path w="416417" h="2395596">
                <a:moveTo>
                  <a:pt x="59613" y="1437704"/>
                </a:moveTo>
                <a:cubicBezTo>
                  <a:pt x="84360" y="1696804"/>
                  <a:pt x="117692" y="1958668"/>
                  <a:pt x="161207" y="2212824"/>
                </a:cubicBezTo>
                <a:lnTo>
                  <a:pt x="196920" y="2395596"/>
                </a:lnTo>
                <a:lnTo>
                  <a:pt x="416417" y="2376308"/>
                </a:lnTo>
                <a:lnTo>
                  <a:pt x="403543" y="2328155"/>
                </a:lnTo>
                <a:cubicBezTo>
                  <a:pt x="258212" y="1761189"/>
                  <a:pt x="124276" y="980285"/>
                  <a:pt x="1395" y="0"/>
                </a:cubicBezTo>
                <a:cubicBezTo>
                  <a:pt x="-5029" y="412349"/>
                  <a:pt x="10121" y="919502"/>
                  <a:pt x="59613" y="1437704"/>
                </a:cubicBez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rot="5701305">
            <a:off x="984002" y="5373269"/>
            <a:ext cx="416417" cy="2395596"/>
          </a:xfrm>
          <a:custGeom>
            <a:avLst/>
            <a:gdLst>
              <a:gd name="connsiteX0" fmla="*/ 59613 w 416417"/>
              <a:gd name="connsiteY0" fmla="*/ 1437704 h 2395596"/>
              <a:gd name="connsiteX1" fmla="*/ 161207 w 416417"/>
              <a:gd name="connsiteY1" fmla="*/ 2212824 h 2395596"/>
              <a:gd name="connsiteX2" fmla="*/ 196920 w 416417"/>
              <a:gd name="connsiteY2" fmla="*/ 2395596 h 2395596"/>
              <a:gd name="connsiteX3" fmla="*/ 416417 w 416417"/>
              <a:gd name="connsiteY3" fmla="*/ 2376308 h 2395596"/>
              <a:gd name="connsiteX4" fmla="*/ 403543 w 416417"/>
              <a:gd name="connsiteY4" fmla="*/ 2328155 h 2395596"/>
              <a:gd name="connsiteX5" fmla="*/ 1395 w 416417"/>
              <a:gd name="connsiteY5" fmla="*/ 0 h 2395596"/>
              <a:gd name="connsiteX6" fmla="*/ 59613 w 416417"/>
              <a:gd name="connsiteY6" fmla="*/ 1437704 h 2395596"/>
            </a:gdLst>
            <a:ahLst/>
            <a:cxnLst/>
            <a:rect l="l" t="t" r="r" b="b"/>
            <a:pathLst>
              <a:path w="416417" h="2395596">
                <a:moveTo>
                  <a:pt x="59613" y="1437704"/>
                </a:moveTo>
                <a:cubicBezTo>
                  <a:pt x="84360" y="1696804"/>
                  <a:pt x="117692" y="1958668"/>
                  <a:pt x="161207" y="2212824"/>
                </a:cubicBezTo>
                <a:lnTo>
                  <a:pt x="196920" y="2395596"/>
                </a:lnTo>
                <a:lnTo>
                  <a:pt x="416417" y="2376308"/>
                </a:lnTo>
                <a:lnTo>
                  <a:pt x="403543" y="2328155"/>
                </a:lnTo>
                <a:cubicBezTo>
                  <a:pt x="258212" y="1761189"/>
                  <a:pt x="124276" y="980285"/>
                  <a:pt x="1395" y="0"/>
                </a:cubicBezTo>
                <a:cubicBezTo>
                  <a:pt x="-5029" y="412349"/>
                  <a:pt x="10121" y="919502"/>
                  <a:pt x="59613" y="1437704"/>
                </a:cubicBez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2341638" y="1458367"/>
            <a:ext cx="9087007" cy="2014177"/>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8848892" y="2227268"/>
            <a:ext cx="2574430" cy="1245276"/>
          </a:xfrm>
          <a:custGeom>
            <a:avLst/>
            <a:gdLst>
              <a:gd name="connsiteX0" fmla="*/ 1314412 w 2628824"/>
              <a:gd name="connsiteY0" fmla="*/ 0 h 1271587"/>
              <a:gd name="connsiteX1" fmla="*/ 2606823 w 2628824"/>
              <a:gd name="connsiteY1" fmla="*/ 1053346 h 1271587"/>
              <a:gd name="connsiteX2" fmla="*/ 2628824 w 2628824"/>
              <a:gd name="connsiteY2" fmla="*/ 1271587 h 1271587"/>
              <a:gd name="connsiteX3" fmla="*/ 0 w 2628824"/>
              <a:gd name="connsiteY3" fmla="*/ 1271587 h 1271587"/>
              <a:gd name="connsiteX4" fmla="*/ 22001 w 2628824"/>
              <a:gd name="connsiteY4" fmla="*/ 1053346 h 1271587"/>
              <a:gd name="connsiteX5" fmla="*/ 1314412 w 2628824"/>
              <a:gd name="connsiteY5" fmla="*/ 0 h 1271587"/>
            </a:gdLst>
            <a:ahLst/>
            <a:cxnLst/>
            <a:rect l="l" t="t" r="r" b="b"/>
            <a:pathLst>
              <a:path w="2628824" h="1271587">
                <a:moveTo>
                  <a:pt x="1314412" y="0"/>
                </a:moveTo>
                <a:cubicBezTo>
                  <a:pt x="1951920" y="0"/>
                  <a:pt x="2483812" y="452203"/>
                  <a:pt x="2606823" y="1053346"/>
                </a:cubicBezTo>
                <a:lnTo>
                  <a:pt x="2628824" y="1271587"/>
                </a:lnTo>
                <a:lnTo>
                  <a:pt x="0" y="1271587"/>
                </a:lnTo>
                <a:lnTo>
                  <a:pt x="22001" y="1053346"/>
                </a:lnTo>
                <a:cubicBezTo>
                  <a:pt x="145013" y="452203"/>
                  <a:pt x="676904" y="0"/>
                  <a:pt x="1314412" y="0"/>
                </a:cubicBezTo>
                <a:close/>
              </a:path>
            </a:pathLst>
          </a:custGeom>
          <a:solidFill>
            <a:schemeClr val="accent1"/>
          </a:solidFill>
          <a:ln w="3175"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2341638" y="3358027"/>
            <a:ext cx="7710971" cy="114517"/>
          </a:xfrm>
          <a:prstGeom prst="rect">
            <a:avLst/>
          </a:prstGeom>
          <a:solidFill>
            <a:schemeClr val="accent1"/>
          </a:solidFill>
          <a:ln w="3175"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2341638" y="3816968"/>
            <a:ext cx="9087007" cy="2014177"/>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flipV="1">
            <a:off x="8848892" y="3816968"/>
            <a:ext cx="2574430" cy="1245276"/>
          </a:xfrm>
          <a:custGeom>
            <a:avLst/>
            <a:gdLst>
              <a:gd name="connsiteX0" fmla="*/ 1314412 w 2628824"/>
              <a:gd name="connsiteY0" fmla="*/ 0 h 1271587"/>
              <a:gd name="connsiteX1" fmla="*/ 2606823 w 2628824"/>
              <a:gd name="connsiteY1" fmla="*/ 1053346 h 1271587"/>
              <a:gd name="connsiteX2" fmla="*/ 2628824 w 2628824"/>
              <a:gd name="connsiteY2" fmla="*/ 1271587 h 1271587"/>
              <a:gd name="connsiteX3" fmla="*/ 0 w 2628824"/>
              <a:gd name="connsiteY3" fmla="*/ 1271587 h 1271587"/>
              <a:gd name="connsiteX4" fmla="*/ 22001 w 2628824"/>
              <a:gd name="connsiteY4" fmla="*/ 1053346 h 1271587"/>
              <a:gd name="connsiteX5" fmla="*/ 1314412 w 2628824"/>
              <a:gd name="connsiteY5" fmla="*/ 0 h 1271587"/>
            </a:gdLst>
            <a:ahLst/>
            <a:cxnLst/>
            <a:rect l="l" t="t" r="r" b="b"/>
            <a:pathLst>
              <a:path w="2628824" h="1271587">
                <a:moveTo>
                  <a:pt x="1314412" y="0"/>
                </a:moveTo>
                <a:cubicBezTo>
                  <a:pt x="1951920" y="0"/>
                  <a:pt x="2483812" y="452203"/>
                  <a:pt x="2606823" y="1053346"/>
                </a:cubicBezTo>
                <a:lnTo>
                  <a:pt x="2628824" y="1271587"/>
                </a:lnTo>
                <a:lnTo>
                  <a:pt x="0" y="1271587"/>
                </a:lnTo>
                <a:lnTo>
                  <a:pt x="22001" y="1053346"/>
                </a:lnTo>
                <a:cubicBezTo>
                  <a:pt x="145013" y="452203"/>
                  <a:pt x="676904" y="0"/>
                  <a:pt x="1314412" y="0"/>
                </a:cubicBezTo>
                <a:close/>
              </a:path>
            </a:pathLst>
          </a:custGeom>
          <a:solidFill>
            <a:schemeClr val="accent1"/>
          </a:solidFill>
          <a:ln w="3175"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flipV="1">
            <a:off x="2341638" y="3816967"/>
            <a:ext cx="7710971" cy="114517"/>
          </a:xfrm>
          <a:prstGeom prst="rect">
            <a:avLst/>
          </a:prstGeom>
          <a:solidFill>
            <a:schemeClr val="accent1"/>
          </a:solidFill>
          <a:ln w="3175"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flipH="1" flipV="1">
            <a:off x="9921325" y="2642053"/>
            <a:ext cx="429564" cy="415706"/>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4" name="标题 1"/>
          <p:cNvSpPr txBox="1"/>
          <p:nvPr/>
        </p:nvSpPr>
        <p:spPr>
          <a:xfrm>
            <a:off x="9928254" y="4231753"/>
            <a:ext cx="415706" cy="415706"/>
          </a:xfrm>
          <a:custGeom>
            <a:avLst/>
            <a:gdLst>
              <a:gd name="connsiteX0" fmla="*/ 438553 w 720000"/>
              <a:gd name="connsiteY0" fmla="*/ 189601 h 720000"/>
              <a:gd name="connsiteX1" fmla="*/ 503636 w 720000"/>
              <a:gd name="connsiteY1" fmla="*/ 216365 h 720000"/>
              <a:gd name="connsiteX2" fmla="*/ 503636 w 720000"/>
              <a:gd name="connsiteY2" fmla="*/ 346445 h 720000"/>
              <a:gd name="connsiteX3" fmla="*/ 362260 w 720000"/>
              <a:gd name="connsiteY3" fmla="*/ 487907 h 720000"/>
              <a:gd name="connsiteX4" fmla="*/ 191861 w 720000"/>
              <a:gd name="connsiteY4" fmla="*/ 528226 h 720000"/>
              <a:gd name="connsiteX5" fmla="*/ 232180 w 720000"/>
              <a:gd name="connsiteY5" fmla="*/ 357827 h 720000"/>
              <a:gd name="connsiteX6" fmla="*/ 373556 w 720000"/>
              <a:gd name="connsiteY6" fmla="*/ 216452 h 720000"/>
              <a:gd name="connsiteX7" fmla="*/ 438553 w 720000"/>
              <a:gd name="connsiteY7" fmla="*/ 189601 h 720000"/>
              <a:gd name="connsiteX8" fmla="*/ 438553 w 720000"/>
              <a:gd name="connsiteY8" fmla="*/ 141636 h 720000"/>
              <a:gd name="connsiteX9" fmla="*/ 339581 w 720000"/>
              <a:gd name="connsiteY9" fmla="*/ 182476 h 720000"/>
              <a:gd name="connsiteX10" fmla="*/ 198205 w 720000"/>
              <a:gd name="connsiteY10" fmla="*/ 323852 h 720000"/>
              <a:gd name="connsiteX11" fmla="*/ 141637 w 720000"/>
              <a:gd name="connsiteY11" fmla="*/ 578364 h 720000"/>
              <a:gd name="connsiteX12" fmla="*/ 396149 w 720000"/>
              <a:gd name="connsiteY12" fmla="*/ 521796 h 720000"/>
              <a:gd name="connsiteX13" fmla="*/ 537524 w 720000"/>
              <a:gd name="connsiteY13" fmla="*/ 380420 h 720000"/>
              <a:gd name="connsiteX14" fmla="*/ 537524 w 720000"/>
              <a:gd name="connsiteY14" fmla="*/ 182476 h 720000"/>
              <a:gd name="connsiteX15" fmla="*/ 438553 w 720000"/>
              <a:gd name="connsiteY15" fmla="*/ 141636 h 720000"/>
              <a:gd name="connsiteX16" fmla="*/ 120000 w 720000"/>
              <a:gd name="connsiteY16" fmla="*/ 0 h 720000"/>
              <a:gd name="connsiteX17" fmla="*/ 600000 w 720000"/>
              <a:gd name="connsiteY17" fmla="*/ 0 h 720000"/>
              <a:gd name="connsiteX18" fmla="*/ 720000 w 720000"/>
              <a:gd name="connsiteY18" fmla="*/ 120000 h 720000"/>
              <a:gd name="connsiteX19" fmla="*/ 720000 w 720000"/>
              <a:gd name="connsiteY19" fmla="*/ 600000 h 720000"/>
              <a:gd name="connsiteX20" fmla="*/ 600000 w 720000"/>
              <a:gd name="connsiteY20" fmla="*/ 720000 h 720000"/>
              <a:gd name="connsiteX21" fmla="*/ 120000 w 720000"/>
              <a:gd name="connsiteY21" fmla="*/ 720000 h 720000"/>
              <a:gd name="connsiteX22" fmla="*/ 0 w 720000"/>
              <a:gd name="connsiteY22" fmla="*/ 600000 h 720000"/>
              <a:gd name="connsiteX23" fmla="*/ 0 w 720000"/>
              <a:gd name="connsiteY23" fmla="*/ 120000 h 720000"/>
              <a:gd name="connsiteX24" fmla="*/ 120000 w 720000"/>
              <a:gd name="connsiteY24" fmla="*/ 0 h 720000"/>
            </a:gdLst>
            <a:ahLst/>
            <a:cxnLst/>
            <a:rect l="l" t="t" r="r" b="b"/>
            <a:pathLst>
              <a:path w="720000" h="720000">
                <a:moveTo>
                  <a:pt x="438553" y="189601"/>
                </a:moveTo>
                <a:cubicBezTo>
                  <a:pt x="463230" y="189601"/>
                  <a:pt x="486344" y="199073"/>
                  <a:pt x="503636" y="216365"/>
                </a:cubicBezTo>
                <a:cubicBezTo>
                  <a:pt x="539523" y="252252"/>
                  <a:pt x="539523" y="310557"/>
                  <a:pt x="503636" y="346445"/>
                </a:cubicBezTo>
                <a:lnTo>
                  <a:pt x="362260" y="487907"/>
                </a:lnTo>
                <a:cubicBezTo>
                  <a:pt x="342622" y="507545"/>
                  <a:pt x="266503" y="522665"/>
                  <a:pt x="191861" y="528226"/>
                </a:cubicBezTo>
                <a:cubicBezTo>
                  <a:pt x="197336" y="453584"/>
                  <a:pt x="212456" y="377465"/>
                  <a:pt x="232180" y="357827"/>
                </a:cubicBezTo>
                <a:lnTo>
                  <a:pt x="373556" y="216452"/>
                </a:lnTo>
                <a:cubicBezTo>
                  <a:pt x="390761" y="199073"/>
                  <a:pt x="413875" y="189601"/>
                  <a:pt x="438553" y="189601"/>
                </a:cubicBezTo>
                <a:close/>
                <a:moveTo>
                  <a:pt x="438553" y="141636"/>
                </a:moveTo>
                <a:cubicBezTo>
                  <a:pt x="402666" y="141636"/>
                  <a:pt x="366778" y="155278"/>
                  <a:pt x="339581" y="182476"/>
                </a:cubicBezTo>
                <a:lnTo>
                  <a:pt x="198205" y="323852"/>
                </a:lnTo>
                <a:cubicBezTo>
                  <a:pt x="143723" y="378335"/>
                  <a:pt x="141637" y="578364"/>
                  <a:pt x="141637" y="578364"/>
                </a:cubicBezTo>
                <a:cubicBezTo>
                  <a:pt x="141637" y="578364"/>
                  <a:pt x="341753" y="576278"/>
                  <a:pt x="396149" y="521796"/>
                </a:cubicBezTo>
                <a:lnTo>
                  <a:pt x="537524" y="380420"/>
                </a:lnTo>
                <a:cubicBezTo>
                  <a:pt x="592007" y="325938"/>
                  <a:pt x="592007" y="236872"/>
                  <a:pt x="537524" y="182476"/>
                </a:cubicBezTo>
                <a:cubicBezTo>
                  <a:pt x="510327" y="155191"/>
                  <a:pt x="474440" y="141636"/>
                  <a:pt x="438553" y="141636"/>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5" name="标题 1"/>
          <p:cNvSpPr txBox="1"/>
          <p:nvPr/>
        </p:nvSpPr>
        <p:spPr>
          <a:xfrm>
            <a:off x="2630434" y="2084499"/>
            <a:ext cx="6023704" cy="941254"/>
          </a:xfrm>
          <a:prstGeom prst="rect">
            <a:avLst/>
          </a:prstGeom>
          <a:noFill/>
          <a:ln cap="sq">
            <a:noFill/>
          </a:ln>
        </p:spPr>
        <p:txBody>
          <a:bodyPr vert="horz" wrap="square" lIns="0" tIns="0" rIns="0" bIns="0" rtlCol="0" anchor="t"/>
          <a:lstStyle/>
          <a:p>
            <a:pPr algn="l">
              <a:lnSpc>
                <a:spcPct val="150000"/>
              </a:lnSpc>
            </a:pPr>
            <a:r>
              <a:rPr kumimoji="1" lang="en-US" altLang="zh-CN" sz="817" dirty="0" err="1">
                <a:ln w="12700">
                  <a:noFill/>
                </a:ln>
                <a:solidFill>
                  <a:srgbClr val="000000">
                    <a:alpha val="100000"/>
                  </a:srgbClr>
                </a:solidFill>
                <a:latin typeface="Source Han Sans CN Normal"/>
                <a:ea typeface="Source Han Sans CN Normal"/>
                <a:cs typeface="Source Han Sans CN Normal"/>
              </a:rPr>
              <a:t>首先切除图像的黑边，去除无用信息，减少数据量。然后调整数据大小，使所有图像具有统一的尺寸，方便后续的处理和分析</a:t>
            </a:r>
            <a:r>
              <a:rPr kumimoji="1" lang="en-US" altLang="zh-CN" sz="817" dirty="0">
                <a:ln w="12700">
                  <a:noFill/>
                </a:ln>
                <a:solidFill>
                  <a:srgbClr val="000000">
                    <a:alpha val="100000"/>
                  </a:srgbClr>
                </a:solidFill>
                <a:latin typeface="Source Han Sans CN Normal"/>
                <a:ea typeface="Source Han Sans CN Normal"/>
                <a:cs typeface="Source Han Sans CN Normal"/>
              </a:rPr>
              <a:t>。
</a:t>
            </a:r>
            <a:r>
              <a:rPr kumimoji="1" lang="en-US" altLang="zh-CN" sz="817" dirty="0" err="1">
                <a:ln w="12700">
                  <a:noFill/>
                </a:ln>
                <a:solidFill>
                  <a:srgbClr val="000000">
                    <a:alpha val="100000"/>
                  </a:srgbClr>
                </a:solidFill>
                <a:latin typeface="Source Han Sans CN Normal"/>
                <a:ea typeface="Source Han Sans CN Normal"/>
                <a:cs typeface="Source Han Sans CN Normal"/>
              </a:rPr>
              <a:t>通过对比度增强算法，如直方图均衡化、自适应直方图均衡化等，扩大图像的对比度，使图像的细节更加清晰</a:t>
            </a:r>
            <a:r>
              <a:rPr kumimoji="1" lang="en-US" altLang="zh-CN" sz="817" dirty="0">
                <a:ln w="12700">
                  <a:noFill/>
                </a:ln>
                <a:solidFill>
                  <a:srgbClr val="000000">
                    <a:alpha val="100000"/>
                  </a:srgbClr>
                </a:solidFill>
                <a:latin typeface="Source Han Sans CN Normal"/>
                <a:ea typeface="Source Han Sans CN Normal"/>
                <a:cs typeface="Source Han Sans CN Normal"/>
              </a:rPr>
              <a:t>。
</a:t>
            </a:r>
            <a:r>
              <a:rPr kumimoji="1" lang="en-US" altLang="zh-CN" sz="817" dirty="0" err="1">
                <a:ln w="12700">
                  <a:noFill/>
                </a:ln>
                <a:solidFill>
                  <a:srgbClr val="000000">
                    <a:alpha val="100000"/>
                  </a:srgbClr>
                </a:solidFill>
                <a:latin typeface="Source Han Sans CN Normal"/>
                <a:ea typeface="Source Han Sans CN Normal"/>
                <a:cs typeface="Source Han Sans CN Normal"/>
              </a:rPr>
              <a:t>采用降噪处理方法，如高斯滤波、中值滤波等，去除图像中的噪声，提高图像质量</a:t>
            </a:r>
            <a:r>
              <a:rPr kumimoji="1" lang="en-US" altLang="zh-CN" sz="817" dirty="0">
                <a:ln w="12700">
                  <a:noFill/>
                </a:ln>
                <a:solidFill>
                  <a:srgbClr val="000000">
                    <a:alpha val="100000"/>
                  </a:srgbClr>
                </a:solidFill>
                <a:latin typeface="Source Han Sans CN Normal"/>
                <a:ea typeface="Source Han Sans CN Normal"/>
                <a:cs typeface="Source Han Sans CN Normal"/>
              </a:rPr>
              <a:t>。
</a:t>
            </a:r>
            <a:r>
              <a:rPr kumimoji="1" lang="en-US" altLang="zh-CN" sz="817" dirty="0" err="1">
                <a:ln w="12700">
                  <a:noFill/>
                </a:ln>
                <a:solidFill>
                  <a:srgbClr val="000000">
                    <a:alpha val="100000"/>
                  </a:srgbClr>
                </a:solidFill>
                <a:latin typeface="Source Han Sans CN Normal"/>
                <a:ea typeface="Source Han Sans CN Normal"/>
                <a:cs typeface="Source Han Sans CN Normal"/>
              </a:rPr>
              <a:t>为了实现样本平衡，采用数据扩充技术，如旋转、翻转、缩放等，增加少数类别的样本数量</a:t>
            </a:r>
            <a:r>
              <a:rPr kumimoji="1" lang="en-US" altLang="zh-CN" sz="817" dirty="0">
                <a:ln w="12700">
                  <a:noFill/>
                </a:ln>
                <a:solidFill>
                  <a:srgbClr val="000000">
                    <a:alpha val="100000"/>
                  </a:srgbClr>
                </a:solidFill>
                <a:latin typeface="Source Han Sans CN Normal"/>
                <a:ea typeface="Source Han Sans CN Normal"/>
                <a:cs typeface="Source Han Sans CN Normal"/>
              </a:rPr>
              <a:t>。
最后进行数据归一化，将图像的像素值映射到一定的范围内，缩短网络训练时间，提高模型的收敛速度。展示预处理流程图，清晰地呈现整个预处理过程。</a:t>
            </a:r>
            <a:endParaRPr kumimoji="1" lang="zh-CN" altLang="en-US" dirty="0"/>
          </a:p>
        </p:txBody>
      </p:sp>
      <p:sp>
        <p:nvSpPr>
          <p:cNvPr id="16" name="标题 1"/>
          <p:cNvSpPr txBox="1"/>
          <p:nvPr/>
        </p:nvSpPr>
        <p:spPr>
          <a:xfrm>
            <a:off x="2620979" y="1585957"/>
            <a:ext cx="6023704" cy="331349"/>
          </a:xfrm>
          <a:prstGeom prst="rect">
            <a:avLst/>
          </a:prstGeom>
          <a:noFill/>
          <a:ln cap="sq">
            <a:noFill/>
          </a:ln>
        </p:spPr>
        <p:txBody>
          <a:bodyPr vert="horz" wrap="square" lIns="0" tIns="0" rIns="0" bIns="0" rtlCol="0" anchor="b"/>
          <a:lstStyle/>
          <a:p>
            <a:pPr algn="l">
              <a:lnSpc>
                <a:spcPct val="130000"/>
              </a:lnSpc>
            </a:pPr>
            <a:r>
              <a:rPr kumimoji="1" lang="en-US" altLang="zh-CN" sz="1600" dirty="0" err="1">
                <a:ln w="12700">
                  <a:noFill/>
                </a:ln>
                <a:solidFill>
                  <a:srgbClr val="0451C5">
                    <a:alpha val="100000"/>
                  </a:srgbClr>
                </a:solidFill>
                <a:latin typeface="Source Han Sans CN Bold Bold"/>
                <a:ea typeface="Source Han Sans CN Bold Bold"/>
                <a:cs typeface="Source Han Sans CN Bold Bold"/>
              </a:rPr>
              <a:t>预处理流程</a:t>
            </a:r>
            <a:endParaRPr kumimoji="1" lang="zh-CN" altLang="en-US" dirty="0"/>
          </a:p>
        </p:txBody>
      </p:sp>
      <p:sp>
        <p:nvSpPr>
          <p:cNvPr id="17" name="标题 1"/>
          <p:cNvSpPr txBox="1"/>
          <p:nvPr/>
        </p:nvSpPr>
        <p:spPr>
          <a:xfrm>
            <a:off x="2620979" y="4773745"/>
            <a:ext cx="5771913" cy="941254"/>
          </a:xfrm>
          <a:prstGeom prst="rect">
            <a:avLst/>
          </a:prstGeom>
          <a:noFill/>
          <a:ln cap="sq">
            <a:noFill/>
          </a:ln>
        </p:spPr>
        <p:txBody>
          <a:bodyPr vert="horz" wrap="square" lIns="0" tIns="0" rIns="0" bIns="0" rtlCol="0" anchor="t"/>
          <a:lstStyle/>
          <a:p>
            <a:pPr algn="l">
              <a:lnSpc>
                <a:spcPct val="150000"/>
              </a:lnSpc>
            </a:pPr>
            <a:r>
              <a:rPr kumimoji="1" lang="en-US" altLang="zh-CN" sz="971" dirty="0" err="1">
                <a:ln w="12700">
                  <a:noFill/>
                </a:ln>
                <a:solidFill>
                  <a:srgbClr val="000000">
                    <a:alpha val="100000"/>
                  </a:srgbClr>
                </a:solidFill>
                <a:latin typeface="Source Han Sans CN Normal"/>
                <a:ea typeface="Source Han Sans CN Normal"/>
                <a:cs typeface="Source Han Sans CN Normal"/>
              </a:rPr>
              <a:t>拆分左右眼联合数据，将左右眼的图像分别进行处理和分析。对疾病关键词进行处理，提取关键信息，以便更好地进行疾病分类</a:t>
            </a:r>
            <a:r>
              <a:rPr kumimoji="1" lang="en-US" altLang="zh-CN" sz="971" dirty="0">
                <a:ln w="12700">
                  <a:noFill/>
                </a:ln>
                <a:solidFill>
                  <a:srgbClr val="000000">
                    <a:alpha val="100000"/>
                  </a:srgbClr>
                </a:solidFill>
                <a:latin typeface="Source Han Sans CN Normal"/>
                <a:ea typeface="Source Han Sans CN Normal"/>
                <a:cs typeface="Source Han Sans CN Normal"/>
              </a:rPr>
              <a:t>。
应用分类规则，根据图像的特征和疾病关键词，对图像进行分类。剔除无效数据，如模糊不清、无法识别的图像，确保数据集的质量。最终输出包含有效信息的表格，为后续的模型训练提供数据支持。</a:t>
            </a:r>
            <a:endParaRPr kumimoji="1" lang="zh-CN" altLang="en-US" dirty="0"/>
          </a:p>
        </p:txBody>
      </p:sp>
      <p:sp>
        <p:nvSpPr>
          <p:cNvPr id="18" name="标题 1"/>
          <p:cNvSpPr txBox="1"/>
          <p:nvPr/>
        </p:nvSpPr>
        <p:spPr>
          <a:xfrm>
            <a:off x="2620978" y="4037024"/>
            <a:ext cx="5771913" cy="671237"/>
          </a:xfrm>
          <a:prstGeom prst="rect">
            <a:avLst/>
          </a:prstGeom>
          <a:noFill/>
          <a:ln cap="sq">
            <a:noFill/>
          </a:ln>
        </p:spPr>
        <p:txBody>
          <a:bodyPr vert="horz" wrap="square" lIns="0" tIns="0" rIns="0" bIns="0" rtlCol="0" anchor="b"/>
          <a:lstStyle/>
          <a:p>
            <a:pPr algn="l">
              <a:lnSpc>
                <a:spcPct val="130000"/>
              </a:lnSpc>
            </a:pPr>
            <a:r>
              <a:rPr kumimoji="1" lang="en-US" altLang="zh-CN" sz="1600">
                <a:ln w="12700">
                  <a:noFill/>
                </a:ln>
                <a:solidFill>
                  <a:srgbClr val="0451C5">
                    <a:alpha val="100000"/>
                  </a:srgbClr>
                </a:solidFill>
                <a:latin typeface="Source Han Sans CN Bold Bold"/>
                <a:ea typeface="Source Han Sans CN Bold Bold"/>
                <a:cs typeface="Source Han Sans CN Bold Bold"/>
              </a:rPr>
              <a:t>数据拆分</a:t>
            </a:r>
            <a:endParaRPr kumimoji="1" lang="zh-CN" altLang="en-US"/>
          </a:p>
        </p:txBody>
      </p:sp>
      <p:sp>
        <p:nvSpPr>
          <p:cNvPr id="19" name="标题 1"/>
          <p:cNvSpPr txBox="1"/>
          <p:nvPr/>
        </p:nvSpPr>
        <p:spPr>
          <a:xfrm>
            <a:off x="781916" y="4630637"/>
            <a:ext cx="1103722" cy="386838"/>
          </a:xfrm>
          <a:custGeom>
            <a:avLst/>
            <a:gdLst>
              <a:gd name="connsiteX0" fmla="*/ 640758 w 2206561"/>
              <a:gd name="connsiteY0" fmla="*/ 4337 h 773360"/>
              <a:gd name="connsiteX1" fmla="*/ 1146674 w 2206561"/>
              <a:gd name="connsiteY1" fmla="*/ 4337 h 773360"/>
              <a:gd name="connsiteX2" fmla="*/ 1531185 w 2206561"/>
              <a:gd name="connsiteY2" fmla="*/ 388849 h 773360"/>
              <a:gd name="connsiteX3" fmla="*/ 1146674 w 2206561"/>
              <a:gd name="connsiteY3" fmla="*/ 773360 h 773360"/>
              <a:gd name="connsiteX4" fmla="*/ 640758 w 2206561"/>
              <a:gd name="connsiteY4" fmla="*/ 773360 h 773360"/>
              <a:gd name="connsiteX5" fmla="*/ 1025270 w 2206561"/>
              <a:gd name="connsiteY5" fmla="*/ 388849 h 773360"/>
              <a:gd name="connsiteX6" fmla="*/ 0 w 2206561"/>
              <a:gd name="connsiteY6" fmla="*/ 4337 h 773360"/>
              <a:gd name="connsiteX7" fmla="*/ 505916 w 2206561"/>
              <a:gd name="connsiteY7" fmla="*/ 4337 h 773360"/>
              <a:gd name="connsiteX8" fmla="*/ 890427 w 2206561"/>
              <a:gd name="connsiteY8" fmla="*/ 388849 h 773360"/>
              <a:gd name="connsiteX9" fmla="*/ 505916 w 2206561"/>
              <a:gd name="connsiteY9" fmla="*/ 773360 h 773360"/>
              <a:gd name="connsiteX10" fmla="*/ 0 w 2206561"/>
              <a:gd name="connsiteY10" fmla="*/ 773360 h 773360"/>
              <a:gd name="connsiteX11" fmla="*/ 384512 w 2206561"/>
              <a:gd name="connsiteY11" fmla="*/ 388849 h 773360"/>
              <a:gd name="connsiteX12" fmla="*/ 1316134 w 2206561"/>
              <a:gd name="connsiteY12" fmla="*/ 0 h 773360"/>
              <a:gd name="connsiteX13" fmla="*/ 1819881 w 2206561"/>
              <a:gd name="connsiteY13" fmla="*/ 0 h 773360"/>
              <a:gd name="connsiteX14" fmla="*/ 2206561 w 2206561"/>
              <a:gd name="connsiteY14" fmla="*/ 386680 h 773360"/>
              <a:gd name="connsiteX15" fmla="*/ 1819881 w 2206561"/>
              <a:gd name="connsiteY15" fmla="*/ 773360 h 773360"/>
              <a:gd name="connsiteX16" fmla="*/ 1316134 w 2206561"/>
              <a:gd name="connsiteY16" fmla="*/ 773360 h 773360"/>
              <a:gd name="connsiteX17" fmla="*/ 1702814 w 2206561"/>
              <a:gd name="connsiteY17" fmla="*/ 386680 h 773360"/>
            </a:gdLst>
            <a:ahLst/>
            <a:cxnLst/>
            <a:rect l="l" t="t" r="r" b="b"/>
            <a:pathLst>
              <a:path w="2206561" h="773360">
                <a:moveTo>
                  <a:pt x="640758" y="4337"/>
                </a:moveTo>
                <a:lnTo>
                  <a:pt x="1146674" y="4337"/>
                </a:lnTo>
                <a:lnTo>
                  <a:pt x="1531185" y="388849"/>
                </a:lnTo>
                <a:lnTo>
                  <a:pt x="1146674" y="773360"/>
                </a:lnTo>
                <a:lnTo>
                  <a:pt x="640758" y="773360"/>
                </a:lnTo>
                <a:lnTo>
                  <a:pt x="1025270" y="388849"/>
                </a:lnTo>
                <a:close/>
                <a:moveTo>
                  <a:pt x="0" y="4337"/>
                </a:moveTo>
                <a:lnTo>
                  <a:pt x="505916" y="4337"/>
                </a:lnTo>
                <a:lnTo>
                  <a:pt x="890427" y="388849"/>
                </a:lnTo>
                <a:lnTo>
                  <a:pt x="505916" y="773360"/>
                </a:lnTo>
                <a:lnTo>
                  <a:pt x="0" y="773360"/>
                </a:lnTo>
                <a:lnTo>
                  <a:pt x="384512" y="388849"/>
                </a:lnTo>
                <a:close/>
                <a:moveTo>
                  <a:pt x="1316134" y="0"/>
                </a:moveTo>
                <a:lnTo>
                  <a:pt x="1819881" y="0"/>
                </a:lnTo>
                <a:lnTo>
                  <a:pt x="2206561" y="386680"/>
                </a:lnTo>
                <a:lnTo>
                  <a:pt x="1819881" y="773360"/>
                </a:lnTo>
                <a:lnTo>
                  <a:pt x="1316134" y="773360"/>
                </a:lnTo>
                <a:lnTo>
                  <a:pt x="1702814" y="386680"/>
                </a:lnTo>
                <a:close/>
              </a:path>
            </a:pathLst>
          </a:custGeom>
          <a:gradFill>
            <a:gsLst>
              <a:gs pos="0">
                <a:schemeClr val="accent1"/>
              </a:gs>
              <a:gs pos="100000">
                <a:schemeClr val="bg1"/>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763356" y="2272036"/>
            <a:ext cx="1103722" cy="386838"/>
          </a:xfrm>
          <a:custGeom>
            <a:avLst/>
            <a:gdLst>
              <a:gd name="connsiteX0" fmla="*/ 640758 w 2206561"/>
              <a:gd name="connsiteY0" fmla="*/ 4337 h 773360"/>
              <a:gd name="connsiteX1" fmla="*/ 1146674 w 2206561"/>
              <a:gd name="connsiteY1" fmla="*/ 4337 h 773360"/>
              <a:gd name="connsiteX2" fmla="*/ 1531185 w 2206561"/>
              <a:gd name="connsiteY2" fmla="*/ 388849 h 773360"/>
              <a:gd name="connsiteX3" fmla="*/ 1146674 w 2206561"/>
              <a:gd name="connsiteY3" fmla="*/ 773360 h 773360"/>
              <a:gd name="connsiteX4" fmla="*/ 640758 w 2206561"/>
              <a:gd name="connsiteY4" fmla="*/ 773360 h 773360"/>
              <a:gd name="connsiteX5" fmla="*/ 1025270 w 2206561"/>
              <a:gd name="connsiteY5" fmla="*/ 388849 h 773360"/>
              <a:gd name="connsiteX6" fmla="*/ 0 w 2206561"/>
              <a:gd name="connsiteY6" fmla="*/ 4337 h 773360"/>
              <a:gd name="connsiteX7" fmla="*/ 505916 w 2206561"/>
              <a:gd name="connsiteY7" fmla="*/ 4337 h 773360"/>
              <a:gd name="connsiteX8" fmla="*/ 890427 w 2206561"/>
              <a:gd name="connsiteY8" fmla="*/ 388849 h 773360"/>
              <a:gd name="connsiteX9" fmla="*/ 505916 w 2206561"/>
              <a:gd name="connsiteY9" fmla="*/ 773360 h 773360"/>
              <a:gd name="connsiteX10" fmla="*/ 0 w 2206561"/>
              <a:gd name="connsiteY10" fmla="*/ 773360 h 773360"/>
              <a:gd name="connsiteX11" fmla="*/ 384512 w 2206561"/>
              <a:gd name="connsiteY11" fmla="*/ 388849 h 773360"/>
              <a:gd name="connsiteX12" fmla="*/ 1316134 w 2206561"/>
              <a:gd name="connsiteY12" fmla="*/ 0 h 773360"/>
              <a:gd name="connsiteX13" fmla="*/ 1819881 w 2206561"/>
              <a:gd name="connsiteY13" fmla="*/ 0 h 773360"/>
              <a:gd name="connsiteX14" fmla="*/ 2206561 w 2206561"/>
              <a:gd name="connsiteY14" fmla="*/ 386680 h 773360"/>
              <a:gd name="connsiteX15" fmla="*/ 1819881 w 2206561"/>
              <a:gd name="connsiteY15" fmla="*/ 773360 h 773360"/>
              <a:gd name="connsiteX16" fmla="*/ 1316134 w 2206561"/>
              <a:gd name="connsiteY16" fmla="*/ 773360 h 773360"/>
              <a:gd name="connsiteX17" fmla="*/ 1702814 w 2206561"/>
              <a:gd name="connsiteY17" fmla="*/ 386680 h 773360"/>
            </a:gdLst>
            <a:ahLst/>
            <a:cxnLst/>
            <a:rect l="l" t="t" r="r" b="b"/>
            <a:pathLst>
              <a:path w="2206561" h="773360">
                <a:moveTo>
                  <a:pt x="640758" y="4337"/>
                </a:moveTo>
                <a:lnTo>
                  <a:pt x="1146674" y="4337"/>
                </a:lnTo>
                <a:lnTo>
                  <a:pt x="1531185" y="388849"/>
                </a:lnTo>
                <a:lnTo>
                  <a:pt x="1146674" y="773360"/>
                </a:lnTo>
                <a:lnTo>
                  <a:pt x="640758" y="773360"/>
                </a:lnTo>
                <a:lnTo>
                  <a:pt x="1025270" y="388849"/>
                </a:lnTo>
                <a:close/>
                <a:moveTo>
                  <a:pt x="0" y="4337"/>
                </a:moveTo>
                <a:lnTo>
                  <a:pt x="505916" y="4337"/>
                </a:lnTo>
                <a:lnTo>
                  <a:pt x="890427" y="388849"/>
                </a:lnTo>
                <a:lnTo>
                  <a:pt x="505916" y="773360"/>
                </a:lnTo>
                <a:lnTo>
                  <a:pt x="0" y="773360"/>
                </a:lnTo>
                <a:lnTo>
                  <a:pt x="384512" y="388849"/>
                </a:lnTo>
                <a:close/>
                <a:moveTo>
                  <a:pt x="1316134" y="0"/>
                </a:moveTo>
                <a:lnTo>
                  <a:pt x="1819881" y="0"/>
                </a:lnTo>
                <a:lnTo>
                  <a:pt x="2206561" y="386680"/>
                </a:lnTo>
                <a:lnTo>
                  <a:pt x="1819881" y="773360"/>
                </a:lnTo>
                <a:lnTo>
                  <a:pt x="1316134" y="773360"/>
                </a:lnTo>
                <a:lnTo>
                  <a:pt x="1702814" y="386680"/>
                </a:lnTo>
                <a:close/>
              </a:path>
            </a:pathLst>
          </a:custGeom>
          <a:gradFill>
            <a:gsLst>
              <a:gs pos="0">
                <a:schemeClr val="accent1"/>
              </a:gs>
              <a:gs pos="100000">
                <a:schemeClr val="bg1"/>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847725" y="450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Bold"/>
                <a:ea typeface="Source Han Sans CN Bold Bold"/>
                <a:cs typeface="Source Han Sans CN Bold Bold"/>
              </a:rPr>
              <a:t>双目彩色眼底图像数据预处理</a:t>
            </a:r>
            <a:endParaRPr kumimoji="1" lang="zh-CN" altLang="en-US"/>
          </a:p>
        </p:txBody>
      </p:sp>
      <p:sp>
        <p:nvSpPr>
          <p:cNvPr id="22" name="标题 1"/>
          <p:cNvSpPr txBox="1"/>
          <p:nvPr/>
        </p:nvSpPr>
        <p:spPr>
          <a:xfrm>
            <a:off x="348958" y="502433"/>
            <a:ext cx="387642" cy="38764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271663" y="431800"/>
            <a:ext cx="387642" cy="387642"/>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477295" y="2291432"/>
            <a:ext cx="540000" cy="1620000"/>
          </a:xfrm>
          <a:prstGeom prst="roundRect">
            <a:avLst>
              <a:gd name="adj" fmla="val 50000"/>
            </a:avLst>
          </a:prstGeom>
          <a:solidFill>
            <a:schemeClr val="bg1">
              <a:lumMod val="9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660400" y="2291432"/>
            <a:ext cx="540000" cy="1620000"/>
          </a:xfrm>
          <a:prstGeom prst="roundRect">
            <a:avLst>
              <a:gd name="adj" fmla="val 50000"/>
            </a:avLst>
          </a:prstGeom>
          <a:solidFill>
            <a:schemeClr val="bg1">
              <a:lumMod val="9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60400" y="2291432"/>
            <a:ext cx="540001" cy="540000"/>
          </a:xfrm>
          <a:prstGeom prst="ellipse">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pic>
        <p:nvPicPr>
          <p:cNvPr id="16" name="图片 15" descr="IMG_264">
            <a:extLst>
              <a:ext uri="{FF2B5EF4-FFF2-40B4-BE49-F238E27FC236}">
                <a16:creationId xmlns:a16="http://schemas.microsoft.com/office/drawing/2014/main" id="{A929C3E8-C0E9-EAFD-6F74-04643417CFBE}"/>
              </a:ext>
            </a:extLst>
          </p:cNvPr>
          <p:cNvPicPr>
            <a:picLocks noChangeAspect="1"/>
          </p:cNvPicPr>
          <p:nvPr/>
        </p:nvPicPr>
        <p:blipFill>
          <a:blip r:embed="rId3"/>
          <a:stretch>
            <a:fillRect/>
          </a:stretch>
        </p:blipFill>
        <p:spPr>
          <a:xfrm>
            <a:off x="1200200" y="912256"/>
            <a:ext cx="9346240" cy="1620000"/>
          </a:xfrm>
          <a:prstGeom prst="rect">
            <a:avLst/>
          </a:prstGeom>
          <a:noFill/>
          <a:ln w="9525">
            <a:noFill/>
          </a:ln>
        </p:spPr>
      </p:pic>
      <p:sp>
        <p:nvSpPr>
          <p:cNvPr id="6" name="标题 1"/>
          <p:cNvSpPr txBox="1"/>
          <p:nvPr/>
        </p:nvSpPr>
        <p:spPr>
          <a:xfrm>
            <a:off x="714400" y="2422934"/>
            <a:ext cx="431800" cy="254000"/>
          </a:xfrm>
          <a:prstGeom prst="rect">
            <a:avLst/>
          </a:prstGeom>
          <a:noFill/>
          <a:ln w="12700" cap="sq">
            <a:noFill/>
            <a:miter/>
          </a:ln>
        </p:spPr>
        <p:txBody>
          <a:bodyPr vert="horz" wrap="square" lIns="0" tIns="0" rIns="0" bIns="0" rtlCol="0" anchor="ctr">
            <a:spAutoFit/>
          </a:bodyPr>
          <a:lstStyle/>
          <a:p>
            <a:pPr algn="ctr">
              <a:lnSpc>
                <a:spcPct val="110000"/>
              </a:lnSpc>
            </a:pPr>
            <a:r>
              <a:rPr kumimoji="1" lang="en-US" altLang="zh-CN" sz="1800">
                <a:ln w="12700">
                  <a:noFill/>
                </a:ln>
                <a:solidFill>
                  <a:srgbClr val="FFFFFF">
                    <a:alpha val="100000"/>
                  </a:srgbClr>
                </a:solidFill>
                <a:latin typeface="OPPOSans B"/>
                <a:ea typeface="OPPOSans B"/>
                <a:cs typeface="OPPOSans B"/>
              </a:rPr>
              <a:t>01</a:t>
            </a:r>
            <a:endParaRPr kumimoji="1" lang="zh-CN" altLang="en-US"/>
          </a:p>
        </p:txBody>
      </p:sp>
      <p:sp>
        <p:nvSpPr>
          <p:cNvPr id="7" name="标题 1"/>
          <p:cNvSpPr txBox="1"/>
          <p:nvPr/>
        </p:nvSpPr>
        <p:spPr>
          <a:xfrm>
            <a:off x="6477295" y="2291432"/>
            <a:ext cx="540001" cy="540000"/>
          </a:xfrm>
          <a:prstGeom prst="ellipse">
            <a:avLst/>
          </a:prstGeom>
          <a:solidFill>
            <a:schemeClr val="accent2"/>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6531295" y="2422934"/>
            <a:ext cx="431800" cy="254000"/>
          </a:xfrm>
          <a:prstGeom prst="rect">
            <a:avLst/>
          </a:prstGeom>
          <a:noFill/>
          <a:ln w="12700" cap="sq">
            <a:noFill/>
            <a:miter/>
          </a:ln>
        </p:spPr>
        <p:txBody>
          <a:bodyPr vert="horz" wrap="square" lIns="0" tIns="0" rIns="0" bIns="0" rtlCol="0" anchor="ctr">
            <a:spAutoFit/>
          </a:bodyPr>
          <a:lstStyle/>
          <a:p>
            <a:pPr algn="ctr">
              <a:lnSpc>
                <a:spcPct val="110000"/>
              </a:lnSpc>
            </a:pPr>
            <a:r>
              <a:rPr kumimoji="1" lang="en-US" altLang="zh-CN" sz="1800">
                <a:ln w="12700">
                  <a:noFill/>
                </a:ln>
                <a:solidFill>
                  <a:srgbClr val="FFFFFF">
                    <a:alpha val="100000"/>
                  </a:srgbClr>
                </a:solidFill>
                <a:latin typeface="OPPOSans B"/>
                <a:ea typeface="OPPOSans B"/>
                <a:cs typeface="OPPOSans B"/>
              </a:rPr>
              <a:t>02</a:t>
            </a:r>
            <a:endParaRPr kumimoji="1" lang="zh-CN" altLang="en-US"/>
          </a:p>
        </p:txBody>
      </p:sp>
      <p:sp>
        <p:nvSpPr>
          <p:cNvPr id="9" name="标题 1"/>
          <p:cNvSpPr txBox="1"/>
          <p:nvPr/>
        </p:nvSpPr>
        <p:spPr>
          <a:xfrm>
            <a:off x="1374930" y="2870307"/>
            <a:ext cx="4320000" cy="2188359"/>
          </a:xfrm>
          <a:prstGeom prst="rect">
            <a:avLst/>
          </a:prstGeom>
          <a:noFill/>
          <a:ln>
            <a:noFill/>
          </a:ln>
        </p:spPr>
        <p:txBody>
          <a:bodyPr vert="horz" wrap="square" lIns="0" tIns="0" rIns="0" bIns="0" rtlCol="0" anchor="t"/>
          <a:lstStyle/>
          <a:p>
            <a:pPr algn="l">
              <a:lnSpc>
                <a:spcPct val="150000"/>
              </a:lnSpc>
            </a:pPr>
            <a:r>
              <a:rPr kumimoji="1" lang="en-US" altLang="zh-CN" sz="1400" dirty="0">
                <a:ln w="12700">
                  <a:noFill/>
                </a:ln>
                <a:solidFill>
                  <a:srgbClr val="262626">
                    <a:alpha val="100000"/>
                  </a:srgbClr>
                </a:solidFill>
                <a:latin typeface="Source Han Sans CN Normal"/>
                <a:ea typeface="Source Han Sans CN Normal"/>
                <a:cs typeface="Source Han Sans CN Normal"/>
              </a:rPr>
              <a:t>通过灰度阈值检测剪裁黑边，去除图像周围的无用部分。</a:t>
            </a:r>
            <a:r>
              <a:rPr kumimoji="1" lang="en-US" altLang="zh-CN" sz="1400" dirty="0">
                <a:ln w="12700">
                  <a:noFill/>
                </a:ln>
                <a:solidFill>
                  <a:srgbClr val="262626">
                    <a:alpha val="100000"/>
                  </a:srgbClr>
                </a:solidFill>
                <a:latin typeface="Source Han Sans CN Normal"/>
                <a:ea typeface="Source Han Sans CN Normal"/>
              </a:rPr>
              <a:t>然后调整图像大小</a:t>
            </a:r>
            <a:r>
              <a:rPr kumimoji="1" lang="en-US" altLang="zh-CN" sz="1400" dirty="0">
                <a:ln w="12700">
                  <a:noFill/>
                </a:ln>
                <a:solidFill>
                  <a:srgbClr val="262626">
                    <a:alpha val="100000"/>
                  </a:srgbClr>
                </a:solidFill>
                <a:latin typeface="Source Han Sans CN Normal"/>
                <a:ea typeface="Source Han Sans CN Normal"/>
                <a:cs typeface="Source Han Sans CN Normal"/>
              </a:rPr>
              <a:t>，将其统一成224×224的尺寸，这是许多深度学习模型输入图像的标准尺寸。展示黑边裁剪和统一大小前后的图像对比，直观地呈现标准化的效果。</a:t>
            </a:r>
            <a:endParaRPr kumimoji="1" lang="zh-CN" altLang="en-US" dirty="0"/>
          </a:p>
        </p:txBody>
      </p:sp>
      <p:sp>
        <p:nvSpPr>
          <p:cNvPr id="10" name="标题 1"/>
          <p:cNvSpPr txBox="1"/>
          <p:nvPr/>
        </p:nvSpPr>
        <p:spPr>
          <a:xfrm>
            <a:off x="1374930" y="2205734"/>
            <a:ext cx="4320000" cy="664573"/>
          </a:xfrm>
          <a:prstGeom prst="rect">
            <a:avLst/>
          </a:prstGeom>
          <a:noFill/>
          <a:ln>
            <a:noFill/>
          </a:ln>
        </p:spPr>
        <p:txBody>
          <a:bodyPr vert="horz" wrap="square" lIns="0" tIns="0" rIns="0" bIns="0" rtlCol="0" anchor="ctr"/>
          <a:lstStyle/>
          <a:p>
            <a:pPr algn="l">
              <a:lnSpc>
                <a:spcPct val="130000"/>
              </a:lnSpc>
            </a:pPr>
            <a:r>
              <a:rPr kumimoji="1" lang="en-US" altLang="zh-CN" sz="1600">
                <a:ln w="12700">
                  <a:noFill/>
                </a:ln>
                <a:solidFill>
                  <a:srgbClr val="262626">
                    <a:alpha val="100000"/>
                  </a:srgbClr>
                </a:solidFill>
                <a:latin typeface="Source Han Sans CN Bold Bold"/>
                <a:ea typeface="Source Han Sans CN Bold Bold"/>
                <a:cs typeface="Source Han Sans CN Bold Bold"/>
              </a:rPr>
              <a:t>图像标准化</a:t>
            </a:r>
            <a:endParaRPr kumimoji="1" lang="zh-CN" altLang="en-US"/>
          </a:p>
        </p:txBody>
      </p:sp>
      <mc:AlternateContent xmlns:mc="http://schemas.openxmlformats.org/markup-compatibility/2006" xmlns:a14="http://schemas.microsoft.com/office/drawing/2010/main">
        <mc:Choice Requires="a14">
          <p:sp>
            <p:nvSpPr>
              <p:cNvPr id="11" name="标题 1"/>
              <p:cNvSpPr txBox="1"/>
              <p:nvPr/>
            </p:nvSpPr>
            <p:spPr>
              <a:xfrm>
                <a:off x="7191826" y="2870307"/>
                <a:ext cx="4320000" cy="2188359"/>
              </a:xfrm>
              <a:prstGeom prst="rect">
                <a:avLst/>
              </a:prstGeom>
              <a:noFill/>
              <a:ln>
                <a:noFill/>
              </a:ln>
            </p:spPr>
            <p:txBody>
              <a:bodyPr vert="horz" wrap="square" lIns="0" tIns="0" rIns="0" bIns="0" rtlCol="0" anchor="t"/>
              <a:lstStyle/>
              <a:p>
                <a:pPr algn="l">
                  <a:lnSpc>
                    <a:spcPct val="150000"/>
                  </a:lnSpc>
                </a:pPr>
                <a:r>
                  <a:rPr kumimoji="1" lang="en-US" altLang="zh-CN" sz="1400" dirty="0">
                    <a:ln w="12700">
                      <a:noFill/>
                    </a:ln>
                    <a:solidFill>
                      <a:srgbClr val="262626">
                        <a:alpha val="100000"/>
                      </a:srgbClr>
                    </a:solidFill>
                    <a:latin typeface="Source Han Sans CN Normal"/>
                    <a:ea typeface="Source Han Sans CN Normal"/>
                    <a:cs typeface="Source Han Sans CN Normal"/>
                  </a:rPr>
                  <a:t>将像素值从[0,255]</a:t>
                </a:r>
                <a:r>
                  <a:rPr kumimoji="1" lang="en-US" altLang="zh-CN" sz="1400" dirty="0" err="1">
                    <a:ln w="12700">
                      <a:noFill/>
                    </a:ln>
                    <a:solidFill>
                      <a:srgbClr val="262626">
                        <a:alpha val="100000"/>
                      </a:srgbClr>
                    </a:solidFill>
                    <a:latin typeface="Source Han Sans CN Normal"/>
                    <a:ea typeface="Source Han Sans CN Normal"/>
                    <a:cs typeface="Source Han Sans CN Normal"/>
                  </a:rPr>
                  <a:t>转换到</a:t>
                </a:r>
                <a:r>
                  <a:rPr kumimoji="1" lang="en-US" altLang="zh-CN" sz="1400" dirty="0">
                    <a:ln w="12700">
                      <a:noFill/>
                    </a:ln>
                    <a:solidFill>
                      <a:srgbClr val="262626">
                        <a:alpha val="100000"/>
                      </a:srgbClr>
                    </a:solidFill>
                    <a:latin typeface="Source Han Sans CN Normal"/>
                    <a:ea typeface="Source Han Sans CN Normal"/>
                    <a:cs typeface="Source Han Sans CN Normal"/>
                  </a:rPr>
                  <a:t>[0,1]，</a:t>
                </a:r>
                <a:r>
                  <a:rPr kumimoji="1" lang="en-US" altLang="zh-CN" sz="1400" dirty="0" err="1">
                    <a:ln w="12700">
                      <a:noFill/>
                    </a:ln>
                    <a:solidFill>
                      <a:srgbClr val="262626">
                        <a:alpha val="100000"/>
                      </a:srgbClr>
                    </a:solidFill>
                    <a:latin typeface="Source Han Sans CN Normal"/>
                    <a:ea typeface="Source Han Sans CN Normal"/>
                    <a:cs typeface="Source Han Sans CN Normal"/>
                  </a:rPr>
                  <a:t>通过归一化处理，削弱数值对模型训练的干扰，使模型更容易收敛。给出归一化公式，如X</a:t>
                </a:r>
                <a:r>
                  <a:rPr kumimoji="1" lang="en-US" altLang="zh-CN" sz="1400" baseline="-25000" dirty="0" err="1">
                    <a:ln w="12700">
                      <a:noFill/>
                    </a:ln>
                    <a:solidFill>
                      <a:srgbClr val="262626">
                        <a:alpha val="100000"/>
                      </a:srgbClr>
                    </a:solidFill>
                    <a:latin typeface="Source Han Sans CN Normal"/>
                    <a:ea typeface="Source Han Sans CN Normal"/>
                    <a:cs typeface="Source Han Sans CN Normal"/>
                  </a:rPr>
                  <a:t>norm</a:t>
                </a:r>
                <a:r>
                  <a:rPr kumimoji="1" lang="en-US" altLang="zh-CN" sz="1400" baseline="-25000" dirty="0">
                    <a:ln w="12700">
                      <a:noFill/>
                    </a:ln>
                    <a:solidFill>
                      <a:srgbClr val="262626">
                        <a:alpha val="100000"/>
                      </a:srgbClr>
                    </a:solidFill>
                    <a:latin typeface="Source Han Sans CN Normal"/>
                    <a:ea typeface="Source Han Sans CN Normal"/>
                    <a:cs typeface="Source Han Sans CN Normal"/>
                  </a:rPr>
                  <a:t> </a:t>
                </a:r>
                <a:r>
                  <a:rPr kumimoji="1" lang="en-US" altLang="zh-CN" sz="1400" dirty="0">
                    <a:ln w="12700">
                      <a:noFill/>
                    </a:ln>
                    <a:solidFill>
                      <a:srgbClr val="262626">
                        <a:alpha val="100000"/>
                      </a:srgbClr>
                    </a:solidFill>
                    <a:latin typeface="Source Han Sans CN Normal"/>
                    <a:ea typeface="Source Han Sans CN Normal"/>
                    <a:cs typeface="Source Han Sans CN Normal"/>
                  </a:rPr>
                  <a:t>=  </a:t>
                </a:r>
                <a14:m>
                  <m:oMath xmlns:m="http://schemas.openxmlformats.org/officeDocument/2006/math">
                    <m:f>
                      <m:fPr>
                        <m:ctrlPr>
                          <a:rPr kumimoji="1" lang="en-US" altLang="zh-CN" sz="1400" i="1" smtClean="0">
                            <a:ln w="12700">
                              <a:noFill/>
                            </a:ln>
                            <a:solidFill>
                              <a:srgbClr val="262626">
                                <a:alpha val="100000"/>
                              </a:srgbClr>
                            </a:solidFill>
                            <a:latin typeface="Cambria Math" panose="02040503050406030204" pitchFamily="18" charset="0"/>
                            <a:ea typeface="Source Han Sans CN Normal"/>
                          </a:rPr>
                        </m:ctrlPr>
                      </m:fPr>
                      <m:num>
                        <m:r>
                          <m:rPr>
                            <m:sty m:val="p"/>
                          </m:rPr>
                          <a:rPr kumimoji="1" lang="en-US" altLang="zh-CN" sz="1400" i="1">
                            <a:ln w="12700">
                              <a:noFill/>
                            </a:ln>
                            <a:solidFill>
                              <a:srgbClr val="262626">
                                <a:alpha val="100000"/>
                              </a:srgbClr>
                            </a:solidFill>
                            <a:latin typeface="Cambria Math" panose="02040503050406030204" pitchFamily="18" charset="0"/>
                            <a:ea typeface="Source Han Sans CN Normal"/>
                          </a:rPr>
                          <m:t>X</m:t>
                        </m:r>
                        <m:r>
                          <a:rPr kumimoji="1" lang="en-US" altLang="zh-CN" sz="1400" b="0" i="1" smtClean="0">
                            <a:ln w="12700">
                              <a:noFill/>
                            </a:ln>
                            <a:solidFill>
                              <a:srgbClr val="262626">
                                <a:alpha val="100000"/>
                              </a:srgbClr>
                            </a:solidFill>
                            <a:latin typeface="Cambria Math" panose="02040503050406030204" pitchFamily="18" charset="0"/>
                            <a:ea typeface="Source Han Sans CN Normal"/>
                          </a:rPr>
                          <m:t>−</m:t>
                        </m:r>
                        <m:r>
                          <m:rPr>
                            <m:sty m:val="p"/>
                          </m:rPr>
                          <a:rPr kumimoji="1" lang="en-US" altLang="zh-CN" sz="1400" i="1">
                            <a:ln w="12700">
                              <a:noFill/>
                            </a:ln>
                            <a:solidFill>
                              <a:srgbClr val="262626">
                                <a:alpha val="100000"/>
                              </a:srgbClr>
                            </a:solidFill>
                            <a:latin typeface="Cambria Math" panose="02040503050406030204" pitchFamily="18" charset="0"/>
                            <a:ea typeface="Source Han Sans CN Normal"/>
                          </a:rPr>
                          <m:t>X</m:t>
                        </m:r>
                        <m:r>
                          <m:rPr>
                            <m:sty m:val="p"/>
                          </m:rPr>
                          <a:rPr kumimoji="1" lang="en-US" altLang="zh-CN" sz="1400" i="1" smtClean="0">
                            <a:ln w="12700">
                              <a:noFill/>
                            </a:ln>
                            <a:solidFill>
                              <a:srgbClr val="262626">
                                <a:alpha val="100000"/>
                              </a:srgbClr>
                            </a:solidFill>
                            <a:latin typeface="Cambria Math" panose="02040503050406030204" pitchFamily="18" charset="0"/>
                            <a:ea typeface="Source Han Sans CN Normal"/>
                          </a:rPr>
                          <m:t>min</m:t>
                        </m:r>
                      </m:num>
                      <m:den>
                        <m:r>
                          <m:rPr>
                            <m:sty m:val="p"/>
                          </m:rPr>
                          <a:rPr kumimoji="1" lang="en-US" altLang="zh-CN" sz="1400" i="1">
                            <a:ln w="12700">
                              <a:noFill/>
                            </a:ln>
                            <a:solidFill>
                              <a:srgbClr val="262626">
                                <a:alpha val="100000"/>
                              </a:srgbClr>
                            </a:solidFill>
                            <a:latin typeface="Cambria Math" panose="02040503050406030204" pitchFamily="18" charset="0"/>
                            <a:ea typeface="Source Han Sans CN Normal"/>
                          </a:rPr>
                          <m:t>X</m:t>
                        </m:r>
                        <m:r>
                          <m:rPr>
                            <m:sty m:val="p"/>
                          </m:rPr>
                          <a:rPr kumimoji="1" lang="en-US" altLang="zh-CN" sz="1400" i="1" smtClean="0">
                            <a:ln w="12700">
                              <a:noFill/>
                            </a:ln>
                            <a:solidFill>
                              <a:srgbClr val="262626">
                                <a:alpha val="100000"/>
                              </a:srgbClr>
                            </a:solidFill>
                            <a:latin typeface="Cambria Math" panose="02040503050406030204" pitchFamily="18" charset="0"/>
                            <a:ea typeface="Source Han Sans CN Normal"/>
                          </a:rPr>
                          <m:t>max</m:t>
                        </m:r>
                        <m:r>
                          <a:rPr kumimoji="1" lang="en-US" altLang="zh-CN" sz="1400" b="0" i="1" smtClean="0">
                            <a:ln w="12700">
                              <a:noFill/>
                            </a:ln>
                            <a:solidFill>
                              <a:srgbClr val="262626">
                                <a:alpha val="100000"/>
                              </a:srgbClr>
                            </a:solidFill>
                            <a:latin typeface="Cambria Math" panose="02040503050406030204" pitchFamily="18" charset="0"/>
                            <a:ea typeface="Source Han Sans CN Normal"/>
                          </a:rPr>
                          <m:t>−</m:t>
                        </m:r>
                        <m:r>
                          <m:rPr>
                            <m:sty m:val="p"/>
                          </m:rPr>
                          <a:rPr kumimoji="1" lang="en-US" altLang="zh-CN" sz="1400" i="1">
                            <a:ln w="12700">
                              <a:noFill/>
                            </a:ln>
                            <a:solidFill>
                              <a:srgbClr val="262626">
                                <a:alpha val="100000"/>
                              </a:srgbClr>
                            </a:solidFill>
                            <a:latin typeface="Cambria Math" panose="02040503050406030204" pitchFamily="18" charset="0"/>
                            <a:ea typeface="Source Han Sans CN Normal"/>
                          </a:rPr>
                          <m:t>X</m:t>
                        </m:r>
                        <m:r>
                          <m:rPr>
                            <m:sty m:val="p"/>
                          </m:rPr>
                          <a:rPr kumimoji="1" lang="en-US" altLang="zh-CN" sz="1400" i="1" smtClean="0">
                            <a:ln w="12700">
                              <a:noFill/>
                            </a:ln>
                            <a:solidFill>
                              <a:srgbClr val="262626">
                                <a:alpha val="100000"/>
                              </a:srgbClr>
                            </a:solidFill>
                            <a:latin typeface="Cambria Math" panose="02040503050406030204" pitchFamily="18" charset="0"/>
                            <a:ea typeface="Source Han Sans CN Normal"/>
                          </a:rPr>
                          <m:t>min</m:t>
                        </m:r>
                      </m:den>
                    </m:f>
                  </m:oMath>
                </a14:m>
                <a:r>
                  <a:rPr kumimoji="1" lang="zh-CN" altLang="en-US" sz="1400" dirty="0">
                    <a:ln w="12700">
                      <a:noFill/>
                    </a:ln>
                    <a:solidFill>
                      <a:srgbClr val="262626">
                        <a:alpha val="100000"/>
                      </a:srgbClr>
                    </a:solidFill>
                    <a:latin typeface="Source Han Sans CN Normal"/>
                    <a:ea typeface="Source Han Sans CN Normal"/>
                    <a:cs typeface="Source Han Sans CN Normal"/>
                  </a:rPr>
                  <a:t>，</a:t>
                </a:r>
                <a:r>
                  <a:rPr kumimoji="1" lang="en-US" altLang="zh-CN" sz="1400" dirty="0" err="1">
                    <a:ln w="12700">
                      <a:noFill/>
                    </a:ln>
                    <a:solidFill>
                      <a:srgbClr val="262626">
                        <a:alpha val="100000"/>
                      </a:srgbClr>
                    </a:solidFill>
                    <a:latin typeface="Source Han Sans CN Normal"/>
                    <a:ea typeface="Source Han Sans CN Normal"/>
                    <a:cs typeface="Source Han Sans CN Normal"/>
                  </a:rPr>
                  <a:t>其中X为原始像素值，X</a:t>
                </a:r>
                <a:r>
                  <a:rPr kumimoji="1" lang="en-US" altLang="zh-CN" sz="1400" baseline="-25000" dirty="0" err="1">
                    <a:ln w="12700">
                      <a:noFill/>
                    </a:ln>
                    <a:solidFill>
                      <a:srgbClr val="262626">
                        <a:alpha val="100000"/>
                      </a:srgbClr>
                    </a:solidFill>
                    <a:latin typeface="Source Han Sans CN Normal"/>
                    <a:ea typeface="Source Han Sans CN Normal"/>
                    <a:cs typeface="Source Han Sans CN Normal"/>
                  </a:rPr>
                  <a:t>min</a:t>
                </a:r>
                <a:r>
                  <a:rPr kumimoji="1" lang="en-US" altLang="zh-CN" sz="1400" dirty="0" err="1">
                    <a:ln w="12700">
                      <a:noFill/>
                    </a:ln>
                    <a:solidFill>
                      <a:srgbClr val="262626">
                        <a:alpha val="100000"/>
                      </a:srgbClr>
                    </a:solidFill>
                    <a:latin typeface="Source Han Sans CN Normal"/>
                    <a:ea typeface="Source Han Sans CN Normal"/>
                    <a:cs typeface="Source Han Sans CN Normal"/>
                  </a:rPr>
                  <a:t>和X</a:t>
                </a:r>
                <a:r>
                  <a:rPr kumimoji="1" lang="en-US" altLang="zh-CN" sz="1400" baseline="-25000" dirty="0" err="1">
                    <a:ln w="12700">
                      <a:noFill/>
                    </a:ln>
                    <a:solidFill>
                      <a:srgbClr val="262626">
                        <a:alpha val="100000"/>
                      </a:srgbClr>
                    </a:solidFill>
                    <a:latin typeface="Source Han Sans CN Normal"/>
                    <a:ea typeface="Source Han Sans CN Normal"/>
                    <a:cs typeface="Source Han Sans CN Normal"/>
                  </a:rPr>
                  <a:t>max</a:t>
                </a:r>
                <a:r>
                  <a:rPr kumimoji="1" lang="en-US" altLang="zh-CN" sz="1400" dirty="0" err="1">
                    <a:ln w="12700">
                      <a:noFill/>
                    </a:ln>
                    <a:solidFill>
                      <a:srgbClr val="262626">
                        <a:alpha val="100000"/>
                      </a:srgbClr>
                    </a:solidFill>
                    <a:latin typeface="Source Han Sans CN Normal"/>
                    <a:ea typeface="Source Han Sans CN Normal"/>
                    <a:cs typeface="Source Han Sans CN Normal"/>
                  </a:rPr>
                  <a:t>分别为图像像素值的最小值和最大值。展示图像增强前后对比示例，说明归一化对图像特征的影响</a:t>
                </a:r>
                <a:r>
                  <a:rPr kumimoji="1" lang="en-US" altLang="zh-CN" sz="1400" dirty="0">
                    <a:ln w="12700">
                      <a:noFill/>
                    </a:ln>
                    <a:solidFill>
                      <a:srgbClr val="262626">
                        <a:alpha val="100000"/>
                      </a:srgbClr>
                    </a:solidFill>
                    <a:latin typeface="Source Han Sans CN Normal"/>
                    <a:ea typeface="Source Han Sans CN Normal"/>
                    <a:cs typeface="Source Han Sans CN Normal"/>
                  </a:rPr>
                  <a:t>。</a:t>
                </a:r>
                <a:endParaRPr kumimoji="1" lang="zh-CN" altLang="en-US" dirty="0"/>
              </a:p>
            </p:txBody>
          </p:sp>
        </mc:Choice>
        <mc:Fallback xmlns="">
          <p:sp>
            <p:nvSpPr>
              <p:cNvPr id="11" name="标题 1"/>
              <p:cNvSpPr txBox="1">
                <a:spLocks noRot="1" noChangeAspect="1" noMove="1" noResize="1" noEditPoints="1" noAdjustHandles="1" noChangeArrowheads="1" noChangeShapeType="1" noTextEdit="1"/>
              </p:cNvSpPr>
              <p:nvPr/>
            </p:nvSpPr>
            <p:spPr>
              <a:xfrm>
                <a:off x="7191826" y="2870307"/>
                <a:ext cx="4320000" cy="2188359"/>
              </a:xfrm>
              <a:prstGeom prst="rect">
                <a:avLst/>
              </a:prstGeom>
              <a:blipFill>
                <a:blip r:embed="rId4"/>
                <a:stretch>
                  <a:fillRect l="-2542" t="-836" r="-5508"/>
                </a:stretch>
              </a:blipFill>
              <a:ln>
                <a:noFill/>
              </a:ln>
            </p:spPr>
            <p:txBody>
              <a:bodyPr/>
              <a:lstStyle/>
              <a:p>
                <a:r>
                  <a:rPr lang="zh-CN" altLang="en-US">
                    <a:noFill/>
                  </a:rPr>
                  <a:t> </a:t>
                </a:r>
              </a:p>
            </p:txBody>
          </p:sp>
        </mc:Fallback>
      </mc:AlternateContent>
      <p:sp>
        <p:nvSpPr>
          <p:cNvPr id="12" name="标题 1"/>
          <p:cNvSpPr txBox="1"/>
          <p:nvPr/>
        </p:nvSpPr>
        <p:spPr>
          <a:xfrm>
            <a:off x="7191826" y="2205734"/>
            <a:ext cx="4320000" cy="664573"/>
          </a:xfrm>
          <a:prstGeom prst="rect">
            <a:avLst/>
          </a:prstGeom>
          <a:noFill/>
          <a:ln>
            <a:noFill/>
          </a:ln>
        </p:spPr>
        <p:txBody>
          <a:bodyPr vert="horz" wrap="square" lIns="0" tIns="0" rIns="0" bIns="0" rtlCol="0" anchor="ctr"/>
          <a:lstStyle/>
          <a:p>
            <a:pPr algn="l">
              <a:lnSpc>
                <a:spcPct val="130000"/>
              </a:lnSpc>
            </a:pPr>
            <a:r>
              <a:rPr kumimoji="1" lang="en-US" altLang="zh-CN" sz="1600">
                <a:ln w="12700">
                  <a:noFill/>
                </a:ln>
                <a:solidFill>
                  <a:srgbClr val="262626">
                    <a:alpha val="100000"/>
                  </a:srgbClr>
                </a:solidFill>
                <a:latin typeface="Source Han Sans CN Bold Bold"/>
                <a:ea typeface="Source Han Sans CN Bold Bold"/>
                <a:cs typeface="Source Han Sans CN Bold Bold"/>
              </a:rPr>
              <a:t>图像归一化</a:t>
            </a:r>
            <a:endParaRPr kumimoji="1" lang="zh-CN" altLang="en-US"/>
          </a:p>
        </p:txBody>
      </p:sp>
      <p:sp>
        <p:nvSpPr>
          <p:cNvPr id="13" name="标题 1"/>
          <p:cNvSpPr txBox="1"/>
          <p:nvPr/>
        </p:nvSpPr>
        <p:spPr>
          <a:xfrm>
            <a:off x="847725" y="450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Bold"/>
                <a:ea typeface="Source Han Sans CN Bold Bold"/>
                <a:cs typeface="Source Han Sans CN Bold Bold"/>
              </a:rPr>
              <a:t>图像标准化与归一化</a:t>
            </a:r>
            <a:endParaRPr kumimoji="1" lang="zh-CN" altLang="en-US"/>
          </a:p>
        </p:txBody>
      </p:sp>
      <p:sp>
        <p:nvSpPr>
          <p:cNvPr id="14" name="标题 1"/>
          <p:cNvSpPr txBox="1"/>
          <p:nvPr/>
        </p:nvSpPr>
        <p:spPr>
          <a:xfrm>
            <a:off x="348958" y="502433"/>
            <a:ext cx="387642" cy="38764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271663" y="431800"/>
            <a:ext cx="387642" cy="387642"/>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60400" y="2279140"/>
            <a:ext cx="3036516" cy="1008099"/>
          </a:xfrm>
          <a:prstGeom prst="rect">
            <a:avLst/>
          </a:prstGeom>
          <a:noFill/>
          <a:ln cap="sq">
            <a:noFill/>
          </a:ln>
        </p:spPr>
        <p:txBody>
          <a:bodyPr vert="horz" wrap="square" lIns="91440" tIns="45720" rIns="91440" bIns="45720" rtlCol="0" anchor="t"/>
          <a:lstStyle/>
          <a:p>
            <a:pPr algn="r">
              <a:lnSpc>
                <a:spcPct val="110000"/>
              </a:lnSpc>
            </a:pPr>
            <a:r>
              <a:rPr kumimoji="1" lang="en-US" altLang="zh-CN" sz="1041">
                <a:ln w="12700">
                  <a:noFill/>
                </a:ln>
                <a:solidFill>
                  <a:srgbClr val="000000">
                    <a:alpha val="100000"/>
                  </a:srgbClr>
                </a:solidFill>
                <a:latin typeface="Source Han Sans CN Normal"/>
                <a:ea typeface="Source Han Sans CN Normal"/>
                <a:cs typeface="Source Han Sans CN Normal"/>
              </a:rPr>
              <a:t>Ben Graham方法结合高斯模糊技术去噪，通过模拟散焦模糊定义，对图像进行平滑处理，去除噪声。介绍高斯模糊参数，如核大小、标准差等，以及这些参数对去噪效果的影响。例如，较大的核大小和标准差可以使图像更加平滑，但也可能会丢失一些细节信息。</a:t>
            </a:r>
            <a:endParaRPr kumimoji="1" lang="zh-CN" altLang="en-US"/>
          </a:p>
        </p:txBody>
      </p:sp>
      <p:sp>
        <p:nvSpPr>
          <p:cNvPr id="4" name="标题 1"/>
          <p:cNvSpPr txBox="1"/>
          <p:nvPr/>
        </p:nvSpPr>
        <p:spPr>
          <a:xfrm flipH="1">
            <a:off x="3720383" y="2514924"/>
            <a:ext cx="2884697" cy="536531"/>
          </a:xfrm>
          <a:prstGeom prst="homePlate">
            <a:avLst>
              <a:gd name="adj" fmla="val 58772"/>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2700000" flipH="1">
            <a:off x="6394156" y="2566659"/>
            <a:ext cx="414022" cy="433060"/>
          </a:xfrm>
          <a:prstGeom prst="roundRect">
            <a:avLst/>
          </a:prstGeom>
          <a:solidFill>
            <a:schemeClr val="bg1"/>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rot="2700000" flipH="1">
            <a:off x="6521099" y="2566659"/>
            <a:ext cx="415978" cy="433060"/>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3972730" y="2598523"/>
            <a:ext cx="2324100" cy="332740"/>
          </a:xfrm>
          <a:prstGeom prst="rect">
            <a:avLst/>
          </a:prstGeom>
          <a:noFill/>
          <a:ln cap="sq">
            <a:noFill/>
          </a:ln>
        </p:spPr>
        <p:txBody>
          <a:bodyPr vert="horz" wrap="square" lIns="91440" tIns="45720" rIns="91440" bIns="45720" rtlCol="0" anchor="ctr"/>
          <a:lstStyle/>
          <a:p>
            <a:pPr algn="l">
              <a:lnSpc>
                <a:spcPct val="110000"/>
              </a:lnSpc>
            </a:pPr>
            <a:r>
              <a:rPr kumimoji="1" lang="en-US" altLang="zh-CN" sz="920">
                <a:ln w="12700">
                  <a:noFill/>
                </a:ln>
                <a:solidFill>
                  <a:srgbClr val="FFFFFF">
                    <a:alpha val="100000"/>
                  </a:srgbClr>
                </a:solidFill>
                <a:latin typeface="Source Han Sans CN Bold Bold"/>
                <a:ea typeface="Source Han Sans CN Bold Bold"/>
                <a:cs typeface="Source Han Sans CN Bold Bold"/>
              </a:rPr>
              <a:t>图像去噪 - Ben Graham方法</a:t>
            </a:r>
            <a:endParaRPr kumimoji="1" lang="zh-CN" altLang="en-US"/>
          </a:p>
        </p:txBody>
      </p:sp>
      <p:sp>
        <p:nvSpPr>
          <p:cNvPr id="8" name="标题 1"/>
          <p:cNvSpPr txBox="1"/>
          <p:nvPr/>
        </p:nvSpPr>
        <p:spPr>
          <a:xfrm>
            <a:off x="6610464" y="2685070"/>
            <a:ext cx="237248" cy="196238"/>
          </a:xfrm>
          <a:custGeom>
            <a:avLst/>
            <a:gdLst>
              <a:gd name="connsiteX0" fmla="*/ 114387 w 870468"/>
              <a:gd name="connsiteY0" fmla="*/ 394297 h 720000"/>
              <a:gd name="connsiteX1" fmla="*/ 125598 w 870468"/>
              <a:gd name="connsiteY1" fmla="*/ 421319 h 720000"/>
              <a:gd name="connsiteX2" fmla="*/ 153878 w 870468"/>
              <a:gd name="connsiteY2" fmla="*/ 433051 h 720000"/>
              <a:gd name="connsiteX3" fmla="*/ 449972 w 870468"/>
              <a:gd name="connsiteY3" fmla="*/ 433051 h 720000"/>
              <a:gd name="connsiteX4" fmla="*/ 478295 w 870468"/>
              <a:gd name="connsiteY4" fmla="*/ 421319 h 720000"/>
              <a:gd name="connsiteX5" fmla="*/ 489465 w 870468"/>
              <a:gd name="connsiteY5" fmla="*/ 394297 h 720000"/>
              <a:gd name="connsiteX6" fmla="*/ 116266 w 870468"/>
              <a:gd name="connsiteY6" fmla="*/ 68594 h 720000"/>
              <a:gd name="connsiteX7" fmla="*/ 68708 w 870468"/>
              <a:gd name="connsiteY7" fmla="*/ 116152 h 720000"/>
              <a:gd name="connsiteX8" fmla="*/ 68708 w 870468"/>
              <a:gd name="connsiteY8" fmla="*/ 241561 h 720000"/>
              <a:gd name="connsiteX9" fmla="*/ 801875 w 870468"/>
              <a:gd name="connsiteY9" fmla="*/ 241561 h 720000"/>
              <a:gd name="connsiteX10" fmla="*/ 801875 w 870468"/>
              <a:gd name="connsiteY10" fmla="*/ 116152 h 720000"/>
              <a:gd name="connsiteX11" fmla="*/ 754317 w 870468"/>
              <a:gd name="connsiteY11" fmla="*/ 68594 h 720000"/>
              <a:gd name="connsiteX12" fmla="*/ 598821 w 870468"/>
              <a:gd name="connsiteY12" fmla="*/ 68594 h 720000"/>
              <a:gd name="connsiteX13" fmla="*/ 116266 w 870468"/>
              <a:gd name="connsiteY13" fmla="*/ 0 h 720000"/>
              <a:gd name="connsiteX14" fmla="*/ 598821 w 870468"/>
              <a:gd name="connsiteY14" fmla="*/ 0 h 720000"/>
              <a:gd name="connsiteX15" fmla="*/ 754317 w 870468"/>
              <a:gd name="connsiteY15" fmla="*/ 0 h 720000"/>
              <a:gd name="connsiteX16" fmla="*/ 870468 w 870468"/>
              <a:gd name="connsiteY16" fmla="*/ 116152 h 720000"/>
              <a:gd name="connsiteX17" fmla="*/ 870468 w 870468"/>
              <a:gd name="connsiteY17" fmla="*/ 360001 h 720000"/>
              <a:gd name="connsiteX18" fmla="*/ 870468 w 870468"/>
              <a:gd name="connsiteY18" fmla="*/ 603736 h 720000"/>
              <a:gd name="connsiteX19" fmla="*/ 754317 w 870468"/>
              <a:gd name="connsiteY19" fmla="*/ 720000 h 720000"/>
              <a:gd name="connsiteX20" fmla="*/ 598821 w 870468"/>
              <a:gd name="connsiteY20" fmla="*/ 720000 h 720000"/>
              <a:gd name="connsiteX21" fmla="*/ 116266 w 870468"/>
              <a:gd name="connsiteY21" fmla="*/ 720000 h 720000"/>
              <a:gd name="connsiteX22" fmla="*/ 115 w 870468"/>
              <a:gd name="connsiteY22" fmla="*/ 603850 h 720000"/>
              <a:gd name="connsiteX23" fmla="*/ 115 w 870468"/>
              <a:gd name="connsiteY23" fmla="*/ 360279 h 720000"/>
              <a:gd name="connsiteX24" fmla="*/ 0 w 870468"/>
              <a:gd name="connsiteY24" fmla="*/ 360001 h 720000"/>
              <a:gd name="connsiteX25" fmla="*/ 115 w 870468"/>
              <a:gd name="connsiteY25" fmla="*/ 359723 h 720000"/>
              <a:gd name="connsiteX26" fmla="*/ 115 w 870468"/>
              <a:gd name="connsiteY26" fmla="*/ 116152 h 720000"/>
              <a:gd name="connsiteX27" fmla="*/ 116266 w 870468"/>
              <a:gd name="connsiteY27" fmla="*/ 0 h 720000"/>
            </a:gdLst>
            <a:ahLst/>
            <a:cxnLst/>
            <a:rect l="l" t="t" r="r" b="b"/>
            <a:pathLst>
              <a:path w="870468" h="720000">
                <a:moveTo>
                  <a:pt x="114387" y="394297"/>
                </a:moveTo>
                <a:lnTo>
                  <a:pt x="125598" y="421319"/>
                </a:lnTo>
                <a:cubicBezTo>
                  <a:pt x="132843" y="428564"/>
                  <a:pt x="142846" y="433051"/>
                  <a:pt x="153878" y="433051"/>
                </a:cubicBezTo>
                <a:lnTo>
                  <a:pt x="449972" y="433051"/>
                </a:lnTo>
                <a:cubicBezTo>
                  <a:pt x="461061" y="433051"/>
                  <a:pt x="471064" y="428564"/>
                  <a:pt x="478295" y="421319"/>
                </a:cubicBezTo>
                <a:lnTo>
                  <a:pt x="489465" y="394297"/>
                </a:lnTo>
                <a:close/>
                <a:moveTo>
                  <a:pt x="116266" y="68594"/>
                </a:moveTo>
                <a:cubicBezTo>
                  <a:pt x="89972" y="68594"/>
                  <a:pt x="68708" y="89972"/>
                  <a:pt x="68708" y="116152"/>
                </a:cubicBezTo>
                <a:lnTo>
                  <a:pt x="68708" y="241561"/>
                </a:lnTo>
                <a:lnTo>
                  <a:pt x="801875" y="241561"/>
                </a:lnTo>
                <a:lnTo>
                  <a:pt x="801875" y="116152"/>
                </a:lnTo>
                <a:cubicBezTo>
                  <a:pt x="801875" y="89858"/>
                  <a:pt x="780497" y="68594"/>
                  <a:pt x="754317" y="68594"/>
                </a:cubicBezTo>
                <a:lnTo>
                  <a:pt x="598821" y="68594"/>
                </a:lnTo>
                <a:close/>
                <a:moveTo>
                  <a:pt x="116266" y="0"/>
                </a:moveTo>
                <a:lnTo>
                  <a:pt x="598821" y="0"/>
                </a:lnTo>
                <a:lnTo>
                  <a:pt x="754317" y="0"/>
                </a:lnTo>
                <a:cubicBezTo>
                  <a:pt x="818338" y="0"/>
                  <a:pt x="870468" y="52131"/>
                  <a:pt x="870468" y="116152"/>
                </a:cubicBezTo>
                <a:lnTo>
                  <a:pt x="870468" y="360001"/>
                </a:lnTo>
                <a:lnTo>
                  <a:pt x="870468" y="603736"/>
                </a:lnTo>
                <a:cubicBezTo>
                  <a:pt x="870468" y="667870"/>
                  <a:pt x="818338" y="720000"/>
                  <a:pt x="754317" y="720000"/>
                </a:cubicBezTo>
                <a:lnTo>
                  <a:pt x="598821" y="720000"/>
                </a:lnTo>
                <a:lnTo>
                  <a:pt x="116266" y="720000"/>
                </a:lnTo>
                <a:cubicBezTo>
                  <a:pt x="52246" y="720000"/>
                  <a:pt x="115" y="667870"/>
                  <a:pt x="115" y="603850"/>
                </a:cubicBezTo>
                <a:lnTo>
                  <a:pt x="115" y="360279"/>
                </a:lnTo>
                <a:lnTo>
                  <a:pt x="0" y="360001"/>
                </a:lnTo>
                <a:lnTo>
                  <a:pt x="115" y="359723"/>
                </a:lnTo>
                <a:lnTo>
                  <a:pt x="115" y="116152"/>
                </a:lnTo>
                <a:cubicBezTo>
                  <a:pt x="115" y="52131"/>
                  <a:pt x="52246" y="0"/>
                  <a:pt x="116266"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9" name="标题 1"/>
          <p:cNvSpPr txBox="1"/>
          <p:nvPr/>
        </p:nvSpPr>
        <p:spPr>
          <a:xfrm>
            <a:off x="660400" y="3946393"/>
            <a:ext cx="3035300" cy="1167028"/>
          </a:xfrm>
          <a:prstGeom prst="rect">
            <a:avLst/>
          </a:prstGeom>
          <a:noFill/>
          <a:ln cap="sq">
            <a:noFill/>
          </a:ln>
        </p:spPr>
        <p:txBody>
          <a:bodyPr vert="horz" wrap="square" lIns="91440" tIns="45720" rIns="91440" bIns="45720" rtlCol="0" anchor="t"/>
          <a:lstStyle/>
          <a:p>
            <a:pPr algn="r">
              <a:lnSpc>
                <a:spcPct val="110000"/>
              </a:lnSpc>
            </a:pPr>
            <a:r>
              <a:rPr kumimoji="1" lang="en-US" altLang="zh-CN" sz="1188">
                <a:ln w="12700">
                  <a:noFill/>
                </a:ln>
                <a:solidFill>
                  <a:srgbClr val="000000">
                    <a:alpha val="100000"/>
                  </a:srgbClr>
                </a:solidFill>
                <a:latin typeface="Source Han Sans CN Normal"/>
                <a:ea typeface="Source Han Sans CN Normal"/>
                <a:cs typeface="Source Han Sans CN Normal"/>
              </a:rPr>
              <a:t>Ben Graham加权叠加方法通过融合原图与高斯模糊图像，提升血管对比度。介绍融合比例的选择和原理，例如，适当的融合比例可以使血管更加清晰，同时保持图像的其他细节。通过实验对比不同融合比例下的图像效果，选择最佳的融合比例。</a:t>
            </a:r>
            <a:endParaRPr kumimoji="1" lang="zh-CN" altLang="en-US"/>
          </a:p>
        </p:txBody>
      </p:sp>
      <p:sp>
        <p:nvSpPr>
          <p:cNvPr id="10" name="标题 1"/>
          <p:cNvSpPr txBox="1"/>
          <p:nvPr/>
        </p:nvSpPr>
        <p:spPr>
          <a:xfrm flipH="1">
            <a:off x="3720383" y="4127514"/>
            <a:ext cx="2884697" cy="536531"/>
          </a:xfrm>
          <a:prstGeom prst="homePlate">
            <a:avLst>
              <a:gd name="adj" fmla="val 58772"/>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rot="2700000" flipH="1">
            <a:off x="6394156" y="4179249"/>
            <a:ext cx="414022" cy="433060"/>
          </a:xfrm>
          <a:prstGeom prst="roundRect">
            <a:avLst/>
          </a:prstGeom>
          <a:solidFill>
            <a:schemeClr val="bg1"/>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2700000" flipH="1">
            <a:off x="6521099" y="4179249"/>
            <a:ext cx="415978" cy="433060"/>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3972730" y="4211113"/>
            <a:ext cx="2324100" cy="332740"/>
          </a:xfrm>
          <a:prstGeom prst="rect">
            <a:avLst/>
          </a:prstGeom>
          <a:noFill/>
          <a:ln cap="sq">
            <a:noFill/>
          </a:ln>
        </p:spPr>
        <p:txBody>
          <a:bodyPr vert="horz" wrap="square" lIns="91440" tIns="45720" rIns="91440" bIns="45720" rtlCol="0" anchor="ctr"/>
          <a:lstStyle/>
          <a:p>
            <a:pPr algn="l">
              <a:lnSpc>
                <a:spcPct val="110000"/>
              </a:lnSpc>
            </a:pPr>
            <a:r>
              <a:rPr kumimoji="1" lang="en-US" altLang="zh-CN" sz="1600">
                <a:ln w="12700">
                  <a:noFill/>
                </a:ln>
                <a:solidFill>
                  <a:srgbClr val="FFFFFF">
                    <a:alpha val="100000"/>
                  </a:srgbClr>
                </a:solidFill>
                <a:latin typeface="Source Han Sans CN Bold Bold"/>
                <a:ea typeface="Source Han Sans CN Bold Bold"/>
                <a:cs typeface="Source Han Sans CN Bold Bold"/>
              </a:rPr>
              <a:t>对比度增强</a:t>
            </a:r>
            <a:endParaRPr kumimoji="1" lang="zh-CN" altLang="en-US"/>
          </a:p>
        </p:txBody>
      </p:sp>
      <p:sp>
        <p:nvSpPr>
          <p:cNvPr id="14" name="标题 1"/>
          <p:cNvSpPr txBox="1"/>
          <p:nvPr/>
        </p:nvSpPr>
        <p:spPr>
          <a:xfrm>
            <a:off x="6617015" y="4297661"/>
            <a:ext cx="224147" cy="196237"/>
          </a:xfrm>
          <a:custGeom>
            <a:avLst/>
            <a:gdLst>
              <a:gd name="connsiteX0" fmla="*/ 411293 w 822401"/>
              <a:gd name="connsiteY0" fmla="*/ 234366 h 720000"/>
              <a:gd name="connsiteX1" fmla="*/ 536928 w 822401"/>
              <a:gd name="connsiteY1" fmla="*/ 360000 h 720000"/>
              <a:gd name="connsiteX2" fmla="*/ 411293 w 822401"/>
              <a:gd name="connsiteY2" fmla="*/ 485635 h 720000"/>
              <a:gd name="connsiteX3" fmla="*/ 285659 w 822401"/>
              <a:gd name="connsiteY3" fmla="*/ 360000 h 720000"/>
              <a:gd name="connsiteX4" fmla="*/ 411293 w 822401"/>
              <a:gd name="connsiteY4" fmla="*/ 234366 h 720000"/>
              <a:gd name="connsiteX5" fmla="*/ 411293 w 822401"/>
              <a:gd name="connsiteY5" fmla="*/ 178938 h 720000"/>
              <a:gd name="connsiteX6" fmla="*/ 230231 w 822401"/>
              <a:gd name="connsiteY6" fmla="*/ 360000 h 720000"/>
              <a:gd name="connsiteX7" fmla="*/ 411293 w 822401"/>
              <a:gd name="connsiteY7" fmla="*/ 541063 h 720000"/>
              <a:gd name="connsiteX8" fmla="*/ 592355 w 822401"/>
              <a:gd name="connsiteY8" fmla="*/ 360000 h 720000"/>
              <a:gd name="connsiteX9" fmla="*/ 411293 w 822401"/>
              <a:gd name="connsiteY9" fmla="*/ 178938 h 720000"/>
              <a:gd name="connsiteX10" fmla="*/ 219884 w 822401"/>
              <a:gd name="connsiteY10" fmla="*/ 0 h 720000"/>
              <a:gd name="connsiteX11" fmla="*/ 602517 w 822401"/>
              <a:gd name="connsiteY11" fmla="*/ 0 h 720000"/>
              <a:gd name="connsiteX12" fmla="*/ 627275 w 822401"/>
              <a:gd name="connsiteY12" fmla="*/ 14319 h 720000"/>
              <a:gd name="connsiteX13" fmla="*/ 818591 w 822401"/>
              <a:gd name="connsiteY13" fmla="*/ 345682 h 720000"/>
              <a:gd name="connsiteX14" fmla="*/ 818591 w 822401"/>
              <a:gd name="connsiteY14" fmla="*/ 374319 h 720000"/>
              <a:gd name="connsiteX15" fmla="*/ 627367 w 822401"/>
              <a:gd name="connsiteY15" fmla="*/ 705682 h 720000"/>
              <a:gd name="connsiteX16" fmla="*/ 602609 w 822401"/>
              <a:gd name="connsiteY16" fmla="*/ 720000 h 720000"/>
              <a:gd name="connsiteX17" fmla="*/ 219977 w 822401"/>
              <a:gd name="connsiteY17" fmla="*/ 720000 h 720000"/>
              <a:gd name="connsiteX18" fmla="*/ 195219 w 822401"/>
              <a:gd name="connsiteY18" fmla="*/ 705682 h 720000"/>
              <a:gd name="connsiteX19" fmla="*/ 3811 w 822401"/>
              <a:gd name="connsiteY19" fmla="*/ 374319 h 720000"/>
              <a:gd name="connsiteX20" fmla="*/ 3811 w 822401"/>
              <a:gd name="connsiteY20" fmla="*/ 345682 h 720000"/>
              <a:gd name="connsiteX21" fmla="*/ 195127 w 822401"/>
              <a:gd name="connsiteY21" fmla="*/ 14319 h 720000"/>
              <a:gd name="connsiteX22" fmla="*/ 219884 w 822401"/>
              <a:gd name="connsiteY22" fmla="*/ 0 h 720000"/>
            </a:gdLst>
            <a:ahLst/>
            <a:cxnLst/>
            <a:rect l="l" t="t" r="r" b="b"/>
            <a:pathLst>
              <a:path w="822401" h="720000">
                <a:moveTo>
                  <a:pt x="411293" y="234366"/>
                </a:moveTo>
                <a:cubicBezTo>
                  <a:pt x="480577" y="234366"/>
                  <a:pt x="536928" y="290716"/>
                  <a:pt x="536928" y="360000"/>
                </a:cubicBezTo>
                <a:cubicBezTo>
                  <a:pt x="536928" y="429284"/>
                  <a:pt x="480577" y="485635"/>
                  <a:pt x="411293" y="485635"/>
                </a:cubicBezTo>
                <a:cubicBezTo>
                  <a:pt x="342009" y="485635"/>
                  <a:pt x="285659" y="429284"/>
                  <a:pt x="285659" y="360000"/>
                </a:cubicBezTo>
                <a:cubicBezTo>
                  <a:pt x="285659" y="290716"/>
                  <a:pt x="342009" y="234366"/>
                  <a:pt x="411293" y="234366"/>
                </a:cubicBezTo>
                <a:close/>
                <a:moveTo>
                  <a:pt x="411293" y="178938"/>
                </a:moveTo>
                <a:cubicBezTo>
                  <a:pt x="311432" y="178938"/>
                  <a:pt x="230231" y="260139"/>
                  <a:pt x="230231" y="360000"/>
                </a:cubicBezTo>
                <a:cubicBezTo>
                  <a:pt x="230231" y="459862"/>
                  <a:pt x="311432" y="541063"/>
                  <a:pt x="411293" y="541063"/>
                </a:cubicBezTo>
                <a:cubicBezTo>
                  <a:pt x="511154" y="541063"/>
                  <a:pt x="592355" y="459862"/>
                  <a:pt x="592355" y="360000"/>
                </a:cubicBezTo>
                <a:cubicBezTo>
                  <a:pt x="592355" y="260139"/>
                  <a:pt x="511154" y="178938"/>
                  <a:pt x="411293" y="178938"/>
                </a:cubicBezTo>
                <a:close/>
                <a:moveTo>
                  <a:pt x="219884" y="0"/>
                </a:moveTo>
                <a:lnTo>
                  <a:pt x="602517" y="0"/>
                </a:lnTo>
                <a:cubicBezTo>
                  <a:pt x="612679" y="0"/>
                  <a:pt x="622194" y="5451"/>
                  <a:pt x="627275" y="14319"/>
                </a:cubicBezTo>
                <a:lnTo>
                  <a:pt x="818591" y="345682"/>
                </a:lnTo>
                <a:cubicBezTo>
                  <a:pt x="823672" y="354550"/>
                  <a:pt x="823672" y="365451"/>
                  <a:pt x="818591" y="374319"/>
                </a:cubicBezTo>
                <a:lnTo>
                  <a:pt x="627367" y="705682"/>
                </a:lnTo>
                <a:cubicBezTo>
                  <a:pt x="622286" y="714550"/>
                  <a:pt x="612771" y="720000"/>
                  <a:pt x="602609" y="720000"/>
                </a:cubicBezTo>
                <a:lnTo>
                  <a:pt x="219977" y="720000"/>
                </a:lnTo>
                <a:cubicBezTo>
                  <a:pt x="209815" y="720000"/>
                  <a:pt x="200300" y="714550"/>
                  <a:pt x="195219" y="705682"/>
                </a:cubicBezTo>
                <a:lnTo>
                  <a:pt x="3811" y="374319"/>
                </a:lnTo>
                <a:cubicBezTo>
                  <a:pt x="-1270" y="365543"/>
                  <a:pt x="-1270" y="354550"/>
                  <a:pt x="3811" y="345682"/>
                </a:cubicBezTo>
                <a:lnTo>
                  <a:pt x="195127" y="14319"/>
                </a:lnTo>
                <a:cubicBezTo>
                  <a:pt x="200208" y="5451"/>
                  <a:pt x="209723" y="0"/>
                  <a:pt x="219884" y="0"/>
                </a:cubicBezTo>
                <a:close/>
              </a:path>
            </a:pathLst>
          </a:custGeom>
          <a:solidFill>
            <a:schemeClr val="bg1"/>
          </a:solidFill>
          <a:ln w="1553" cap="flat">
            <a:noFill/>
            <a:miter/>
          </a:ln>
        </p:spPr>
        <p:txBody>
          <a:bodyPr vert="horz" wrap="square" lIns="91440" tIns="45720" rIns="91440" bIns="45720" rtlCol="0" anchor="ctr"/>
          <a:lstStyle/>
          <a:p>
            <a:pPr algn="l">
              <a:lnSpc>
                <a:spcPct val="110000"/>
              </a:lnSpc>
            </a:pPr>
            <a:endParaRPr kumimoji="1" lang="zh-CN" altLang="en-US"/>
          </a:p>
        </p:txBody>
      </p:sp>
      <p:sp>
        <p:nvSpPr>
          <p:cNvPr id="15" name="标题 1"/>
          <p:cNvSpPr txBox="1"/>
          <p:nvPr/>
        </p:nvSpPr>
        <p:spPr>
          <a:xfrm>
            <a:off x="8482384" y="3279928"/>
            <a:ext cx="3035300" cy="1167027"/>
          </a:xfrm>
          <a:prstGeom prst="rect">
            <a:avLst/>
          </a:prstGeom>
          <a:noFill/>
          <a:ln cap="sq">
            <a:noFill/>
          </a:ln>
        </p:spPr>
        <p:txBody>
          <a:bodyPr vert="horz" wrap="square" lIns="91440" tIns="45720" rIns="91440" bIns="45720" rtlCol="0" anchor="t"/>
          <a:lstStyle/>
          <a:p>
            <a:pPr algn="l">
              <a:lnSpc>
                <a:spcPct val="110000"/>
              </a:lnSpc>
            </a:pPr>
            <a:r>
              <a:rPr kumimoji="1" lang="en-US" altLang="zh-CN" sz="1077">
                <a:ln w="12700">
                  <a:noFill/>
                </a:ln>
                <a:solidFill>
                  <a:srgbClr val="000000">
                    <a:alpha val="100000"/>
                  </a:srgbClr>
                </a:solidFill>
                <a:latin typeface="Source Han Sans CN Normal"/>
                <a:ea typeface="Source Han Sans CN Normal"/>
                <a:cs typeface="Source Han Sans CN Normal"/>
              </a:rPr>
              <a:t>以青光眼和糖尿病视网膜病变为例，说明智能识别技术在降噪时保留病灶形态特征的重要性。青光眼的病灶通常表现为视神经乳头的凹陷和萎缩，糖尿病视网膜病变的病灶则包括微血管瘤、出血、渗出等。在去噪过程中，要确保这些病灶的形态特征不被破坏，以便准确诊断疾病。</a:t>
            </a:r>
            <a:endParaRPr kumimoji="1" lang="zh-CN" altLang="en-US"/>
          </a:p>
        </p:txBody>
      </p:sp>
      <p:sp>
        <p:nvSpPr>
          <p:cNvPr id="16" name="标题 1"/>
          <p:cNvSpPr txBox="1"/>
          <p:nvPr/>
        </p:nvSpPr>
        <p:spPr>
          <a:xfrm>
            <a:off x="5586920" y="3322550"/>
            <a:ext cx="2884697" cy="536531"/>
          </a:xfrm>
          <a:prstGeom prst="homePlate">
            <a:avLst>
              <a:gd name="adj" fmla="val 58772"/>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rot="18900000">
            <a:off x="5416116" y="3374285"/>
            <a:ext cx="414022" cy="433060"/>
          </a:xfrm>
          <a:prstGeom prst="roundRect">
            <a:avLst/>
          </a:prstGeom>
          <a:solidFill>
            <a:schemeClr val="bg1"/>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rot="18900000">
            <a:off x="5287217" y="3374285"/>
            <a:ext cx="415978" cy="433060"/>
          </a:xfrm>
          <a:prstGeom prst="roundRect">
            <a:avLst/>
          </a:prstGeom>
          <a:solidFill>
            <a:schemeClr val="accent1"/>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5933382" y="3406149"/>
            <a:ext cx="2235200" cy="332740"/>
          </a:xfrm>
          <a:prstGeom prst="rect">
            <a:avLst/>
          </a:prstGeom>
          <a:noFill/>
          <a:ln cap="sq">
            <a:noFill/>
          </a:ln>
        </p:spPr>
        <p:txBody>
          <a:bodyPr vert="horz" wrap="square" lIns="91440" tIns="45720" rIns="91440" bIns="45720" rtlCol="0" anchor="ctr"/>
          <a:lstStyle/>
          <a:p>
            <a:pPr algn="l">
              <a:lnSpc>
                <a:spcPct val="110000"/>
              </a:lnSpc>
            </a:pPr>
            <a:r>
              <a:rPr kumimoji="1" lang="en-US" altLang="zh-CN" sz="1600">
                <a:ln w="12700">
                  <a:noFill/>
                </a:ln>
                <a:solidFill>
                  <a:srgbClr val="FFFFFF">
                    <a:alpha val="100000"/>
                  </a:srgbClr>
                </a:solidFill>
                <a:latin typeface="Source Han Sans CN Bold Bold"/>
                <a:ea typeface="Source Han Sans CN Bold Bold"/>
                <a:cs typeface="Source Han Sans CN Bold Bold"/>
              </a:rPr>
              <a:t>医学适应性</a:t>
            </a:r>
            <a:endParaRPr kumimoji="1" lang="zh-CN" altLang="en-US"/>
          </a:p>
        </p:txBody>
      </p:sp>
      <p:sp>
        <p:nvSpPr>
          <p:cNvPr id="20" name="标题 1"/>
          <p:cNvSpPr txBox="1"/>
          <p:nvPr/>
        </p:nvSpPr>
        <p:spPr>
          <a:xfrm>
            <a:off x="5386981" y="3492696"/>
            <a:ext cx="216451" cy="196238"/>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21" name="标题 1"/>
          <p:cNvSpPr txBox="1"/>
          <p:nvPr/>
        </p:nvSpPr>
        <p:spPr>
          <a:xfrm>
            <a:off x="8482384" y="1465337"/>
            <a:ext cx="3035300" cy="1360891"/>
          </a:xfrm>
          <a:prstGeom prst="rect">
            <a:avLst/>
          </a:prstGeom>
          <a:noFill/>
          <a:ln cap="sq">
            <a:noFill/>
          </a:ln>
        </p:spPr>
        <p:txBody>
          <a:bodyPr vert="horz" wrap="square" lIns="91440" tIns="45720" rIns="91440" bIns="45720" rtlCol="0" anchor="t"/>
          <a:lstStyle/>
          <a:p>
            <a:pPr algn="l">
              <a:lnSpc>
                <a:spcPct val="110000"/>
              </a:lnSpc>
            </a:pPr>
            <a:r>
              <a:rPr kumimoji="1" lang="en-US" altLang="zh-CN" sz="1216">
                <a:ln w="12700">
                  <a:noFill/>
                </a:ln>
                <a:solidFill>
                  <a:srgbClr val="000000">
                    <a:alpha val="100000"/>
                  </a:srgbClr>
                </a:solidFill>
                <a:latin typeface="Source Han Sans CN Normal"/>
                <a:ea typeface="Source Han Sans CN Normal"/>
                <a:cs typeface="Source Han Sans CN Normal"/>
              </a:rPr>
              <a:t>从质量增强和数据扩增两个维度进行图像增强。质量增强包括降噪、色彩校正、对比度优化等操作，通过这些操作提升图像的质量，使图像更加清晰、准确地反映眼部状况。数据扩增则采用翻转、旋转、缩放等操作，增加数据的多样性，提高模型的泛化能力。</a:t>
            </a:r>
            <a:endParaRPr kumimoji="1" lang="zh-CN" altLang="en-US"/>
          </a:p>
        </p:txBody>
      </p:sp>
      <p:sp>
        <p:nvSpPr>
          <p:cNvPr id="22" name="标题 1"/>
          <p:cNvSpPr txBox="1"/>
          <p:nvPr/>
        </p:nvSpPr>
        <p:spPr>
          <a:xfrm>
            <a:off x="5586920" y="1646459"/>
            <a:ext cx="2884697" cy="536531"/>
          </a:xfrm>
          <a:prstGeom prst="homePlate">
            <a:avLst>
              <a:gd name="adj" fmla="val 58772"/>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rot="18900000">
            <a:off x="5416116" y="1698194"/>
            <a:ext cx="414022" cy="433060"/>
          </a:xfrm>
          <a:prstGeom prst="roundRect">
            <a:avLst/>
          </a:prstGeom>
          <a:solidFill>
            <a:schemeClr val="bg1"/>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rot="18900000">
            <a:off x="5287217" y="1698194"/>
            <a:ext cx="415978" cy="433060"/>
          </a:xfrm>
          <a:prstGeom prst="roundRect">
            <a:avLst/>
          </a:prstGeom>
          <a:solidFill>
            <a:schemeClr val="accent1"/>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5933382" y="1730058"/>
            <a:ext cx="2235200" cy="332740"/>
          </a:xfrm>
          <a:prstGeom prst="rect">
            <a:avLst/>
          </a:prstGeom>
          <a:noFill/>
          <a:ln cap="sq">
            <a:noFill/>
          </a:ln>
        </p:spPr>
        <p:txBody>
          <a:bodyPr vert="horz" wrap="square" lIns="91440" tIns="45720" rIns="91440" bIns="45720" rtlCol="0" anchor="ctr"/>
          <a:lstStyle/>
          <a:p>
            <a:pPr algn="l">
              <a:lnSpc>
                <a:spcPct val="110000"/>
              </a:lnSpc>
            </a:pPr>
            <a:r>
              <a:rPr kumimoji="1" lang="en-US" altLang="zh-CN" sz="1600">
                <a:ln w="12700">
                  <a:noFill/>
                </a:ln>
                <a:solidFill>
                  <a:srgbClr val="FFFFFF">
                    <a:alpha val="100000"/>
                  </a:srgbClr>
                </a:solidFill>
                <a:latin typeface="Source Han Sans CN Bold Bold"/>
                <a:ea typeface="Source Han Sans CN Bold Bold"/>
                <a:cs typeface="Source Han Sans CN Bold Bold"/>
              </a:rPr>
              <a:t>图像增强</a:t>
            </a:r>
            <a:endParaRPr kumimoji="1" lang="zh-CN" altLang="en-US"/>
          </a:p>
        </p:txBody>
      </p:sp>
      <p:sp>
        <p:nvSpPr>
          <p:cNvPr id="26" name="标题 1"/>
          <p:cNvSpPr txBox="1"/>
          <p:nvPr/>
        </p:nvSpPr>
        <p:spPr>
          <a:xfrm>
            <a:off x="5404627" y="1816605"/>
            <a:ext cx="181158" cy="196238"/>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27" name="标题 1"/>
          <p:cNvSpPr txBox="1"/>
          <p:nvPr/>
        </p:nvSpPr>
        <p:spPr>
          <a:xfrm>
            <a:off x="8482384" y="4900654"/>
            <a:ext cx="3035300" cy="1167028"/>
          </a:xfrm>
          <a:prstGeom prst="rect">
            <a:avLst/>
          </a:prstGeom>
          <a:noFill/>
          <a:ln cap="sq">
            <a:noFill/>
          </a:ln>
        </p:spPr>
        <p:txBody>
          <a:bodyPr vert="horz" wrap="square" lIns="91440" tIns="45720" rIns="91440" bIns="45720" rtlCol="0" anchor="t"/>
          <a:lstStyle/>
          <a:p>
            <a:pPr algn="l">
              <a:lnSpc>
                <a:spcPct val="110000"/>
              </a:lnSpc>
            </a:pPr>
            <a:r>
              <a:rPr kumimoji="1" lang="en-US" altLang="zh-CN" sz="1188">
                <a:ln w="12700">
                  <a:noFill/>
                </a:ln>
                <a:solidFill>
                  <a:srgbClr val="000000">
                    <a:alpha val="100000"/>
                  </a:srgbClr>
                </a:solidFill>
                <a:latin typeface="Source Han Sans CN Normal"/>
                <a:ea typeface="Source Han Sans CN Normal"/>
                <a:cs typeface="Source Han Sans CN Normal"/>
              </a:rPr>
              <a:t>针对数据类别不均衡问题，采用多种数据扩充手段，如随机裁剪、亮度调整、饱和度调整等。展示扩充前后的图像示例，直观地呈现数据扩增的效果。通过数据扩增，增加少数类别的样本数量，使数据集更加均衡，提高模型的分类能力。</a:t>
            </a:r>
            <a:endParaRPr kumimoji="1" lang="zh-CN" altLang="en-US"/>
          </a:p>
        </p:txBody>
      </p:sp>
      <p:sp>
        <p:nvSpPr>
          <p:cNvPr id="28" name="标题 1"/>
          <p:cNvSpPr txBox="1"/>
          <p:nvPr/>
        </p:nvSpPr>
        <p:spPr>
          <a:xfrm>
            <a:off x="5586920" y="4943275"/>
            <a:ext cx="2884697" cy="536531"/>
          </a:xfrm>
          <a:prstGeom prst="homePlate">
            <a:avLst>
              <a:gd name="adj" fmla="val 58772"/>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9" name="标题 1"/>
          <p:cNvSpPr txBox="1"/>
          <p:nvPr/>
        </p:nvSpPr>
        <p:spPr>
          <a:xfrm rot="18900000">
            <a:off x="5416116" y="4995010"/>
            <a:ext cx="414022" cy="433060"/>
          </a:xfrm>
          <a:prstGeom prst="roundRect">
            <a:avLst/>
          </a:prstGeom>
          <a:solidFill>
            <a:schemeClr val="bg1"/>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30" name="标题 1"/>
          <p:cNvSpPr txBox="1"/>
          <p:nvPr/>
        </p:nvSpPr>
        <p:spPr>
          <a:xfrm rot="18900000">
            <a:off x="5287217" y="4995010"/>
            <a:ext cx="415978" cy="433060"/>
          </a:xfrm>
          <a:prstGeom prst="roundRect">
            <a:avLst/>
          </a:prstGeom>
          <a:solidFill>
            <a:schemeClr val="accent1"/>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31" name="标题 1"/>
          <p:cNvSpPr txBox="1"/>
          <p:nvPr/>
        </p:nvSpPr>
        <p:spPr>
          <a:xfrm>
            <a:off x="5933382" y="5026874"/>
            <a:ext cx="2235200" cy="332740"/>
          </a:xfrm>
          <a:prstGeom prst="rect">
            <a:avLst/>
          </a:prstGeom>
          <a:noFill/>
          <a:ln cap="sq">
            <a:noFill/>
          </a:ln>
        </p:spPr>
        <p:txBody>
          <a:bodyPr vert="horz" wrap="square" lIns="91440" tIns="45720" rIns="91440" bIns="45720" rtlCol="0" anchor="ctr"/>
          <a:lstStyle/>
          <a:p>
            <a:pPr algn="l">
              <a:lnSpc>
                <a:spcPct val="110000"/>
              </a:lnSpc>
            </a:pPr>
            <a:r>
              <a:rPr kumimoji="1" lang="en-US" altLang="zh-CN" sz="1600">
                <a:ln w="12700">
                  <a:noFill/>
                </a:ln>
                <a:solidFill>
                  <a:srgbClr val="FFFFFF">
                    <a:alpha val="100000"/>
                  </a:srgbClr>
                </a:solidFill>
                <a:latin typeface="Source Han Sans CN Bold Bold"/>
                <a:ea typeface="Source Han Sans CN Bold Bold"/>
                <a:cs typeface="Source Han Sans CN Bold Bold"/>
              </a:rPr>
              <a:t>数据扩增</a:t>
            </a:r>
            <a:endParaRPr kumimoji="1" lang="zh-CN" altLang="en-US"/>
          </a:p>
        </p:txBody>
      </p:sp>
      <p:sp>
        <p:nvSpPr>
          <p:cNvPr id="32" name="标题 1"/>
          <p:cNvSpPr txBox="1"/>
          <p:nvPr/>
        </p:nvSpPr>
        <p:spPr>
          <a:xfrm>
            <a:off x="5386981" y="5113421"/>
            <a:ext cx="216451" cy="196238"/>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33" name="标题 1"/>
          <p:cNvSpPr txBox="1"/>
          <p:nvPr/>
        </p:nvSpPr>
        <p:spPr>
          <a:xfrm>
            <a:off x="847725" y="450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Bold"/>
                <a:ea typeface="Source Han Sans CN Bold Bold"/>
                <a:cs typeface="Source Han Sans CN Bold Bold"/>
              </a:rPr>
              <a:t>图像增强与去噪</a:t>
            </a:r>
            <a:endParaRPr kumimoji="1" lang="zh-CN" altLang="en-US"/>
          </a:p>
        </p:txBody>
      </p:sp>
      <p:sp>
        <p:nvSpPr>
          <p:cNvPr id="34" name="标题 1"/>
          <p:cNvSpPr txBox="1"/>
          <p:nvPr/>
        </p:nvSpPr>
        <p:spPr>
          <a:xfrm>
            <a:off x="348958" y="502433"/>
            <a:ext cx="387642" cy="38764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5" name="标题 1"/>
          <p:cNvSpPr txBox="1"/>
          <p:nvPr/>
        </p:nvSpPr>
        <p:spPr>
          <a:xfrm>
            <a:off x="271663" y="431800"/>
            <a:ext cx="387642" cy="387642"/>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27000">
                <a:schemeClr val="accent1">
                  <a:lumMod val="5000"/>
                  <a:lumOff val="95000"/>
                  <a:alpha val="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0" y="5675397"/>
            <a:ext cx="1182603" cy="1182603"/>
          </a:xfrm>
          <a:prstGeom prst="rtTriangle">
            <a:avLst/>
          </a:prstGeom>
          <a:solidFill>
            <a:schemeClr val="accent1">
              <a:lumMod val="20000"/>
              <a:lumOff val="80000"/>
              <a:alpha val="30000"/>
            </a:schemeClr>
          </a:solidFill>
          <a:ln w="12700" cap="sq">
            <a:noFill/>
            <a:miter/>
          </a:ln>
        </p:spPr>
        <p:txBody>
          <a:bodyPr vert="horz" wrap="square" lIns="91440" tIns="45720" rIns="91440" bIns="45720" rtlCol="0" anchor="b"/>
          <a:lstStyle/>
          <a:p>
            <a:pPr algn="ctr">
              <a:lnSpc>
                <a:spcPct val="110000"/>
              </a:lnSpc>
            </a:pPr>
            <a:endParaRPr kumimoji="1" lang="zh-CN" altLang="en-US"/>
          </a:p>
        </p:txBody>
      </p:sp>
      <p:sp>
        <p:nvSpPr>
          <p:cNvPr id="4" name="标题 1"/>
          <p:cNvSpPr txBox="1"/>
          <p:nvPr/>
        </p:nvSpPr>
        <p:spPr>
          <a:xfrm rot="5400000">
            <a:off x="8235381" y="1319495"/>
            <a:ext cx="1042152" cy="1724987"/>
          </a:xfrm>
          <a:prstGeom prst="roundRect">
            <a:avLst>
              <a:gd name="adj" fmla="val 4126"/>
            </a:avLst>
          </a:prstGeom>
          <a:gradFill>
            <a:gsLst>
              <a:gs pos="0">
                <a:schemeClr val="accent1">
                  <a:lumMod val="100000"/>
                </a:schemeClr>
              </a:gs>
              <a:gs pos="100000">
                <a:schemeClr val="accent1">
                  <a:lumMod val="10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5400000">
            <a:off x="3244102" y="1166718"/>
            <a:ext cx="736599" cy="1724987"/>
          </a:xfrm>
          <a:prstGeom prst="roundRect">
            <a:avLst>
              <a:gd name="adj" fmla="val 4126"/>
            </a:avLst>
          </a:prstGeom>
          <a:gradFill>
            <a:gsLst>
              <a:gs pos="0">
                <a:schemeClr val="accent1">
                  <a:lumMod val="100000"/>
                </a:schemeClr>
              </a:gs>
              <a:gs pos="100000">
                <a:schemeClr val="accent1">
                  <a:lumMod val="10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17" name="图片 16" descr="图示&#10;&#10;AI 生成的内容可能不正确。">
            <a:extLst>
              <a:ext uri="{FF2B5EF4-FFF2-40B4-BE49-F238E27FC236}">
                <a16:creationId xmlns:a16="http://schemas.microsoft.com/office/drawing/2014/main" id="{6DA38F76-9F7D-B97D-64BE-31AFEAD9B274}"/>
              </a:ext>
            </a:extLst>
          </p:cNvPr>
          <p:cNvPicPr>
            <a:picLocks noChangeAspect="1"/>
          </p:cNvPicPr>
          <p:nvPr/>
        </p:nvPicPr>
        <p:blipFill>
          <a:blip r:embed="rId3">
            <a:extLst>
              <a:ext uri="{28A0092B-C50C-407E-A947-70E740481C1C}">
                <a14:useLocalDpi xmlns:a14="http://schemas.microsoft.com/office/drawing/2010/main" val="0"/>
              </a:ext>
            </a:extLst>
          </a:blip>
          <a:srcRect b="12155"/>
          <a:stretch/>
        </p:blipFill>
        <p:spPr>
          <a:xfrm>
            <a:off x="1334377" y="517145"/>
            <a:ext cx="9218736" cy="6355567"/>
          </a:xfrm>
          <a:prstGeom prst="rect">
            <a:avLst/>
          </a:prstGeom>
        </p:spPr>
      </p:pic>
      <p:sp>
        <p:nvSpPr>
          <p:cNvPr id="6" name="标题 1"/>
          <p:cNvSpPr txBox="1"/>
          <p:nvPr/>
        </p:nvSpPr>
        <p:spPr>
          <a:xfrm>
            <a:off x="1321940" y="1733939"/>
            <a:ext cx="4580922" cy="3981061"/>
          </a:xfrm>
          <a:prstGeom prst="roundRect">
            <a:avLst>
              <a:gd name="adj" fmla="val 1092"/>
            </a:avLst>
          </a:prstGeom>
          <a:solidFill>
            <a:schemeClr val="bg1">
              <a:alpha val="85000"/>
            </a:schemeClr>
          </a:solidFill>
          <a:ln w="12700" cap="sq">
            <a:gradFill>
              <a:gsLst>
                <a:gs pos="0">
                  <a:schemeClr val="accent1"/>
                </a:gs>
                <a:gs pos="54000">
                  <a:schemeClr val="accent1">
                    <a:lumMod val="60000"/>
                    <a:lumOff val="40000"/>
                    <a:alpha val="0"/>
                  </a:schemeClr>
                </a:gs>
                <a:gs pos="99000">
                  <a:schemeClr val="accent1"/>
                </a:gs>
              </a:gsLst>
              <a:lin ang="0" scaled="0"/>
            </a:grad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472789" y="2397511"/>
            <a:ext cx="4279224" cy="3139791"/>
          </a:xfrm>
          <a:prstGeom prst="rect">
            <a:avLst/>
          </a:prstGeom>
          <a:noFill/>
          <a:ln>
            <a:noFill/>
          </a:ln>
        </p:spPr>
        <p:txBody>
          <a:bodyPr vert="horz" wrap="square" lIns="91440" tIns="45720" rIns="91440" bIns="45720" rtlCol="0" anchor="t"/>
          <a:lstStyle/>
          <a:p>
            <a:pPr algn="l" rtl="0"/>
            <a:r>
              <a:rPr kumimoji="1" lang="zh-CN" altLang="en-US" sz="1400" b="1" dirty="0">
                <a:ln w="12700">
                  <a:noFill/>
                </a:ln>
                <a:solidFill>
                  <a:srgbClr val="262626">
                    <a:alpha val="100000"/>
                  </a:srgbClr>
                </a:solidFill>
                <a:latin typeface="Source Han Sans CN Normal"/>
                <a:ea typeface="Source Han Sans CN Normal"/>
              </a:rPr>
              <a:t>模型架构组成：</a:t>
            </a:r>
            <a:r>
              <a:rPr kumimoji="1" lang="zh-CN" altLang="en-US" sz="1400" dirty="0">
                <a:ln w="12700">
                  <a:noFill/>
                </a:ln>
                <a:solidFill>
                  <a:srgbClr val="262626">
                    <a:alpha val="100000"/>
                  </a:srgbClr>
                </a:solidFill>
                <a:latin typeface="Source Han Sans CN Normal"/>
                <a:ea typeface="Source Han Sans CN Normal"/>
              </a:rPr>
              <a:t>该模型由双路特征提取器、特征融合层、分类器模块和动态阈值机制构成。双路特征提取器以 </a:t>
            </a:r>
            <a:r>
              <a:rPr kumimoji="1" lang="en-US" altLang="zh-CN" sz="1400" dirty="0">
                <a:ln w="12700">
                  <a:noFill/>
                </a:ln>
                <a:solidFill>
                  <a:srgbClr val="262626">
                    <a:alpha val="100000"/>
                  </a:srgbClr>
                </a:solidFill>
                <a:latin typeface="Source Han Sans CN Normal"/>
                <a:ea typeface="Source Han Sans CN Normal"/>
              </a:rPr>
              <a:t>ResNet18d </a:t>
            </a:r>
            <a:r>
              <a:rPr kumimoji="1" lang="zh-CN" altLang="en-US" sz="1400" dirty="0">
                <a:ln w="12700">
                  <a:noFill/>
                </a:ln>
                <a:solidFill>
                  <a:srgbClr val="262626">
                    <a:alpha val="100000"/>
                  </a:srgbClr>
                </a:solidFill>
                <a:latin typeface="Source Han Sans CN Normal"/>
                <a:ea typeface="Source Han Sans CN Normal"/>
              </a:rPr>
              <a:t>为骨干网络，有效提取图像特征。特征融合层融合双路特征，充分利用图像信息。分类器模块进行疾病分类，动态阈值机制则根据不同情况调整分类阈值以提高准确性。</a:t>
            </a:r>
            <a:endParaRPr kumimoji="1" lang="en-US" altLang="zh-CN" sz="1400" dirty="0">
              <a:ln w="12700">
                <a:noFill/>
              </a:ln>
              <a:solidFill>
                <a:srgbClr val="262626">
                  <a:alpha val="100000"/>
                </a:srgbClr>
              </a:solidFill>
              <a:latin typeface="Source Han Sans CN Normal"/>
              <a:ea typeface="Source Han Sans CN Normal"/>
            </a:endParaRPr>
          </a:p>
          <a:p>
            <a:pPr algn="l" rtl="0"/>
            <a:endParaRPr kumimoji="1" lang="en-US" altLang="zh-CN" sz="1400" dirty="0">
              <a:ln w="12700">
                <a:noFill/>
              </a:ln>
              <a:solidFill>
                <a:srgbClr val="262626">
                  <a:alpha val="100000"/>
                </a:srgbClr>
              </a:solidFill>
              <a:latin typeface="Source Han Sans CN Normal"/>
              <a:ea typeface="Source Han Sans CN Normal"/>
            </a:endParaRPr>
          </a:p>
          <a:p>
            <a:pPr algn="l" rtl="0"/>
            <a:endParaRPr kumimoji="1" lang="zh-CN" altLang="en-US" sz="1400" dirty="0">
              <a:ln w="12700">
                <a:noFill/>
              </a:ln>
              <a:solidFill>
                <a:srgbClr val="262626">
                  <a:alpha val="100000"/>
                </a:srgbClr>
              </a:solidFill>
              <a:latin typeface="Source Han Sans CN Normal"/>
              <a:ea typeface="Source Han Sans CN Normal"/>
            </a:endParaRPr>
          </a:p>
          <a:p>
            <a:pPr algn="l" rtl="0">
              <a:spcBef>
                <a:spcPts val="600"/>
              </a:spcBef>
            </a:pPr>
            <a:r>
              <a:rPr kumimoji="1" lang="zh-CN" altLang="en-US" sz="1400" b="1" dirty="0">
                <a:ln w="12700">
                  <a:noFill/>
                </a:ln>
                <a:solidFill>
                  <a:srgbClr val="262626">
                    <a:alpha val="100000"/>
                  </a:srgbClr>
                </a:solidFill>
                <a:latin typeface="Source Han Sans CN Normal"/>
                <a:ea typeface="Source Han Sans CN Normal"/>
              </a:rPr>
              <a:t>各模块功能：</a:t>
            </a:r>
            <a:r>
              <a:rPr kumimoji="1" lang="zh-CN" altLang="en-US" sz="1400" dirty="0">
                <a:ln w="12700">
                  <a:noFill/>
                </a:ln>
                <a:solidFill>
                  <a:srgbClr val="262626">
                    <a:alpha val="100000"/>
                  </a:srgbClr>
                </a:solidFill>
                <a:latin typeface="Source Han Sans CN Normal"/>
                <a:ea typeface="Source Han Sans CN Normal"/>
              </a:rPr>
              <a:t>双路特征提取器负责提取图像特征；特征融合层融合特征；分类器模块进行疾病分类；动态阈值机制自适应调整分类阈值，提高分类准确性。整体架构实现框架及结构示意图有助于更好地理解模型。</a:t>
            </a:r>
          </a:p>
          <a:p>
            <a:pPr>
              <a:buNone/>
            </a:pPr>
            <a:br>
              <a:rPr lang="zh-CN" altLang="en-US" sz="1400" b="0" i="0" dirty="0">
                <a:solidFill>
                  <a:srgbClr val="000000"/>
                </a:solidFill>
                <a:effectLst/>
                <a:latin typeface="Inter"/>
              </a:rPr>
            </a:br>
            <a:endParaRPr kumimoji="1" lang="zh-CN" altLang="en-US" dirty="0"/>
          </a:p>
        </p:txBody>
      </p:sp>
      <p:sp>
        <p:nvSpPr>
          <p:cNvPr id="8" name="标题 1"/>
          <p:cNvSpPr txBox="1"/>
          <p:nvPr/>
        </p:nvSpPr>
        <p:spPr>
          <a:xfrm>
            <a:off x="1472789" y="1907222"/>
            <a:ext cx="4279224" cy="460023"/>
          </a:xfrm>
          <a:prstGeom prst="rect">
            <a:avLst/>
          </a:prstGeom>
          <a:noFill/>
          <a:ln>
            <a:noFill/>
          </a:ln>
        </p:spPr>
        <p:txBody>
          <a:bodyPr vert="horz" wrap="square" lIns="91440" tIns="45720" rIns="91440" bIns="45720" rtlCol="0" anchor="ctr"/>
          <a:lstStyle/>
          <a:p>
            <a:pPr algn="ctr">
              <a:lnSpc>
                <a:spcPct val="130000"/>
              </a:lnSpc>
            </a:pPr>
            <a:r>
              <a:rPr kumimoji="1" lang="en-US" altLang="zh-CN" sz="1600">
                <a:ln w="12700">
                  <a:noFill/>
                </a:ln>
                <a:solidFill>
                  <a:srgbClr val="0451C5">
                    <a:alpha val="100000"/>
                  </a:srgbClr>
                </a:solidFill>
                <a:latin typeface="Source Han Sans CN Bold Bold"/>
                <a:ea typeface="Source Han Sans CN Bold Bold"/>
                <a:cs typeface="Source Han Sans CN Bold Bold"/>
              </a:rPr>
              <a:t>模型架构概述</a:t>
            </a:r>
            <a:endParaRPr kumimoji="1" lang="zh-CN" altLang="en-US"/>
          </a:p>
        </p:txBody>
      </p:sp>
      <p:sp>
        <p:nvSpPr>
          <p:cNvPr id="9" name="标题 1"/>
          <p:cNvSpPr txBox="1"/>
          <p:nvPr/>
        </p:nvSpPr>
        <p:spPr>
          <a:xfrm>
            <a:off x="6465996" y="1733939"/>
            <a:ext cx="4580922" cy="3981061"/>
          </a:xfrm>
          <a:prstGeom prst="roundRect">
            <a:avLst>
              <a:gd name="adj" fmla="val 1092"/>
            </a:avLst>
          </a:prstGeom>
          <a:solidFill>
            <a:schemeClr val="bg1">
              <a:alpha val="85000"/>
            </a:schemeClr>
          </a:solidFill>
          <a:ln w="12700" cap="sq">
            <a:gradFill>
              <a:gsLst>
                <a:gs pos="0">
                  <a:schemeClr val="accent1"/>
                </a:gs>
                <a:gs pos="54000">
                  <a:schemeClr val="accent1">
                    <a:lumMod val="60000"/>
                    <a:lumOff val="40000"/>
                    <a:alpha val="0"/>
                  </a:schemeClr>
                </a:gs>
                <a:gs pos="99000">
                  <a:schemeClr val="accent1"/>
                </a:gs>
              </a:gsLst>
              <a:lin ang="0" scaled="0"/>
            </a:gra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6616845" y="2587216"/>
            <a:ext cx="4279224" cy="3139791"/>
          </a:xfrm>
          <a:prstGeom prst="rect">
            <a:avLst/>
          </a:prstGeom>
          <a:noFill/>
          <a:ln>
            <a:noFill/>
          </a:ln>
        </p:spPr>
        <p:txBody>
          <a:bodyPr vert="horz" wrap="square" lIns="91440" tIns="45720" rIns="91440" bIns="45720" rtlCol="0" anchor="t"/>
          <a:lstStyle/>
          <a:p>
            <a:pPr algn="just">
              <a:lnSpc>
                <a:spcPct val="150000"/>
              </a:lnSpc>
            </a:pPr>
            <a:r>
              <a:rPr kumimoji="1" lang="zh-CN" altLang="en-US" sz="1400" dirty="0">
                <a:ln w="12700">
                  <a:noFill/>
                </a:ln>
                <a:solidFill>
                  <a:srgbClr val="262626">
                    <a:alpha val="100000"/>
                  </a:srgbClr>
                </a:solidFill>
                <a:latin typeface="Source Han Sans CN Normal"/>
                <a:ea typeface="Source Han Sans CN Normal"/>
              </a:rPr>
              <a:t>方案通过迁移</a:t>
            </a:r>
            <a:r>
              <a:rPr kumimoji="1" lang="en-US" altLang="zh-CN" sz="1400" dirty="0">
                <a:ln w="12700">
                  <a:noFill/>
                </a:ln>
                <a:solidFill>
                  <a:srgbClr val="262626">
                    <a:alpha val="100000"/>
                  </a:srgbClr>
                </a:solidFill>
                <a:latin typeface="Source Han Sans CN Normal"/>
                <a:ea typeface="Source Han Sans CN Normal"/>
              </a:rPr>
              <a:t>ImageNet</a:t>
            </a:r>
            <a:r>
              <a:rPr kumimoji="1" lang="zh-CN" altLang="en-US" sz="1400" dirty="0">
                <a:ln w="12700">
                  <a:noFill/>
                </a:ln>
                <a:solidFill>
                  <a:srgbClr val="262626">
                    <a:alpha val="100000"/>
                  </a:srgbClr>
                </a:solidFill>
                <a:latin typeface="Source Han Sans CN Normal"/>
                <a:ea typeface="Source Han Sans CN Normal"/>
              </a:rPr>
              <a:t>预训练的</a:t>
            </a:r>
            <a:r>
              <a:rPr kumimoji="1" lang="en-US" altLang="zh-CN" sz="1400" dirty="0">
                <a:ln w="12700">
                  <a:noFill/>
                </a:ln>
                <a:solidFill>
                  <a:srgbClr val="262626">
                    <a:alpha val="100000"/>
                  </a:srgbClr>
                </a:solidFill>
                <a:latin typeface="Source Han Sans CN Normal"/>
                <a:ea typeface="Source Han Sans CN Normal"/>
              </a:rPr>
              <a:t>ResNet18d</a:t>
            </a:r>
            <a:r>
              <a:rPr kumimoji="1" lang="zh-CN" altLang="en-US" sz="1400" dirty="0">
                <a:ln w="12700">
                  <a:noFill/>
                </a:ln>
                <a:solidFill>
                  <a:srgbClr val="262626">
                    <a:alpha val="100000"/>
                  </a:srgbClr>
                </a:solidFill>
                <a:latin typeface="Source Han Sans CN Normal"/>
                <a:ea typeface="Source Han Sans CN Normal"/>
              </a:rPr>
              <a:t>模型进行眼底疾病识别，采用微调策略适配目标特征；</a:t>
            </a:r>
            <a:endParaRPr kumimoji="1" lang="en-US" altLang="zh-CN" sz="1400" dirty="0">
              <a:ln w="12700">
                <a:noFill/>
              </a:ln>
              <a:solidFill>
                <a:srgbClr val="262626">
                  <a:alpha val="100000"/>
                </a:srgbClr>
              </a:solidFill>
              <a:latin typeface="Source Han Sans CN Normal"/>
              <a:ea typeface="Source Han Sans CN Normal"/>
            </a:endParaRPr>
          </a:p>
          <a:p>
            <a:pPr algn="just">
              <a:lnSpc>
                <a:spcPct val="150000"/>
              </a:lnSpc>
            </a:pPr>
            <a:endParaRPr kumimoji="1" lang="en-US" altLang="zh-CN" sz="1400" dirty="0">
              <a:ln w="12700">
                <a:noFill/>
              </a:ln>
              <a:solidFill>
                <a:srgbClr val="262626">
                  <a:alpha val="100000"/>
                </a:srgbClr>
              </a:solidFill>
              <a:latin typeface="Source Han Sans CN Normal"/>
              <a:ea typeface="Source Han Sans CN Normal"/>
            </a:endParaRPr>
          </a:p>
          <a:p>
            <a:pPr algn="just">
              <a:lnSpc>
                <a:spcPct val="150000"/>
              </a:lnSpc>
            </a:pPr>
            <a:r>
              <a:rPr kumimoji="1" lang="zh-CN" altLang="en-US" sz="1400" dirty="0">
                <a:ln w="12700">
                  <a:noFill/>
                </a:ln>
                <a:solidFill>
                  <a:srgbClr val="262626">
                    <a:alpha val="100000"/>
                  </a:srgbClr>
                </a:solidFill>
                <a:latin typeface="Source Han Sans CN Normal"/>
                <a:ea typeface="Source Han Sans CN Normal"/>
              </a:rPr>
              <a:t>设计注意力机制与融合层实现多模态特征交互以强化关键区域感知；同时引入</a:t>
            </a:r>
            <a:r>
              <a:rPr kumimoji="1" lang="en-US" altLang="zh-CN" sz="1400" dirty="0">
                <a:ln w="12700">
                  <a:noFill/>
                </a:ln>
                <a:solidFill>
                  <a:srgbClr val="262626">
                    <a:alpha val="100000"/>
                  </a:srgbClr>
                </a:solidFill>
                <a:latin typeface="Source Han Sans CN Normal"/>
                <a:ea typeface="Source Han Sans CN Normal"/>
              </a:rPr>
              <a:t>Focal Loss</a:t>
            </a:r>
            <a:r>
              <a:rPr kumimoji="1" lang="zh-CN" altLang="en-US" sz="1400" dirty="0">
                <a:ln w="12700">
                  <a:noFill/>
                </a:ln>
                <a:solidFill>
                  <a:srgbClr val="262626">
                    <a:alpha val="100000"/>
                  </a:srgbClr>
                </a:solidFill>
                <a:latin typeface="Source Han Sans CN Normal"/>
                <a:ea typeface="Source Han Sans CN Normal"/>
              </a:rPr>
              <a:t>缓解类别不平衡问题，通过动态调整样本权重提升模型对少数病种的识别敏感度。</a:t>
            </a:r>
          </a:p>
        </p:txBody>
      </p:sp>
      <p:sp>
        <p:nvSpPr>
          <p:cNvPr id="11" name="标题 1"/>
          <p:cNvSpPr txBox="1"/>
          <p:nvPr/>
        </p:nvSpPr>
        <p:spPr>
          <a:xfrm>
            <a:off x="6616845" y="1745946"/>
            <a:ext cx="4279224" cy="460023"/>
          </a:xfrm>
          <a:prstGeom prst="rect">
            <a:avLst/>
          </a:prstGeom>
          <a:noFill/>
          <a:ln>
            <a:noFill/>
          </a:ln>
        </p:spPr>
        <p:txBody>
          <a:bodyPr vert="horz" wrap="square" lIns="91440" tIns="45720" rIns="91440" bIns="45720" rtlCol="0" anchor="ctr"/>
          <a:lstStyle/>
          <a:p>
            <a:pPr algn="ctr">
              <a:lnSpc>
                <a:spcPct val="130000"/>
              </a:lnSpc>
            </a:pPr>
            <a:r>
              <a:rPr kumimoji="1" lang="en-US" altLang="zh-CN" sz="1600" dirty="0" err="1">
                <a:ln w="12700">
                  <a:noFill/>
                </a:ln>
                <a:solidFill>
                  <a:srgbClr val="0451C5">
                    <a:alpha val="100000"/>
                  </a:srgbClr>
                </a:solidFill>
                <a:latin typeface="Source Han Sans CN Bold Bold"/>
                <a:ea typeface="Source Han Sans CN Bold Bold"/>
                <a:cs typeface="Source Han Sans CN Bold Bold"/>
              </a:rPr>
              <a:t>核心算法原理</a:t>
            </a:r>
            <a:endParaRPr kumimoji="1" lang="zh-CN" altLang="en-US" dirty="0"/>
          </a:p>
        </p:txBody>
      </p:sp>
      <p:sp>
        <p:nvSpPr>
          <p:cNvPr id="12" name="标题 1"/>
          <p:cNvSpPr txBox="1"/>
          <p:nvPr/>
        </p:nvSpPr>
        <p:spPr>
          <a:xfrm flipH="1">
            <a:off x="11009397" y="5675397"/>
            <a:ext cx="1182603" cy="1182603"/>
          </a:xfrm>
          <a:prstGeom prst="rtTriangle">
            <a:avLst/>
          </a:prstGeom>
          <a:solidFill>
            <a:schemeClr val="accent1">
              <a:lumMod val="20000"/>
              <a:lumOff val="80000"/>
              <a:alpha val="30000"/>
            </a:schemeClr>
          </a:solidFill>
          <a:ln w="12700" cap="sq">
            <a:noFill/>
            <a:miter/>
          </a:ln>
        </p:spPr>
        <p:txBody>
          <a:bodyPr vert="horz" wrap="square" lIns="91440" tIns="45720" rIns="91440" bIns="45720" rtlCol="0" anchor="b"/>
          <a:lstStyle/>
          <a:p>
            <a:pPr algn="ctr">
              <a:lnSpc>
                <a:spcPct val="110000"/>
              </a:lnSpc>
            </a:pPr>
            <a:endParaRPr kumimoji="1" lang="zh-CN" altLang="en-US"/>
          </a:p>
        </p:txBody>
      </p:sp>
      <p:sp>
        <p:nvSpPr>
          <p:cNvPr id="13" name="标题 1"/>
          <p:cNvSpPr txBox="1"/>
          <p:nvPr/>
        </p:nvSpPr>
        <p:spPr>
          <a:xfrm>
            <a:off x="847725" y="450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Bold"/>
                <a:ea typeface="Source Han Sans CN Bold Bold"/>
                <a:cs typeface="Source Han Sans CN Bold Bold"/>
              </a:rPr>
              <a:t>眼疾识别模型设计</a:t>
            </a:r>
            <a:endParaRPr kumimoji="1" lang="zh-CN" altLang="en-US"/>
          </a:p>
        </p:txBody>
      </p:sp>
      <p:sp>
        <p:nvSpPr>
          <p:cNvPr id="14" name="标题 1"/>
          <p:cNvSpPr txBox="1"/>
          <p:nvPr/>
        </p:nvSpPr>
        <p:spPr>
          <a:xfrm>
            <a:off x="348958" y="502433"/>
            <a:ext cx="387642" cy="38764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271663" y="431800"/>
            <a:ext cx="387642" cy="387642"/>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8871626" cy="6858000"/>
          </a:xfrm>
          <a:custGeom>
            <a:avLst/>
            <a:gdLst>
              <a:gd name="connsiteX0" fmla="*/ 0 w 8871626"/>
              <a:gd name="connsiteY0" fmla="*/ 0 h 6858000"/>
              <a:gd name="connsiteX1" fmla="*/ 6674736 w 8871626"/>
              <a:gd name="connsiteY1" fmla="*/ 0 h 6858000"/>
              <a:gd name="connsiteX2" fmla="*/ 6730884 w 8871626"/>
              <a:gd name="connsiteY2" fmla="*/ 25301 h 6858000"/>
              <a:gd name="connsiteX3" fmla="*/ 8871626 w 8871626"/>
              <a:gd name="connsiteY3" fmla="*/ 3495454 h 6858000"/>
              <a:gd name="connsiteX4" fmla="*/ 7016421 w 8871626"/>
              <a:gd name="connsiteY4" fmla="*/ 6807477 h 6858000"/>
              <a:gd name="connsiteX5" fmla="*/ 6928992 w 8871626"/>
              <a:gd name="connsiteY5" fmla="*/ 6858000 h 6858000"/>
              <a:gd name="connsiteX6" fmla="*/ 0 w 8871626"/>
              <a:gd name="connsiteY6" fmla="*/ 6858000 h 6858000"/>
            </a:gdLst>
            <a:ahLst/>
            <a:cxnLst/>
            <a:rect l="l" t="t" r="r" b="b"/>
            <a:pathLst>
              <a:path w="8871626" h="6858000">
                <a:moveTo>
                  <a:pt x="0" y="0"/>
                </a:moveTo>
                <a:lnTo>
                  <a:pt x="6674736" y="0"/>
                </a:lnTo>
                <a:lnTo>
                  <a:pt x="6730884" y="25301"/>
                </a:lnTo>
                <a:cubicBezTo>
                  <a:pt x="7999672" y="658995"/>
                  <a:pt x="8871626" y="1974884"/>
                  <a:pt x="8871626" y="3495454"/>
                </a:cubicBezTo>
                <a:cubicBezTo>
                  <a:pt x="8871626" y="4899057"/>
                  <a:pt x="8128660" y="6128257"/>
                  <a:pt x="7016421" y="6807477"/>
                </a:cubicBezTo>
                <a:lnTo>
                  <a:pt x="6928992" y="6858000"/>
                </a:lnTo>
                <a:lnTo>
                  <a:pt x="0" y="6858000"/>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871626" y="0"/>
            <a:ext cx="3320374" cy="6858000"/>
          </a:xfrm>
          <a:custGeom>
            <a:avLst/>
            <a:gdLst>
              <a:gd name="connsiteX0" fmla="*/ 2872902 w 3457103"/>
              <a:gd name="connsiteY0" fmla="*/ 0 h 6858000"/>
              <a:gd name="connsiteX1" fmla="*/ 3457103 w 3457103"/>
              <a:gd name="connsiteY1" fmla="*/ 0 h 6858000"/>
              <a:gd name="connsiteX2" fmla="*/ 3457103 w 3457103"/>
              <a:gd name="connsiteY2" fmla="*/ 6858000 h 6858000"/>
              <a:gd name="connsiteX3" fmla="*/ 2872902 w 3457103"/>
              <a:gd name="connsiteY3" fmla="*/ 6858000 h 6858000"/>
              <a:gd name="connsiteX4" fmla="*/ 2661424 w 3457103"/>
              <a:gd name="connsiteY4" fmla="*/ 6858000 h 6858000"/>
              <a:gd name="connsiteX5" fmla="*/ 2524483 w 3457103"/>
              <a:gd name="connsiteY5" fmla="*/ 6853539 h 6858000"/>
              <a:gd name="connsiteX6" fmla="*/ 0 w 3457103"/>
              <a:gd name="connsiteY6" fmla="*/ 3429001 h 6858000"/>
              <a:gd name="connsiteX7" fmla="*/ 2661439 w 3457103"/>
              <a:gd name="connsiteY7" fmla="*/ 1 h 6858000"/>
              <a:gd name="connsiteX8" fmla="*/ 2872902 w 3457103"/>
              <a:gd name="connsiteY8" fmla="*/ 1 h 6858000"/>
            </a:gdLst>
            <a:ahLst/>
            <a:cxnLst/>
            <a:rect l="l" t="t" r="r" b="b"/>
            <a:pathLst>
              <a:path w="3457103" h="6858000">
                <a:moveTo>
                  <a:pt x="2872902" y="0"/>
                </a:moveTo>
                <a:lnTo>
                  <a:pt x="3457103" y="0"/>
                </a:lnTo>
                <a:lnTo>
                  <a:pt x="3457103" y="6858000"/>
                </a:lnTo>
                <a:lnTo>
                  <a:pt x="2872902" y="6858000"/>
                </a:lnTo>
                <a:lnTo>
                  <a:pt x="2661424" y="6858000"/>
                </a:lnTo>
                <a:lnTo>
                  <a:pt x="2524483" y="6853539"/>
                </a:lnTo>
                <a:cubicBezTo>
                  <a:pt x="1118259" y="6761700"/>
                  <a:pt x="0" y="5263604"/>
                  <a:pt x="0" y="3429001"/>
                </a:cubicBezTo>
                <a:cubicBezTo>
                  <a:pt x="-1" y="1535217"/>
                  <a:pt x="1191567" y="1"/>
                  <a:pt x="2661439" y="1"/>
                </a:cubicBezTo>
                <a:lnTo>
                  <a:pt x="2872902" y="1"/>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488950" y="514350"/>
            <a:ext cx="11214100" cy="5829300"/>
          </a:xfrm>
          <a:prstGeom prst="rect">
            <a:avLst/>
          </a:prstGeom>
          <a:solidFill>
            <a:schemeClr val="bg1"/>
          </a:solidFill>
          <a:ln w="9525" cap="sq">
            <a:solidFill>
              <a:schemeClr val="accent1">
                <a:lumMod val="60000"/>
                <a:lumOff val="40000"/>
              </a:schemeClr>
            </a:solidFill>
            <a:miter/>
          </a:ln>
          <a:effectLst>
            <a:outerShdw blurRad="63500" sx="101000" sy="101000" algn="ctr" rotWithShape="0">
              <a:schemeClr val="accent1">
                <a:lumMod val="60000"/>
                <a:lumOff val="40000"/>
                <a:alpha val="4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503408" y="532076"/>
            <a:ext cx="4989228" cy="5829300"/>
          </a:xfrm>
          <a:custGeom>
            <a:avLst/>
            <a:gdLst>
              <a:gd name="connsiteX0" fmla="*/ 140769 w 4989228"/>
              <a:gd name="connsiteY0" fmla="*/ 0 h 5829300"/>
              <a:gd name="connsiteX1" fmla="*/ 4989228 w 4989228"/>
              <a:gd name="connsiteY1" fmla="*/ 0 h 5829300"/>
              <a:gd name="connsiteX2" fmla="*/ 4989228 w 4989228"/>
              <a:gd name="connsiteY2" fmla="*/ 5829300 h 5829300"/>
              <a:gd name="connsiteX3" fmla="*/ 140769 w 4989228"/>
              <a:gd name="connsiteY3" fmla="*/ 5829300 h 5829300"/>
              <a:gd name="connsiteX4" fmla="*/ 140769 w 4989228"/>
              <a:gd name="connsiteY4" fmla="*/ 0 h 5829300"/>
            </a:gdLst>
            <a:ahLst/>
            <a:cxnLst/>
            <a:rect l="l" t="t" r="r" b="b"/>
            <a:pathLst>
              <a:path w="4989228" h="5829300">
                <a:moveTo>
                  <a:pt x="140769" y="0"/>
                </a:moveTo>
                <a:lnTo>
                  <a:pt x="4989228" y="0"/>
                </a:lnTo>
                <a:lnTo>
                  <a:pt x="4989228" y="5829300"/>
                </a:lnTo>
                <a:lnTo>
                  <a:pt x="140769" y="5829300"/>
                </a:lnTo>
                <a:cubicBezTo>
                  <a:pt x="-417228" y="3973986"/>
                  <a:pt x="916940" y="2135159"/>
                  <a:pt x="140769" y="0"/>
                </a:cubicBezTo>
                <a:close/>
              </a:path>
            </a:pathLst>
          </a:custGeom>
          <a:solidFill>
            <a:schemeClr val="accent1">
              <a:lumMod val="40000"/>
              <a:lumOff val="60000"/>
              <a:alpha val="58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6" name="图片 5"/>
          <p:cNvPicPr>
            <a:picLocks noChangeAspect="1"/>
          </p:cNvPicPr>
          <p:nvPr/>
        </p:nvPicPr>
        <p:blipFill>
          <a:blip r:embed="rId3">
            <a:alphaModFix/>
          </a:blip>
          <a:srcRect l="26014" r="26014"/>
          <a:stretch>
            <a:fillRect/>
          </a:stretch>
        </p:blipFill>
        <p:spPr>
          <a:xfrm>
            <a:off x="6757383" y="549802"/>
            <a:ext cx="4989229" cy="5829300"/>
          </a:xfrm>
          <a:custGeom>
            <a:avLst/>
            <a:gdLst>
              <a:gd name="connsiteX0" fmla="*/ 140770 w 4989229"/>
              <a:gd name="connsiteY0" fmla="*/ 0 h 5829300"/>
              <a:gd name="connsiteX1" fmla="*/ 4989229 w 4989229"/>
              <a:gd name="connsiteY1" fmla="*/ 0 h 5829300"/>
              <a:gd name="connsiteX2" fmla="*/ 4989229 w 4989229"/>
              <a:gd name="connsiteY2" fmla="*/ 5829300 h 5829300"/>
              <a:gd name="connsiteX3" fmla="*/ 140770 w 4989229"/>
              <a:gd name="connsiteY3" fmla="*/ 5829300 h 5829300"/>
              <a:gd name="connsiteX4" fmla="*/ 140770 w 4989229"/>
              <a:gd name="connsiteY4" fmla="*/ 0 h 5829300"/>
            </a:gdLst>
            <a:ahLst/>
            <a:cxnLst/>
            <a:rect l="l" t="t" r="r" b="b"/>
            <a:pathLst>
              <a:path w="4989229" h="5829300">
                <a:moveTo>
                  <a:pt x="140770" y="0"/>
                </a:moveTo>
                <a:lnTo>
                  <a:pt x="4989229" y="0"/>
                </a:lnTo>
                <a:lnTo>
                  <a:pt x="4989229" y="5829300"/>
                </a:lnTo>
                <a:lnTo>
                  <a:pt x="140770" y="5829300"/>
                </a:lnTo>
                <a:cubicBezTo>
                  <a:pt x="-417227" y="3973986"/>
                  <a:pt x="916941" y="2135159"/>
                  <a:pt x="140770" y="0"/>
                </a:cubicBezTo>
                <a:close/>
              </a:path>
            </a:pathLst>
          </a:custGeom>
          <a:noFill/>
          <a:ln>
            <a:noFill/>
          </a:ln>
        </p:spPr>
      </p:pic>
      <p:sp>
        <p:nvSpPr>
          <p:cNvPr id="7" name="标题 1"/>
          <p:cNvSpPr txBox="1"/>
          <p:nvPr/>
        </p:nvSpPr>
        <p:spPr>
          <a:xfrm>
            <a:off x="5500673" y="5875987"/>
            <a:ext cx="618219" cy="317684"/>
          </a:xfrm>
          <a:custGeom>
            <a:avLst/>
            <a:gdLst>
              <a:gd name="connsiteX0" fmla="*/ 323260 w 505487"/>
              <a:gd name="connsiteY0" fmla="*/ 0 h 182227"/>
              <a:gd name="connsiteX1" fmla="*/ 414374 w 505487"/>
              <a:gd name="connsiteY1" fmla="*/ 0 h 182227"/>
              <a:gd name="connsiteX2" fmla="*/ 505487 w 505487"/>
              <a:gd name="connsiteY2" fmla="*/ 91114 h 182227"/>
              <a:gd name="connsiteX3" fmla="*/ 414374 w 505487"/>
              <a:gd name="connsiteY3" fmla="*/ 182227 h 182227"/>
              <a:gd name="connsiteX4" fmla="*/ 323260 w 505487"/>
              <a:gd name="connsiteY4" fmla="*/ 182227 h 182227"/>
              <a:gd name="connsiteX5" fmla="*/ 414374 w 505487"/>
              <a:gd name="connsiteY5" fmla="*/ 91114 h 182227"/>
              <a:gd name="connsiteX6" fmla="*/ 155338 w 505487"/>
              <a:gd name="connsiteY6" fmla="*/ 0 h 182227"/>
              <a:gd name="connsiteX7" fmla="*/ 246452 w 505487"/>
              <a:gd name="connsiteY7" fmla="*/ 0 h 182227"/>
              <a:gd name="connsiteX8" fmla="*/ 337565 w 505487"/>
              <a:gd name="connsiteY8" fmla="*/ 91114 h 182227"/>
              <a:gd name="connsiteX9" fmla="*/ 246452 w 505487"/>
              <a:gd name="connsiteY9" fmla="*/ 182227 h 182227"/>
              <a:gd name="connsiteX10" fmla="*/ 155338 w 505487"/>
              <a:gd name="connsiteY10" fmla="*/ 182227 h 182227"/>
              <a:gd name="connsiteX11" fmla="*/ 246452 w 505487"/>
              <a:gd name="connsiteY11" fmla="*/ 91114 h 182227"/>
              <a:gd name="connsiteX12" fmla="*/ 0 w 505487"/>
              <a:gd name="connsiteY12" fmla="*/ 0 h 182227"/>
              <a:gd name="connsiteX13" fmla="*/ 91114 w 505487"/>
              <a:gd name="connsiteY13" fmla="*/ 0 h 182227"/>
              <a:gd name="connsiteX14" fmla="*/ 182227 w 505487"/>
              <a:gd name="connsiteY14" fmla="*/ 91114 h 182227"/>
              <a:gd name="connsiteX15" fmla="*/ 91114 w 505487"/>
              <a:gd name="connsiteY15" fmla="*/ 182227 h 182227"/>
              <a:gd name="connsiteX16" fmla="*/ 0 w 505487"/>
              <a:gd name="connsiteY16" fmla="*/ 182227 h 182227"/>
              <a:gd name="connsiteX17" fmla="*/ 91114 w 505487"/>
              <a:gd name="connsiteY17" fmla="*/ 91114 h 182227"/>
            </a:gdLst>
            <a:ahLst/>
            <a:cxnLst/>
            <a:rect l="l" t="t" r="r" b="b"/>
            <a:pathLst>
              <a:path w="505487" h="182227">
                <a:moveTo>
                  <a:pt x="323260" y="0"/>
                </a:moveTo>
                <a:lnTo>
                  <a:pt x="414374" y="0"/>
                </a:lnTo>
                <a:lnTo>
                  <a:pt x="505487" y="91114"/>
                </a:lnTo>
                <a:lnTo>
                  <a:pt x="414374" y="182227"/>
                </a:lnTo>
                <a:lnTo>
                  <a:pt x="323260" y="182227"/>
                </a:lnTo>
                <a:lnTo>
                  <a:pt x="414374" y="91114"/>
                </a:lnTo>
                <a:close/>
                <a:moveTo>
                  <a:pt x="155338" y="0"/>
                </a:moveTo>
                <a:lnTo>
                  <a:pt x="246452" y="0"/>
                </a:lnTo>
                <a:lnTo>
                  <a:pt x="337565" y="91114"/>
                </a:lnTo>
                <a:lnTo>
                  <a:pt x="246452" y="182227"/>
                </a:lnTo>
                <a:lnTo>
                  <a:pt x="155338" y="182227"/>
                </a:lnTo>
                <a:lnTo>
                  <a:pt x="246452" y="91114"/>
                </a:lnTo>
                <a:close/>
                <a:moveTo>
                  <a:pt x="0" y="0"/>
                </a:moveTo>
                <a:lnTo>
                  <a:pt x="91114" y="0"/>
                </a:lnTo>
                <a:lnTo>
                  <a:pt x="182227" y="91114"/>
                </a:lnTo>
                <a:lnTo>
                  <a:pt x="91114" y="182227"/>
                </a:lnTo>
                <a:lnTo>
                  <a:pt x="0" y="182227"/>
                </a:lnTo>
                <a:lnTo>
                  <a:pt x="91114" y="91114"/>
                </a:lnTo>
                <a:close/>
              </a:path>
            </a:pathLst>
          </a:custGeom>
          <a:gradFill>
            <a:gsLst>
              <a:gs pos="9000">
                <a:schemeClr val="accent1"/>
              </a:gs>
              <a:gs pos="96000">
                <a:schemeClr val="accent1">
                  <a:lumMod val="20000"/>
                  <a:lumOff val="80000"/>
                </a:schemeClr>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724972" y="4375456"/>
            <a:ext cx="5017703" cy="132727"/>
          </a:xfrm>
          <a:custGeom>
            <a:avLst/>
            <a:gdLst>
              <a:gd name="connsiteX0" fmla="*/ 4821290 w 5017703"/>
              <a:gd name="connsiteY0" fmla="*/ 0 h 132727"/>
              <a:gd name="connsiteX1" fmla="*/ 4900540 w 5017703"/>
              <a:gd name="connsiteY1" fmla="*/ 0 h 132727"/>
              <a:gd name="connsiteX2" fmla="*/ 5017703 w 5017703"/>
              <a:gd name="connsiteY2" fmla="*/ 66364 h 132727"/>
              <a:gd name="connsiteX3" fmla="*/ 4900540 w 5017703"/>
              <a:gd name="connsiteY3" fmla="*/ 132727 h 132727"/>
              <a:gd name="connsiteX4" fmla="*/ 4821290 w 5017703"/>
              <a:gd name="connsiteY4" fmla="*/ 132727 h 132727"/>
              <a:gd name="connsiteX5" fmla="*/ 4882184 w 5017703"/>
              <a:gd name="connsiteY5" fmla="*/ 98236 h 132727"/>
              <a:gd name="connsiteX6" fmla="*/ 31873 w 5017703"/>
              <a:gd name="connsiteY6" fmla="*/ 98236 h 132727"/>
              <a:gd name="connsiteX7" fmla="*/ 0 w 5017703"/>
              <a:gd name="connsiteY7" fmla="*/ 66363 h 132727"/>
              <a:gd name="connsiteX8" fmla="*/ 31873 w 5017703"/>
              <a:gd name="connsiteY8" fmla="*/ 34490 h 132727"/>
              <a:gd name="connsiteX9" fmla="*/ 4882181 w 5017703"/>
              <a:gd name="connsiteY9" fmla="*/ 34490 h 132727"/>
            </a:gdLst>
            <a:ahLst/>
            <a:cxnLst/>
            <a:rect l="l" t="t" r="r" b="b"/>
            <a:pathLst>
              <a:path w="5017703" h="132727">
                <a:moveTo>
                  <a:pt x="4821290" y="0"/>
                </a:moveTo>
                <a:lnTo>
                  <a:pt x="4900540" y="0"/>
                </a:lnTo>
                <a:lnTo>
                  <a:pt x="5017703" y="66364"/>
                </a:lnTo>
                <a:lnTo>
                  <a:pt x="4900540" y="132727"/>
                </a:lnTo>
                <a:lnTo>
                  <a:pt x="4821290" y="132727"/>
                </a:lnTo>
                <a:lnTo>
                  <a:pt x="4882184" y="98236"/>
                </a:lnTo>
                <a:lnTo>
                  <a:pt x="31873" y="98236"/>
                </a:lnTo>
                <a:cubicBezTo>
                  <a:pt x="14270" y="98236"/>
                  <a:pt x="0" y="83966"/>
                  <a:pt x="0" y="66363"/>
                </a:cubicBezTo>
                <a:cubicBezTo>
                  <a:pt x="0" y="48760"/>
                  <a:pt x="14270" y="34490"/>
                  <a:pt x="31873" y="34490"/>
                </a:cubicBezTo>
                <a:lnTo>
                  <a:pt x="4882181" y="34490"/>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729392" y="4775932"/>
            <a:ext cx="2413000" cy="397668"/>
          </a:xfrm>
          <a:prstGeom prst="roundRect">
            <a:avLst>
              <a:gd name="adj" fmla="val 20292"/>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3336033" y="4775932"/>
            <a:ext cx="2413000" cy="397667"/>
          </a:xfrm>
          <a:prstGeom prst="roundRect">
            <a:avLst>
              <a:gd name="adj" fmla="val 20292"/>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3388055" y="4815612"/>
            <a:ext cx="318308" cy="318308"/>
          </a:xfrm>
          <a:prstGeom prst="ellipse">
            <a:avLst/>
          </a:prstGeom>
          <a:gradFill>
            <a:gsLst>
              <a:gs pos="10000">
                <a:schemeClr val="accent2">
                  <a:lumMod val="90000"/>
                </a:schemeClr>
              </a:gs>
              <a:gs pos="59000">
                <a:schemeClr val="accent2">
                  <a:lumMod val="20000"/>
                  <a:lumOff val="80000"/>
                </a:schemeClr>
              </a:gs>
              <a:gs pos="88000">
                <a:schemeClr val="accent2">
                  <a:lumMod val="90000"/>
                </a:schemeClr>
              </a:gs>
            </a:gsLst>
            <a:lin ang="2700000" scaled="0"/>
          </a:gradFill>
          <a:ln w="635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796390" y="4815612"/>
            <a:ext cx="318308" cy="318308"/>
          </a:xfrm>
          <a:prstGeom prst="ellipse">
            <a:avLst/>
          </a:prstGeom>
          <a:gradFill>
            <a:gsLst>
              <a:gs pos="10000">
                <a:schemeClr val="accent2">
                  <a:lumMod val="90000"/>
                </a:schemeClr>
              </a:gs>
              <a:gs pos="59000">
                <a:schemeClr val="accent2">
                  <a:lumMod val="20000"/>
                  <a:lumOff val="80000"/>
                </a:schemeClr>
              </a:gs>
              <a:gs pos="88000">
                <a:schemeClr val="accent2">
                  <a:lumMod val="90000"/>
                </a:schemeClr>
              </a:gs>
            </a:gsLst>
            <a:lin ang="2700000" scaled="0"/>
          </a:gradFill>
          <a:ln w="635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869390" y="4881440"/>
            <a:ext cx="172309" cy="186652"/>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4" name="标题 1"/>
          <p:cNvSpPr txBox="1"/>
          <p:nvPr/>
        </p:nvSpPr>
        <p:spPr>
          <a:xfrm>
            <a:off x="3465420" y="4892976"/>
            <a:ext cx="163579" cy="163579"/>
          </a:xfrm>
          <a:custGeom>
            <a:avLst/>
            <a:gdLst>
              <a:gd name="connsiteX0" fmla="*/ 2136435 w 5834559"/>
              <a:gd name="connsiteY0" fmla="*/ 643126 h 5397372"/>
              <a:gd name="connsiteX1" fmla="*/ 3716657 w 5834559"/>
              <a:gd name="connsiteY1" fmla="*/ 643126 h 5397372"/>
              <a:gd name="connsiteX2" fmla="*/ 3716657 w 5834559"/>
              <a:gd name="connsiteY2" fmla="*/ 1064855 h 5397372"/>
              <a:gd name="connsiteX3" fmla="*/ 2136435 w 5834559"/>
              <a:gd name="connsiteY3" fmla="*/ 1064855 h 5397372"/>
              <a:gd name="connsiteX4" fmla="*/ 693741 w 5834559"/>
              <a:gd name="connsiteY4" fmla="*/ 643126 h 5397372"/>
              <a:gd name="connsiteX5" fmla="*/ 1550121 w 5834559"/>
              <a:gd name="connsiteY5" fmla="*/ 643126 h 5397372"/>
              <a:gd name="connsiteX6" fmla="*/ 1550121 w 5834559"/>
              <a:gd name="connsiteY6" fmla="*/ 1064855 h 5397372"/>
              <a:gd name="connsiteX7" fmla="*/ 693741 w 5834559"/>
              <a:gd name="connsiteY7" fmla="*/ 1064855 h 5397372"/>
              <a:gd name="connsiteX8" fmla="*/ 421729 w 5834559"/>
              <a:gd name="connsiteY8" fmla="*/ 1336867 h 5397372"/>
              <a:gd name="connsiteX9" fmla="*/ 421729 w 5834559"/>
              <a:gd name="connsiteY9" fmla="*/ 2079805 h 5397372"/>
              <a:gd name="connsiteX10" fmla="*/ 5412133 w 5834559"/>
              <a:gd name="connsiteY10" fmla="*/ 2079805 h 5397372"/>
              <a:gd name="connsiteX11" fmla="*/ 5412133 w 5834559"/>
              <a:gd name="connsiteY11" fmla="*/ 1336867 h 5397372"/>
              <a:gd name="connsiteX12" fmla="*/ 5140113 w 5834559"/>
              <a:gd name="connsiteY12" fmla="*/ 1064855 h 5397372"/>
              <a:gd name="connsiteX13" fmla="*/ 4302971 w 5834559"/>
              <a:gd name="connsiteY13" fmla="*/ 1064855 h 5397372"/>
              <a:gd name="connsiteX14" fmla="*/ 4302971 w 5834559"/>
              <a:gd name="connsiteY14" fmla="*/ 643126 h 5397372"/>
              <a:gd name="connsiteX15" fmla="*/ 5140113 w 5834559"/>
              <a:gd name="connsiteY15" fmla="*/ 643126 h 5397372"/>
              <a:gd name="connsiteX16" fmla="*/ 5834559 w 5834559"/>
              <a:gd name="connsiteY16" fmla="*/ 1336867 h 5397372"/>
              <a:gd name="connsiteX17" fmla="*/ 5834559 w 5834559"/>
              <a:gd name="connsiteY17" fmla="*/ 4703631 h 5397372"/>
              <a:gd name="connsiteX18" fmla="*/ 5140818 w 5834559"/>
              <a:gd name="connsiteY18" fmla="*/ 5397372 h 5397372"/>
              <a:gd name="connsiteX19" fmla="*/ 693741 w 5834559"/>
              <a:gd name="connsiteY19" fmla="*/ 5397372 h 5397372"/>
              <a:gd name="connsiteX20" fmla="*/ 0 w 5834559"/>
              <a:gd name="connsiteY20" fmla="*/ 4703631 h 5397372"/>
              <a:gd name="connsiteX21" fmla="*/ 0 w 5834559"/>
              <a:gd name="connsiteY21" fmla="*/ 2501529 h 5397372"/>
              <a:gd name="connsiteX22" fmla="*/ 0 w 5834559"/>
              <a:gd name="connsiteY22" fmla="*/ 2079805 h 5397372"/>
              <a:gd name="connsiteX23" fmla="*/ 0 w 5834559"/>
              <a:gd name="connsiteY23" fmla="*/ 1336867 h 5397372"/>
              <a:gd name="connsiteX24" fmla="*/ 693741 w 5834559"/>
              <a:gd name="connsiteY24" fmla="*/ 643126 h 5397372"/>
              <a:gd name="connsiteX25" fmla="*/ 3997242 w 5834559"/>
              <a:gd name="connsiteY25" fmla="*/ 0 h 5397372"/>
              <a:gd name="connsiteX26" fmla="*/ 4208106 w 5834559"/>
              <a:gd name="connsiteY26" fmla="*/ 210864 h 5397372"/>
              <a:gd name="connsiteX27" fmla="*/ 4208106 w 5834559"/>
              <a:gd name="connsiteY27" fmla="*/ 1506961 h 5397372"/>
              <a:gd name="connsiteX28" fmla="*/ 3997242 w 5834559"/>
              <a:gd name="connsiteY28" fmla="*/ 1718528 h 5397372"/>
              <a:gd name="connsiteX29" fmla="*/ 3786378 w 5834559"/>
              <a:gd name="connsiteY29" fmla="*/ 1507664 h 5397372"/>
              <a:gd name="connsiteX30" fmla="*/ 3786378 w 5834559"/>
              <a:gd name="connsiteY30" fmla="*/ 210864 h 5397372"/>
              <a:gd name="connsiteX31" fmla="*/ 3997242 w 5834559"/>
              <a:gd name="connsiteY31" fmla="*/ 0 h 5397372"/>
              <a:gd name="connsiteX32" fmla="*/ 1836609 w 5834559"/>
              <a:gd name="connsiteY32" fmla="*/ 0 h 5397372"/>
              <a:gd name="connsiteX33" fmla="*/ 2047469 w 5834559"/>
              <a:gd name="connsiteY33" fmla="*/ 210864 h 5397372"/>
              <a:gd name="connsiteX34" fmla="*/ 2047469 w 5834559"/>
              <a:gd name="connsiteY34" fmla="*/ 1506961 h 5397372"/>
              <a:gd name="connsiteX35" fmla="*/ 1836609 w 5834559"/>
              <a:gd name="connsiteY35" fmla="*/ 1718528 h 5397372"/>
              <a:gd name="connsiteX36" fmla="*/ 1625745 w 5834559"/>
              <a:gd name="connsiteY36" fmla="*/ 1507664 h 5397372"/>
              <a:gd name="connsiteX37" fmla="*/ 1625745 w 5834559"/>
              <a:gd name="connsiteY37" fmla="*/ 210864 h 5397372"/>
              <a:gd name="connsiteX38" fmla="*/ 1836609 w 5834559"/>
              <a:gd name="connsiteY38" fmla="*/ 0 h 5397372"/>
            </a:gdLst>
            <a:ahLst/>
            <a:cxnLst/>
            <a:rect l="l" t="t" r="r" b="b"/>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5" name="标题 1"/>
          <p:cNvSpPr txBox="1"/>
          <p:nvPr/>
        </p:nvSpPr>
        <p:spPr>
          <a:xfrm>
            <a:off x="699364" y="5880628"/>
            <a:ext cx="1018346" cy="234109"/>
          </a:xfrm>
          <a:custGeom>
            <a:avLst/>
            <a:gdLst>
              <a:gd name="connsiteX0" fmla="*/ 844757 w 1018346"/>
              <a:gd name="connsiteY0" fmla="*/ 0 h 234109"/>
              <a:gd name="connsiteX1" fmla="*/ 1018346 w 1018346"/>
              <a:gd name="connsiteY1" fmla="*/ 0 h 234109"/>
              <a:gd name="connsiteX2" fmla="*/ 960483 w 1018346"/>
              <a:gd name="connsiteY2" fmla="*/ 234109 h 234109"/>
              <a:gd name="connsiteX3" fmla="*/ 786894 w 1018346"/>
              <a:gd name="connsiteY3" fmla="*/ 234109 h 234109"/>
              <a:gd name="connsiteX4" fmla="*/ 582459 w 1018346"/>
              <a:gd name="connsiteY4" fmla="*/ 0 h 234109"/>
              <a:gd name="connsiteX5" fmla="*/ 756048 w 1018346"/>
              <a:gd name="connsiteY5" fmla="*/ 0 h 234109"/>
              <a:gd name="connsiteX6" fmla="*/ 698185 w 1018346"/>
              <a:gd name="connsiteY6" fmla="*/ 234109 h 234109"/>
              <a:gd name="connsiteX7" fmla="*/ 524596 w 1018346"/>
              <a:gd name="connsiteY7" fmla="*/ 234109 h 234109"/>
              <a:gd name="connsiteX8" fmla="*/ 320161 w 1018346"/>
              <a:gd name="connsiteY8" fmla="*/ 0 h 234109"/>
              <a:gd name="connsiteX9" fmla="*/ 493750 w 1018346"/>
              <a:gd name="connsiteY9" fmla="*/ 0 h 234109"/>
              <a:gd name="connsiteX10" fmla="*/ 435887 w 1018346"/>
              <a:gd name="connsiteY10" fmla="*/ 234109 h 234109"/>
              <a:gd name="connsiteX11" fmla="*/ 262298 w 1018346"/>
              <a:gd name="connsiteY11" fmla="*/ 234109 h 234109"/>
              <a:gd name="connsiteX12" fmla="*/ 57863 w 1018346"/>
              <a:gd name="connsiteY12" fmla="*/ 0 h 234109"/>
              <a:gd name="connsiteX13" fmla="*/ 231452 w 1018346"/>
              <a:gd name="connsiteY13" fmla="*/ 0 h 234109"/>
              <a:gd name="connsiteX14" fmla="*/ 173589 w 1018346"/>
              <a:gd name="connsiteY14" fmla="*/ 234109 h 234109"/>
              <a:gd name="connsiteX15" fmla="*/ 0 w 1018346"/>
              <a:gd name="connsiteY15" fmla="*/ 234109 h 234109"/>
            </a:gdLst>
            <a:ahLst/>
            <a:cxnLst/>
            <a:rect l="l" t="t" r="r" b="b"/>
            <a:pathLst>
              <a:path w="1018346" h="234109">
                <a:moveTo>
                  <a:pt x="844757" y="0"/>
                </a:moveTo>
                <a:lnTo>
                  <a:pt x="1018346" y="0"/>
                </a:lnTo>
                <a:lnTo>
                  <a:pt x="960483" y="234109"/>
                </a:lnTo>
                <a:lnTo>
                  <a:pt x="786894" y="234109"/>
                </a:lnTo>
                <a:close/>
                <a:moveTo>
                  <a:pt x="582459" y="0"/>
                </a:moveTo>
                <a:lnTo>
                  <a:pt x="756048" y="0"/>
                </a:lnTo>
                <a:lnTo>
                  <a:pt x="698185" y="234109"/>
                </a:lnTo>
                <a:lnTo>
                  <a:pt x="524596" y="234109"/>
                </a:lnTo>
                <a:close/>
                <a:moveTo>
                  <a:pt x="320161" y="0"/>
                </a:moveTo>
                <a:lnTo>
                  <a:pt x="493750" y="0"/>
                </a:lnTo>
                <a:lnTo>
                  <a:pt x="435887" y="234109"/>
                </a:lnTo>
                <a:lnTo>
                  <a:pt x="262298" y="234109"/>
                </a:lnTo>
                <a:close/>
                <a:moveTo>
                  <a:pt x="57863" y="0"/>
                </a:moveTo>
                <a:lnTo>
                  <a:pt x="231452" y="0"/>
                </a:lnTo>
                <a:lnTo>
                  <a:pt x="173589" y="234109"/>
                </a:lnTo>
                <a:lnTo>
                  <a:pt x="0" y="234109"/>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833607" y="5999530"/>
            <a:ext cx="3431412" cy="45719"/>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rot="15136073">
            <a:off x="570533" y="1864287"/>
            <a:ext cx="770021" cy="770021"/>
          </a:xfrm>
          <a:prstGeom prst="donut">
            <a:avLst>
              <a:gd name="adj" fmla="val 11757"/>
            </a:avLst>
          </a:prstGeom>
          <a:gradFill>
            <a:gsLst>
              <a:gs pos="5000">
                <a:schemeClr val="accent1">
                  <a:lumMod val="5000"/>
                  <a:lumOff val="95000"/>
                  <a:alpha val="0"/>
                </a:schemeClr>
              </a:gs>
              <a:gs pos="40000">
                <a:schemeClr val="accent2"/>
              </a:gs>
            </a:gsLst>
            <a:lin ang="0" scaled="0"/>
          </a:gradFill>
          <a:ln w="28575" cap="sq">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5923664" y="1370929"/>
            <a:ext cx="896246" cy="571074"/>
          </a:xfrm>
          <a:custGeom>
            <a:avLst/>
            <a:gdLst>
              <a:gd name="connsiteX0" fmla="*/ 860553 w 896246"/>
              <a:gd name="connsiteY0" fmla="*/ 499536 h 571074"/>
              <a:gd name="connsiteX1" fmla="*/ 896246 w 896246"/>
              <a:gd name="connsiteY1" fmla="*/ 535305 h 571074"/>
              <a:gd name="connsiteX2" fmla="*/ 860553 w 896246"/>
              <a:gd name="connsiteY2" fmla="*/ 571074 h 571074"/>
              <a:gd name="connsiteX3" fmla="*/ 824860 w 896246"/>
              <a:gd name="connsiteY3" fmla="*/ 535305 h 571074"/>
              <a:gd name="connsiteX4" fmla="*/ 860553 w 896246"/>
              <a:gd name="connsiteY4" fmla="*/ 499536 h 571074"/>
              <a:gd name="connsiteX5" fmla="*/ 695581 w 896246"/>
              <a:gd name="connsiteY5" fmla="*/ 499536 h 571074"/>
              <a:gd name="connsiteX6" fmla="*/ 731274 w 896246"/>
              <a:gd name="connsiteY6" fmla="*/ 535305 h 571074"/>
              <a:gd name="connsiteX7" fmla="*/ 695581 w 896246"/>
              <a:gd name="connsiteY7" fmla="*/ 571074 h 571074"/>
              <a:gd name="connsiteX8" fmla="*/ 659888 w 896246"/>
              <a:gd name="connsiteY8" fmla="*/ 535305 h 571074"/>
              <a:gd name="connsiteX9" fmla="*/ 695581 w 896246"/>
              <a:gd name="connsiteY9" fmla="*/ 499536 h 571074"/>
              <a:gd name="connsiteX10" fmla="*/ 530609 w 896246"/>
              <a:gd name="connsiteY10" fmla="*/ 499536 h 571074"/>
              <a:gd name="connsiteX11" fmla="*/ 566302 w 896246"/>
              <a:gd name="connsiteY11" fmla="*/ 535305 h 571074"/>
              <a:gd name="connsiteX12" fmla="*/ 530609 w 896246"/>
              <a:gd name="connsiteY12" fmla="*/ 571074 h 571074"/>
              <a:gd name="connsiteX13" fmla="*/ 494916 w 896246"/>
              <a:gd name="connsiteY13" fmla="*/ 535305 h 571074"/>
              <a:gd name="connsiteX14" fmla="*/ 530609 w 896246"/>
              <a:gd name="connsiteY14" fmla="*/ 499536 h 571074"/>
              <a:gd name="connsiteX15" fmla="*/ 365637 w 896246"/>
              <a:gd name="connsiteY15" fmla="*/ 499536 h 571074"/>
              <a:gd name="connsiteX16" fmla="*/ 401330 w 896246"/>
              <a:gd name="connsiteY16" fmla="*/ 535305 h 571074"/>
              <a:gd name="connsiteX17" fmla="*/ 365637 w 896246"/>
              <a:gd name="connsiteY17" fmla="*/ 571074 h 571074"/>
              <a:gd name="connsiteX18" fmla="*/ 329944 w 896246"/>
              <a:gd name="connsiteY18" fmla="*/ 535305 h 571074"/>
              <a:gd name="connsiteX19" fmla="*/ 365637 w 896246"/>
              <a:gd name="connsiteY19" fmla="*/ 499536 h 571074"/>
              <a:gd name="connsiteX20" fmla="*/ 200665 w 896246"/>
              <a:gd name="connsiteY20" fmla="*/ 499536 h 571074"/>
              <a:gd name="connsiteX21" fmla="*/ 236358 w 896246"/>
              <a:gd name="connsiteY21" fmla="*/ 535305 h 571074"/>
              <a:gd name="connsiteX22" fmla="*/ 200665 w 896246"/>
              <a:gd name="connsiteY22" fmla="*/ 571074 h 571074"/>
              <a:gd name="connsiteX23" fmla="*/ 164972 w 896246"/>
              <a:gd name="connsiteY23" fmla="*/ 535305 h 571074"/>
              <a:gd name="connsiteX24" fmla="*/ 200665 w 896246"/>
              <a:gd name="connsiteY24" fmla="*/ 499536 h 571074"/>
              <a:gd name="connsiteX25" fmla="*/ 35693 w 896246"/>
              <a:gd name="connsiteY25" fmla="*/ 499536 h 571074"/>
              <a:gd name="connsiteX26" fmla="*/ 71386 w 896246"/>
              <a:gd name="connsiteY26" fmla="*/ 535305 h 571074"/>
              <a:gd name="connsiteX27" fmla="*/ 35693 w 896246"/>
              <a:gd name="connsiteY27" fmla="*/ 571074 h 571074"/>
              <a:gd name="connsiteX28" fmla="*/ 0 w 896246"/>
              <a:gd name="connsiteY28" fmla="*/ 535305 h 571074"/>
              <a:gd name="connsiteX29" fmla="*/ 35693 w 896246"/>
              <a:gd name="connsiteY29" fmla="*/ 499536 h 571074"/>
              <a:gd name="connsiteX30" fmla="*/ 860553 w 896246"/>
              <a:gd name="connsiteY30" fmla="*/ 333024 h 571074"/>
              <a:gd name="connsiteX31" fmla="*/ 896246 w 896246"/>
              <a:gd name="connsiteY31" fmla="*/ 368793 h 571074"/>
              <a:gd name="connsiteX32" fmla="*/ 860553 w 896246"/>
              <a:gd name="connsiteY32" fmla="*/ 404562 h 571074"/>
              <a:gd name="connsiteX33" fmla="*/ 824860 w 896246"/>
              <a:gd name="connsiteY33" fmla="*/ 368793 h 571074"/>
              <a:gd name="connsiteX34" fmla="*/ 860553 w 896246"/>
              <a:gd name="connsiteY34" fmla="*/ 333024 h 571074"/>
              <a:gd name="connsiteX35" fmla="*/ 695581 w 896246"/>
              <a:gd name="connsiteY35" fmla="*/ 333024 h 571074"/>
              <a:gd name="connsiteX36" fmla="*/ 731274 w 896246"/>
              <a:gd name="connsiteY36" fmla="*/ 368793 h 571074"/>
              <a:gd name="connsiteX37" fmla="*/ 695581 w 896246"/>
              <a:gd name="connsiteY37" fmla="*/ 404562 h 571074"/>
              <a:gd name="connsiteX38" fmla="*/ 659888 w 896246"/>
              <a:gd name="connsiteY38" fmla="*/ 368793 h 571074"/>
              <a:gd name="connsiteX39" fmla="*/ 695581 w 896246"/>
              <a:gd name="connsiteY39" fmla="*/ 333024 h 571074"/>
              <a:gd name="connsiteX40" fmla="*/ 530609 w 896246"/>
              <a:gd name="connsiteY40" fmla="*/ 333024 h 571074"/>
              <a:gd name="connsiteX41" fmla="*/ 566302 w 896246"/>
              <a:gd name="connsiteY41" fmla="*/ 368793 h 571074"/>
              <a:gd name="connsiteX42" fmla="*/ 530609 w 896246"/>
              <a:gd name="connsiteY42" fmla="*/ 404562 h 571074"/>
              <a:gd name="connsiteX43" fmla="*/ 494916 w 896246"/>
              <a:gd name="connsiteY43" fmla="*/ 368793 h 571074"/>
              <a:gd name="connsiteX44" fmla="*/ 530609 w 896246"/>
              <a:gd name="connsiteY44" fmla="*/ 333024 h 571074"/>
              <a:gd name="connsiteX45" fmla="*/ 365637 w 896246"/>
              <a:gd name="connsiteY45" fmla="*/ 333024 h 571074"/>
              <a:gd name="connsiteX46" fmla="*/ 401330 w 896246"/>
              <a:gd name="connsiteY46" fmla="*/ 368793 h 571074"/>
              <a:gd name="connsiteX47" fmla="*/ 365637 w 896246"/>
              <a:gd name="connsiteY47" fmla="*/ 404562 h 571074"/>
              <a:gd name="connsiteX48" fmla="*/ 329944 w 896246"/>
              <a:gd name="connsiteY48" fmla="*/ 368793 h 571074"/>
              <a:gd name="connsiteX49" fmla="*/ 365637 w 896246"/>
              <a:gd name="connsiteY49" fmla="*/ 333024 h 571074"/>
              <a:gd name="connsiteX50" fmla="*/ 200665 w 896246"/>
              <a:gd name="connsiteY50" fmla="*/ 333024 h 571074"/>
              <a:gd name="connsiteX51" fmla="*/ 236358 w 896246"/>
              <a:gd name="connsiteY51" fmla="*/ 368793 h 571074"/>
              <a:gd name="connsiteX52" fmla="*/ 200665 w 896246"/>
              <a:gd name="connsiteY52" fmla="*/ 404562 h 571074"/>
              <a:gd name="connsiteX53" fmla="*/ 164972 w 896246"/>
              <a:gd name="connsiteY53" fmla="*/ 368793 h 571074"/>
              <a:gd name="connsiteX54" fmla="*/ 200665 w 896246"/>
              <a:gd name="connsiteY54" fmla="*/ 333024 h 571074"/>
              <a:gd name="connsiteX55" fmla="*/ 35693 w 896246"/>
              <a:gd name="connsiteY55" fmla="*/ 333024 h 571074"/>
              <a:gd name="connsiteX56" fmla="*/ 71386 w 896246"/>
              <a:gd name="connsiteY56" fmla="*/ 368793 h 571074"/>
              <a:gd name="connsiteX57" fmla="*/ 35693 w 896246"/>
              <a:gd name="connsiteY57" fmla="*/ 404562 h 571074"/>
              <a:gd name="connsiteX58" fmla="*/ 0 w 896246"/>
              <a:gd name="connsiteY58" fmla="*/ 368793 h 571074"/>
              <a:gd name="connsiteX59" fmla="*/ 35693 w 896246"/>
              <a:gd name="connsiteY59" fmla="*/ 333024 h 571074"/>
              <a:gd name="connsiteX60" fmla="*/ 860553 w 896246"/>
              <a:gd name="connsiteY60" fmla="*/ 166512 h 571074"/>
              <a:gd name="connsiteX61" fmla="*/ 896246 w 896246"/>
              <a:gd name="connsiteY61" fmla="*/ 202281 h 571074"/>
              <a:gd name="connsiteX62" fmla="*/ 860553 w 896246"/>
              <a:gd name="connsiteY62" fmla="*/ 238050 h 571074"/>
              <a:gd name="connsiteX63" fmla="*/ 824860 w 896246"/>
              <a:gd name="connsiteY63" fmla="*/ 202281 h 571074"/>
              <a:gd name="connsiteX64" fmla="*/ 860553 w 896246"/>
              <a:gd name="connsiteY64" fmla="*/ 166512 h 571074"/>
              <a:gd name="connsiteX65" fmla="*/ 695581 w 896246"/>
              <a:gd name="connsiteY65" fmla="*/ 166512 h 571074"/>
              <a:gd name="connsiteX66" fmla="*/ 731274 w 896246"/>
              <a:gd name="connsiteY66" fmla="*/ 202281 h 571074"/>
              <a:gd name="connsiteX67" fmla="*/ 695581 w 896246"/>
              <a:gd name="connsiteY67" fmla="*/ 238050 h 571074"/>
              <a:gd name="connsiteX68" fmla="*/ 659888 w 896246"/>
              <a:gd name="connsiteY68" fmla="*/ 202281 h 571074"/>
              <a:gd name="connsiteX69" fmla="*/ 695581 w 896246"/>
              <a:gd name="connsiteY69" fmla="*/ 166512 h 571074"/>
              <a:gd name="connsiteX70" fmla="*/ 530609 w 896246"/>
              <a:gd name="connsiteY70" fmla="*/ 166512 h 571074"/>
              <a:gd name="connsiteX71" fmla="*/ 566302 w 896246"/>
              <a:gd name="connsiteY71" fmla="*/ 202281 h 571074"/>
              <a:gd name="connsiteX72" fmla="*/ 530609 w 896246"/>
              <a:gd name="connsiteY72" fmla="*/ 238050 h 571074"/>
              <a:gd name="connsiteX73" fmla="*/ 494916 w 896246"/>
              <a:gd name="connsiteY73" fmla="*/ 202281 h 571074"/>
              <a:gd name="connsiteX74" fmla="*/ 530609 w 896246"/>
              <a:gd name="connsiteY74" fmla="*/ 166512 h 571074"/>
              <a:gd name="connsiteX75" fmla="*/ 365637 w 896246"/>
              <a:gd name="connsiteY75" fmla="*/ 166512 h 571074"/>
              <a:gd name="connsiteX76" fmla="*/ 401330 w 896246"/>
              <a:gd name="connsiteY76" fmla="*/ 202281 h 571074"/>
              <a:gd name="connsiteX77" fmla="*/ 365637 w 896246"/>
              <a:gd name="connsiteY77" fmla="*/ 238050 h 571074"/>
              <a:gd name="connsiteX78" fmla="*/ 329944 w 896246"/>
              <a:gd name="connsiteY78" fmla="*/ 202281 h 571074"/>
              <a:gd name="connsiteX79" fmla="*/ 365637 w 896246"/>
              <a:gd name="connsiteY79" fmla="*/ 166512 h 571074"/>
              <a:gd name="connsiteX80" fmla="*/ 200665 w 896246"/>
              <a:gd name="connsiteY80" fmla="*/ 166512 h 571074"/>
              <a:gd name="connsiteX81" fmla="*/ 236358 w 896246"/>
              <a:gd name="connsiteY81" fmla="*/ 202281 h 571074"/>
              <a:gd name="connsiteX82" fmla="*/ 200665 w 896246"/>
              <a:gd name="connsiteY82" fmla="*/ 238050 h 571074"/>
              <a:gd name="connsiteX83" fmla="*/ 164972 w 896246"/>
              <a:gd name="connsiteY83" fmla="*/ 202281 h 571074"/>
              <a:gd name="connsiteX84" fmla="*/ 200665 w 896246"/>
              <a:gd name="connsiteY84" fmla="*/ 166512 h 571074"/>
              <a:gd name="connsiteX85" fmla="*/ 35693 w 896246"/>
              <a:gd name="connsiteY85" fmla="*/ 166512 h 571074"/>
              <a:gd name="connsiteX86" fmla="*/ 71386 w 896246"/>
              <a:gd name="connsiteY86" fmla="*/ 202281 h 571074"/>
              <a:gd name="connsiteX87" fmla="*/ 35693 w 896246"/>
              <a:gd name="connsiteY87" fmla="*/ 238050 h 571074"/>
              <a:gd name="connsiteX88" fmla="*/ 0 w 896246"/>
              <a:gd name="connsiteY88" fmla="*/ 202281 h 571074"/>
              <a:gd name="connsiteX89" fmla="*/ 35693 w 896246"/>
              <a:gd name="connsiteY89" fmla="*/ 166512 h 571074"/>
              <a:gd name="connsiteX90" fmla="*/ 860553 w 896246"/>
              <a:gd name="connsiteY90" fmla="*/ 0 h 571074"/>
              <a:gd name="connsiteX91" fmla="*/ 896246 w 896246"/>
              <a:gd name="connsiteY91" fmla="*/ 35769 h 571074"/>
              <a:gd name="connsiteX92" fmla="*/ 860553 w 896246"/>
              <a:gd name="connsiteY92" fmla="*/ 71538 h 571074"/>
              <a:gd name="connsiteX93" fmla="*/ 824860 w 896246"/>
              <a:gd name="connsiteY93" fmla="*/ 35769 h 571074"/>
              <a:gd name="connsiteX94" fmla="*/ 860553 w 896246"/>
              <a:gd name="connsiteY94" fmla="*/ 0 h 571074"/>
              <a:gd name="connsiteX95" fmla="*/ 695581 w 896246"/>
              <a:gd name="connsiteY95" fmla="*/ 0 h 571074"/>
              <a:gd name="connsiteX96" fmla="*/ 731274 w 896246"/>
              <a:gd name="connsiteY96" fmla="*/ 35769 h 571074"/>
              <a:gd name="connsiteX97" fmla="*/ 695581 w 896246"/>
              <a:gd name="connsiteY97" fmla="*/ 71538 h 571074"/>
              <a:gd name="connsiteX98" fmla="*/ 659888 w 896246"/>
              <a:gd name="connsiteY98" fmla="*/ 35769 h 571074"/>
              <a:gd name="connsiteX99" fmla="*/ 695581 w 896246"/>
              <a:gd name="connsiteY99" fmla="*/ 0 h 571074"/>
              <a:gd name="connsiteX100" fmla="*/ 530609 w 896246"/>
              <a:gd name="connsiteY100" fmla="*/ 0 h 571074"/>
              <a:gd name="connsiteX101" fmla="*/ 566302 w 896246"/>
              <a:gd name="connsiteY101" fmla="*/ 35769 h 571074"/>
              <a:gd name="connsiteX102" fmla="*/ 530609 w 896246"/>
              <a:gd name="connsiteY102" fmla="*/ 71538 h 571074"/>
              <a:gd name="connsiteX103" fmla="*/ 494916 w 896246"/>
              <a:gd name="connsiteY103" fmla="*/ 35769 h 571074"/>
              <a:gd name="connsiteX104" fmla="*/ 530609 w 896246"/>
              <a:gd name="connsiteY104" fmla="*/ 0 h 571074"/>
              <a:gd name="connsiteX105" fmla="*/ 365637 w 896246"/>
              <a:gd name="connsiteY105" fmla="*/ 0 h 571074"/>
              <a:gd name="connsiteX106" fmla="*/ 401330 w 896246"/>
              <a:gd name="connsiteY106" fmla="*/ 35769 h 571074"/>
              <a:gd name="connsiteX107" fmla="*/ 365637 w 896246"/>
              <a:gd name="connsiteY107" fmla="*/ 71538 h 571074"/>
              <a:gd name="connsiteX108" fmla="*/ 329944 w 896246"/>
              <a:gd name="connsiteY108" fmla="*/ 35769 h 571074"/>
              <a:gd name="connsiteX109" fmla="*/ 365637 w 896246"/>
              <a:gd name="connsiteY109" fmla="*/ 0 h 571074"/>
              <a:gd name="connsiteX110" fmla="*/ 200665 w 896246"/>
              <a:gd name="connsiteY110" fmla="*/ 0 h 571074"/>
              <a:gd name="connsiteX111" fmla="*/ 236358 w 896246"/>
              <a:gd name="connsiteY111" fmla="*/ 35769 h 571074"/>
              <a:gd name="connsiteX112" fmla="*/ 200665 w 896246"/>
              <a:gd name="connsiteY112" fmla="*/ 71538 h 571074"/>
              <a:gd name="connsiteX113" fmla="*/ 164972 w 896246"/>
              <a:gd name="connsiteY113" fmla="*/ 35769 h 571074"/>
              <a:gd name="connsiteX114" fmla="*/ 200665 w 896246"/>
              <a:gd name="connsiteY114" fmla="*/ 0 h 571074"/>
              <a:gd name="connsiteX115" fmla="*/ 35693 w 896246"/>
              <a:gd name="connsiteY115" fmla="*/ 0 h 571074"/>
              <a:gd name="connsiteX116" fmla="*/ 71386 w 896246"/>
              <a:gd name="connsiteY116" fmla="*/ 35769 h 571074"/>
              <a:gd name="connsiteX117" fmla="*/ 35693 w 896246"/>
              <a:gd name="connsiteY117" fmla="*/ 71538 h 571074"/>
              <a:gd name="connsiteX118" fmla="*/ 0 w 896246"/>
              <a:gd name="connsiteY118" fmla="*/ 35769 h 571074"/>
              <a:gd name="connsiteX119" fmla="*/ 35693 w 896246"/>
              <a:gd name="connsiteY119" fmla="*/ 0 h 571074"/>
            </a:gdLst>
            <a:ahLst/>
            <a:cxnLst/>
            <a:rect l="l" t="t" r="r" b="b"/>
            <a:pathLst>
              <a:path w="896246" h="571074">
                <a:moveTo>
                  <a:pt x="860553" y="499536"/>
                </a:moveTo>
                <a:cubicBezTo>
                  <a:pt x="880266" y="499536"/>
                  <a:pt x="896246" y="515550"/>
                  <a:pt x="896246" y="535305"/>
                </a:cubicBezTo>
                <a:cubicBezTo>
                  <a:pt x="896246" y="555060"/>
                  <a:pt x="880266" y="571074"/>
                  <a:pt x="860553" y="571074"/>
                </a:cubicBezTo>
                <a:cubicBezTo>
                  <a:pt x="840840" y="571074"/>
                  <a:pt x="824860" y="555060"/>
                  <a:pt x="824860" y="535305"/>
                </a:cubicBezTo>
                <a:cubicBezTo>
                  <a:pt x="824860" y="515550"/>
                  <a:pt x="840840" y="499536"/>
                  <a:pt x="860553" y="499536"/>
                </a:cubicBezTo>
                <a:close/>
                <a:moveTo>
                  <a:pt x="695581" y="499536"/>
                </a:moveTo>
                <a:cubicBezTo>
                  <a:pt x="715294" y="499536"/>
                  <a:pt x="731274" y="515550"/>
                  <a:pt x="731274" y="535305"/>
                </a:cubicBezTo>
                <a:cubicBezTo>
                  <a:pt x="731274" y="555060"/>
                  <a:pt x="715294" y="571074"/>
                  <a:pt x="695581" y="571074"/>
                </a:cubicBezTo>
                <a:cubicBezTo>
                  <a:pt x="675868" y="571074"/>
                  <a:pt x="659888" y="555060"/>
                  <a:pt x="659888" y="535305"/>
                </a:cubicBezTo>
                <a:cubicBezTo>
                  <a:pt x="659888" y="515550"/>
                  <a:pt x="675868" y="499536"/>
                  <a:pt x="695581" y="499536"/>
                </a:cubicBezTo>
                <a:close/>
                <a:moveTo>
                  <a:pt x="530609" y="499536"/>
                </a:moveTo>
                <a:cubicBezTo>
                  <a:pt x="550322" y="499536"/>
                  <a:pt x="566302" y="515550"/>
                  <a:pt x="566302" y="535305"/>
                </a:cubicBezTo>
                <a:cubicBezTo>
                  <a:pt x="566302" y="555060"/>
                  <a:pt x="550322" y="571074"/>
                  <a:pt x="530609" y="571074"/>
                </a:cubicBezTo>
                <a:cubicBezTo>
                  <a:pt x="510896" y="571074"/>
                  <a:pt x="494916" y="555060"/>
                  <a:pt x="494916" y="535305"/>
                </a:cubicBezTo>
                <a:cubicBezTo>
                  <a:pt x="494916" y="515550"/>
                  <a:pt x="510896" y="499536"/>
                  <a:pt x="530609" y="499536"/>
                </a:cubicBezTo>
                <a:close/>
                <a:moveTo>
                  <a:pt x="365637" y="499536"/>
                </a:moveTo>
                <a:cubicBezTo>
                  <a:pt x="385350" y="499536"/>
                  <a:pt x="401330" y="515550"/>
                  <a:pt x="401330" y="535305"/>
                </a:cubicBezTo>
                <a:cubicBezTo>
                  <a:pt x="401330" y="555060"/>
                  <a:pt x="385350" y="571074"/>
                  <a:pt x="365637" y="571074"/>
                </a:cubicBezTo>
                <a:cubicBezTo>
                  <a:pt x="345924" y="571074"/>
                  <a:pt x="329944" y="555060"/>
                  <a:pt x="329944" y="535305"/>
                </a:cubicBezTo>
                <a:cubicBezTo>
                  <a:pt x="329944" y="515550"/>
                  <a:pt x="345924" y="499536"/>
                  <a:pt x="365637" y="499536"/>
                </a:cubicBezTo>
                <a:close/>
                <a:moveTo>
                  <a:pt x="200665" y="499536"/>
                </a:moveTo>
                <a:cubicBezTo>
                  <a:pt x="220378" y="499536"/>
                  <a:pt x="236358" y="515550"/>
                  <a:pt x="236358" y="535305"/>
                </a:cubicBezTo>
                <a:cubicBezTo>
                  <a:pt x="236358" y="555060"/>
                  <a:pt x="220378" y="571074"/>
                  <a:pt x="200665" y="571074"/>
                </a:cubicBezTo>
                <a:cubicBezTo>
                  <a:pt x="180952" y="571074"/>
                  <a:pt x="164972" y="555060"/>
                  <a:pt x="164972" y="535305"/>
                </a:cubicBezTo>
                <a:cubicBezTo>
                  <a:pt x="164972" y="515550"/>
                  <a:pt x="180952" y="499536"/>
                  <a:pt x="200665" y="499536"/>
                </a:cubicBezTo>
                <a:close/>
                <a:moveTo>
                  <a:pt x="35693" y="499536"/>
                </a:moveTo>
                <a:cubicBezTo>
                  <a:pt x="55406" y="499536"/>
                  <a:pt x="71386" y="515550"/>
                  <a:pt x="71386" y="535305"/>
                </a:cubicBezTo>
                <a:cubicBezTo>
                  <a:pt x="71386" y="555060"/>
                  <a:pt x="55406" y="571074"/>
                  <a:pt x="35693" y="571074"/>
                </a:cubicBezTo>
                <a:cubicBezTo>
                  <a:pt x="15980" y="571074"/>
                  <a:pt x="0" y="555060"/>
                  <a:pt x="0" y="535305"/>
                </a:cubicBezTo>
                <a:cubicBezTo>
                  <a:pt x="0" y="515550"/>
                  <a:pt x="15980" y="499536"/>
                  <a:pt x="35693" y="499536"/>
                </a:cubicBezTo>
                <a:close/>
                <a:moveTo>
                  <a:pt x="860553" y="333024"/>
                </a:moveTo>
                <a:cubicBezTo>
                  <a:pt x="880266" y="333024"/>
                  <a:pt x="896246" y="349038"/>
                  <a:pt x="896246" y="368793"/>
                </a:cubicBezTo>
                <a:cubicBezTo>
                  <a:pt x="896246" y="388548"/>
                  <a:pt x="880266" y="404562"/>
                  <a:pt x="860553" y="404562"/>
                </a:cubicBezTo>
                <a:cubicBezTo>
                  <a:pt x="840840" y="404562"/>
                  <a:pt x="824860" y="388548"/>
                  <a:pt x="824860" y="368793"/>
                </a:cubicBezTo>
                <a:cubicBezTo>
                  <a:pt x="824860" y="349038"/>
                  <a:pt x="840840" y="333024"/>
                  <a:pt x="860553" y="333024"/>
                </a:cubicBezTo>
                <a:close/>
                <a:moveTo>
                  <a:pt x="695581" y="333024"/>
                </a:moveTo>
                <a:cubicBezTo>
                  <a:pt x="715294" y="333024"/>
                  <a:pt x="731274" y="349038"/>
                  <a:pt x="731274" y="368793"/>
                </a:cubicBezTo>
                <a:cubicBezTo>
                  <a:pt x="731274" y="388548"/>
                  <a:pt x="715294" y="404562"/>
                  <a:pt x="695581" y="404562"/>
                </a:cubicBezTo>
                <a:cubicBezTo>
                  <a:pt x="675868" y="404562"/>
                  <a:pt x="659888" y="388548"/>
                  <a:pt x="659888" y="368793"/>
                </a:cubicBezTo>
                <a:cubicBezTo>
                  <a:pt x="659888" y="349038"/>
                  <a:pt x="675868" y="333024"/>
                  <a:pt x="695581" y="333024"/>
                </a:cubicBezTo>
                <a:close/>
                <a:moveTo>
                  <a:pt x="530609" y="333024"/>
                </a:moveTo>
                <a:cubicBezTo>
                  <a:pt x="550322" y="333024"/>
                  <a:pt x="566302" y="349038"/>
                  <a:pt x="566302" y="368793"/>
                </a:cubicBezTo>
                <a:cubicBezTo>
                  <a:pt x="566302" y="388548"/>
                  <a:pt x="550322" y="404562"/>
                  <a:pt x="530609" y="404562"/>
                </a:cubicBezTo>
                <a:cubicBezTo>
                  <a:pt x="510896" y="404562"/>
                  <a:pt x="494916" y="388548"/>
                  <a:pt x="494916" y="368793"/>
                </a:cubicBezTo>
                <a:cubicBezTo>
                  <a:pt x="494916" y="349038"/>
                  <a:pt x="510896" y="333024"/>
                  <a:pt x="530609" y="333024"/>
                </a:cubicBezTo>
                <a:close/>
                <a:moveTo>
                  <a:pt x="365637" y="333024"/>
                </a:moveTo>
                <a:cubicBezTo>
                  <a:pt x="385350" y="333024"/>
                  <a:pt x="401330" y="349038"/>
                  <a:pt x="401330" y="368793"/>
                </a:cubicBezTo>
                <a:cubicBezTo>
                  <a:pt x="401330" y="388548"/>
                  <a:pt x="385350" y="404562"/>
                  <a:pt x="365637" y="404562"/>
                </a:cubicBezTo>
                <a:cubicBezTo>
                  <a:pt x="345924" y="404562"/>
                  <a:pt x="329944" y="388548"/>
                  <a:pt x="329944" y="368793"/>
                </a:cubicBezTo>
                <a:cubicBezTo>
                  <a:pt x="329944" y="349038"/>
                  <a:pt x="345924" y="333024"/>
                  <a:pt x="365637" y="333024"/>
                </a:cubicBezTo>
                <a:close/>
                <a:moveTo>
                  <a:pt x="200665" y="333024"/>
                </a:moveTo>
                <a:cubicBezTo>
                  <a:pt x="220378" y="333024"/>
                  <a:pt x="236358" y="349038"/>
                  <a:pt x="236358" y="368793"/>
                </a:cubicBezTo>
                <a:cubicBezTo>
                  <a:pt x="236358" y="388548"/>
                  <a:pt x="220378" y="404562"/>
                  <a:pt x="200665" y="404562"/>
                </a:cubicBezTo>
                <a:cubicBezTo>
                  <a:pt x="180952" y="404562"/>
                  <a:pt x="164972" y="388548"/>
                  <a:pt x="164972" y="368793"/>
                </a:cubicBezTo>
                <a:cubicBezTo>
                  <a:pt x="164972" y="349038"/>
                  <a:pt x="180952" y="333024"/>
                  <a:pt x="200665" y="333024"/>
                </a:cubicBezTo>
                <a:close/>
                <a:moveTo>
                  <a:pt x="35693" y="333024"/>
                </a:moveTo>
                <a:cubicBezTo>
                  <a:pt x="55406" y="333024"/>
                  <a:pt x="71386" y="349038"/>
                  <a:pt x="71386" y="368793"/>
                </a:cubicBezTo>
                <a:cubicBezTo>
                  <a:pt x="71386" y="388548"/>
                  <a:pt x="55406" y="404562"/>
                  <a:pt x="35693" y="404562"/>
                </a:cubicBezTo>
                <a:cubicBezTo>
                  <a:pt x="15980" y="404562"/>
                  <a:pt x="0" y="388548"/>
                  <a:pt x="0" y="368793"/>
                </a:cubicBezTo>
                <a:cubicBezTo>
                  <a:pt x="0" y="349038"/>
                  <a:pt x="15980" y="333024"/>
                  <a:pt x="35693" y="333024"/>
                </a:cubicBezTo>
                <a:close/>
                <a:moveTo>
                  <a:pt x="860553" y="166512"/>
                </a:moveTo>
                <a:cubicBezTo>
                  <a:pt x="880266" y="166512"/>
                  <a:pt x="896246" y="182526"/>
                  <a:pt x="896246" y="202281"/>
                </a:cubicBezTo>
                <a:cubicBezTo>
                  <a:pt x="896246" y="222036"/>
                  <a:pt x="880266" y="238050"/>
                  <a:pt x="860553" y="238050"/>
                </a:cubicBezTo>
                <a:cubicBezTo>
                  <a:pt x="840840" y="238050"/>
                  <a:pt x="824860" y="222036"/>
                  <a:pt x="824860" y="202281"/>
                </a:cubicBezTo>
                <a:cubicBezTo>
                  <a:pt x="824860" y="182526"/>
                  <a:pt x="840840" y="166512"/>
                  <a:pt x="860553" y="166512"/>
                </a:cubicBezTo>
                <a:close/>
                <a:moveTo>
                  <a:pt x="695581" y="166512"/>
                </a:moveTo>
                <a:cubicBezTo>
                  <a:pt x="715294" y="166512"/>
                  <a:pt x="731274" y="182526"/>
                  <a:pt x="731274" y="202281"/>
                </a:cubicBezTo>
                <a:cubicBezTo>
                  <a:pt x="731274" y="222036"/>
                  <a:pt x="715294" y="238050"/>
                  <a:pt x="695581" y="238050"/>
                </a:cubicBezTo>
                <a:cubicBezTo>
                  <a:pt x="675868" y="238050"/>
                  <a:pt x="659888" y="222036"/>
                  <a:pt x="659888" y="202281"/>
                </a:cubicBezTo>
                <a:cubicBezTo>
                  <a:pt x="659888" y="182526"/>
                  <a:pt x="675868" y="166512"/>
                  <a:pt x="695581" y="166512"/>
                </a:cubicBezTo>
                <a:close/>
                <a:moveTo>
                  <a:pt x="530609" y="166512"/>
                </a:moveTo>
                <a:cubicBezTo>
                  <a:pt x="550322" y="166512"/>
                  <a:pt x="566302" y="182526"/>
                  <a:pt x="566302" y="202281"/>
                </a:cubicBezTo>
                <a:cubicBezTo>
                  <a:pt x="566302" y="222036"/>
                  <a:pt x="550322" y="238050"/>
                  <a:pt x="530609" y="238050"/>
                </a:cubicBezTo>
                <a:cubicBezTo>
                  <a:pt x="510896" y="238050"/>
                  <a:pt x="494916" y="222036"/>
                  <a:pt x="494916" y="202281"/>
                </a:cubicBezTo>
                <a:cubicBezTo>
                  <a:pt x="494916" y="182526"/>
                  <a:pt x="510896" y="166512"/>
                  <a:pt x="530609" y="166512"/>
                </a:cubicBezTo>
                <a:close/>
                <a:moveTo>
                  <a:pt x="365637" y="166512"/>
                </a:moveTo>
                <a:cubicBezTo>
                  <a:pt x="385350" y="166512"/>
                  <a:pt x="401330" y="182526"/>
                  <a:pt x="401330" y="202281"/>
                </a:cubicBezTo>
                <a:cubicBezTo>
                  <a:pt x="401330" y="222036"/>
                  <a:pt x="385350" y="238050"/>
                  <a:pt x="365637" y="238050"/>
                </a:cubicBezTo>
                <a:cubicBezTo>
                  <a:pt x="345924" y="238050"/>
                  <a:pt x="329944" y="222036"/>
                  <a:pt x="329944" y="202281"/>
                </a:cubicBezTo>
                <a:cubicBezTo>
                  <a:pt x="329944" y="182526"/>
                  <a:pt x="345924" y="166512"/>
                  <a:pt x="365637" y="166512"/>
                </a:cubicBezTo>
                <a:close/>
                <a:moveTo>
                  <a:pt x="200665" y="166512"/>
                </a:moveTo>
                <a:cubicBezTo>
                  <a:pt x="220378" y="166512"/>
                  <a:pt x="236358" y="182526"/>
                  <a:pt x="236358" y="202281"/>
                </a:cubicBezTo>
                <a:cubicBezTo>
                  <a:pt x="236358" y="222036"/>
                  <a:pt x="220378" y="238050"/>
                  <a:pt x="200665" y="238050"/>
                </a:cubicBezTo>
                <a:cubicBezTo>
                  <a:pt x="180952" y="238050"/>
                  <a:pt x="164972" y="222036"/>
                  <a:pt x="164972" y="202281"/>
                </a:cubicBezTo>
                <a:cubicBezTo>
                  <a:pt x="164972" y="182526"/>
                  <a:pt x="180952" y="166512"/>
                  <a:pt x="200665" y="166512"/>
                </a:cubicBezTo>
                <a:close/>
                <a:moveTo>
                  <a:pt x="35693" y="166512"/>
                </a:moveTo>
                <a:cubicBezTo>
                  <a:pt x="55406" y="166512"/>
                  <a:pt x="71386" y="182526"/>
                  <a:pt x="71386" y="202281"/>
                </a:cubicBezTo>
                <a:cubicBezTo>
                  <a:pt x="71386" y="222036"/>
                  <a:pt x="55406" y="238050"/>
                  <a:pt x="35693" y="238050"/>
                </a:cubicBezTo>
                <a:cubicBezTo>
                  <a:pt x="15980" y="238050"/>
                  <a:pt x="0" y="222036"/>
                  <a:pt x="0" y="202281"/>
                </a:cubicBezTo>
                <a:cubicBezTo>
                  <a:pt x="0" y="182526"/>
                  <a:pt x="15980" y="166512"/>
                  <a:pt x="35693" y="166512"/>
                </a:cubicBezTo>
                <a:close/>
                <a:moveTo>
                  <a:pt x="860553" y="0"/>
                </a:moveTo>
                <a:cubicBezTo>
                  <a:pt x="880266" y="0"/>
                  <a:pt x="896246" y="16014"/>
                  <a:pt x="896246" y="35769"/>
                </a:cubicBezTo>
                <a:cubicBezTo>
                  <a:pt x="896246" y="55524"/>
                  <a:pt x="880266" y="71538"/>
                  <a:pt x="860553" y="71538"/>
                </a:cubicBezTo>
                <a:cubicBezTo>
                  <a:pt x="840840" y="71538"/>
                  <a:pt x="824860" y="55524"/>
                  <a:pt x="824860" y="35769"/>
                </a:cubicBezTo>
                <a:cubicBezTo>
                  <a:pt x="824860" y="16014"/>
                  <a:pt x="840840" y="0"/>
                  <a:pt x="860553" y="0"/>
                </a:cubicBezTo>
                <a:close/>
                <a:moveTo>
                  <a:pt x="695581" y="0"/>
                </a:moveTo>
                <a:cubicBezTo>
                  <a:pt x="715294" y="0"/>
                  <a:pt x="731274" y="16014"/>
                  <a:pt x="731274" y="35769"/>
                </a:cubicBezTo>
                <a:cubicBezTo>
                  <a:pt x="731274" y="55524"/>
                  <a:pt x="715294" y="71538"/>
                  <a:pt x="695581" y="71538"/>
                </a:cubicBezTo>
                <a:cubicBezTo>
                  <a:pt x="675868" y="71538"/>
                  <a:pt x="659888" y="55524"/>
                  <a:pt x="659888" y="35769"/>
                </a:cubicBezTo>
                <a:cubicBezTo>
                  <a:pt x="659888" y="16014"/>
                  <a:pt x="675868" y="0"/>
                  <a:pt x="695581" y="0"/>
                </a:cubicBezTo>
                <a:close/>
                <a:moveTo>
                  <a:pt x="530609" y="0"/>
                </a:moveTo>
                <a:cubicBezTo>
                  <a:pt x="550322" y="0"/>
                  <a:pt x="566302" y="16014"/>
                  <a:pt x="566302" y="35769"/>
                </a:cubicBezTo>
                <a:cubicBezTo>
                  <a:pt x="566302" y="55524"/>
                  <a:pt x="550322" y="71538"/>
                  <a:pt x="530609" y="71538"/>
                </a:cubicBezTo>
                <a:cubicBezTo>
                  <a:pt x="510896" y="71538"/>
                  <a:pt x="494916" y="55524"/>
                  <a:pt x="494916" y="35769"/>
                </a:cubicBezTo>
                <a:cubicBezTo>
                  <a:pt x="494916" y="16014"/>
                  <a:pt x="510896" y="0"/>
                  <a:pt x="530609" y="0"/>
                </a:cubicBezTo>
                <a:close/>
                <a:moveTo>
                  <a:pt x="365637" y="0"/>
                </a:moveTo>
                <a:cubicBezTo>
                  <a:pt x="385350" y="0"/>
                  <a:pt x="401330" y="16014"/>
                  <a:pt x="401330" y="35769"/>
                </a:cubicBezTo>
                <a:cubicBezTo>
                  <a:pt x="401330" y="55524"/>
                  <a:pt x="385350" y="71538"/>
                  <a:pt x="365637" y="71538"/>
                </a:cubicBezTo>
                <a:cubicBezTo>
                  <a:pt x="345924" y="71538"/>
                  <a:pt x="329944" y="55524"/>
                  <a:pt x="329944" y="35769"/>
                </a:cubicBezTo>
                <a:cubicBezTo>
                  <a:pt x="329944" y="16014"/>
                  <a:pt x="345924" y="0"/>
                  <a:pt x="365637" y="0"/>
                </a:cubicBezTo>
                <a:close/>
                <a:moveTo>
                  <a:pt x="200665" y="0"/>
                </a:moveTo>
                <a:cubicBezTo>
                  <a:pt x="220378" y="0"/>
                  <a:pt x="236358" y="16014"/>
                  <a:pt x="236358" y="35769"/>
                </a:cubicBezTo>
                <a:cubicBezTo>
                  <a:pt x="236358" y="55524"/>
                  <a:pt x="220378" y="71538"/>
                  <a:pt x="200665" y="71538"/>
                </a:cubicBezTo>
                <a:cubicBezTo>
                  <a:pt x="180952" y="71538"/>
                  <a:pt x="164972" y="55524"/>
                  <a:pt x="164972" y="35769"/>
                </a:cubicBezTo>
                <a:cubicBezTo>
                  <a:pt x="164972" y="16014"/>
                  <a:pt x="180952" y="0"/>
                  <a:pt x="200665" y="0"/>
                </a:cubicBezTo>
                <a:close/>
                <a:moveTo>
                  <a:pt x="35693" y="0"/>
                </a:moveTo>
                <a:cubicBezTo>
                  <a:pt x="55406" y="0"/>
                  <a:pt x="71386" y="16014"/>
                  <a:pt x="71386" y="35769"/>
                </a:cubicBezTo>
                <a:cubicBezTo>
                  <a:pt x="71386" y="55524"/>
                  <a:pt x="55406" y="71538"/>
                  <a:pt x="35693" y="71538"/>
                </a:cubicBezTo>
                <a:cubicBezTo>
                  <a:pt x="15980" y="71538"/>
                  <a:pt x="0" y="55524"/>
                  <a:pt x="0" y="35769"/>
                </a:cubicBezTo>
                <a:cubicBezTo>
                  <a:pt x="0" y="16014"/>
                  <a:pt x="15980" y="0"/>
                  <a:pt x="35693" y="0"/>
                </a:cubicBezTo>
                <a:close/>
              </a:path>
            </a:pathLst>
          </a:custGeom>
          <a:solidFill>
            <a:schemeClr val="accent1">
              <a:alpha val="53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2861468" y="1001102"/>
            <a:ext cx="3393945" cy="45719"/>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flipH="1">
            <a:off x="4185381" y="3986456"/>
            <a:ext cx="1077549" cy="166303"/>
          </a:xfrm>
          <a:custGeom>
            <a:avLst/>
            <a:gdLst>
              <a:gd name="connsiteX0" fmla="*/ 123233 w 1077549"/>
              <a:gd name="connsiteY0" fmla="*/ 0 h 166303"/>
              <a:gd name="connsiteX1" fmla="*/ 44332 w 1077549"/>
              <a:gd name="connsiteY1" fmla="*/ 0 h 166303"/>
              <a:gd name="connsiteX2" fmla="*/ 0 w 1077549"/>
              <a:gd name="connsiteY2" fmla="*/ 166303 h 166303"/>
              <a:gd name="connsiteX3" fmla="*/ 78901 w 1077549"/>
              <a:gd name="connsiteY3" fmla="*/ 166303 h 166303"/>
              <a:gd name="connsiteX4" fmla="*/ 361812 w 1077549"/>
              <a:gd name="connsiteY4" fmla="*/ 0 h 166303"/>
              <a:gd name="connsiteX5" fmla="*/ 282911 w 1077549"/>
              <a:gd name="connsiteY5" fmla="*/ 0 h 166303"/>
              <a:gd name="connsiteX6" fmla="*/ 238579 w 1077549"/>
              <a:gd name="connsiteY6" fmla="*/ 166303 h 166303"/>
              <a:gd name="connsiteX7" fmla="*/ 317480 w 1077549"/>
              <a:gd name="connsiteY7" fmla="*/ 166303 h 166303"/>
              <a:gd name="connsiteX8" fmla="*/ 600391 w 1077549"/>
              <a:gd name="connsiteY8" fmla="*/ 0 h 166303"/>
              <a:gd name="connsiteX9" fmla="*/ 521490 w 1077549"/>
              <a:gd name="connsiteY9" fmla="*/ 0 h 166303"/>
              <a:gd name="connsiteX10" fmla="*/ 477158 w 1077549"/>
              <a:gd name="connsiteY10" fmla="*/ 166303 h 166303"/>
              <a:gd name="connsiteX11" fmla="*/ 556059 w 1077549"/>
              <a:gd name="connsiteY11" fmla="*/ 166303 h 166303"/>
              <a:gd name="connsiteX12" fmla="*/ 838970 w 1077549"/>
              <a:gd name="connsiteY12" fmla="*/ 0 h 166303"/>
              <a:gd name="connsiteX13" fmla="*/ 760069 w 1077549"/>
              <a:gd name="connsiteY13" fmla="*/ 0 h 166303"/>
              <a:gd name="connsiteX14" fmla="*/ 715737 w 1077549"/>
              <a:gd name="connsiteY14" fmla="*/ 166303 h 166303"/>
              <a:gd name="connsiteX15" fmla="*/ 794638 w 1077549"/>
              <a:gd name="connsiteY15" fmla="*/ 166303 h 166303"/>
              <a:gd name="connsiteX16" fmla="*/ 1077549 w 1077549"/>
              <a:gd name="connsiteY16" fmla="*/ 0 h 166303"/>
              <a:gd name="connsiteX17" fmla="*/ 998648 w 1077549"/>
              <a:gd name="connsiteY17" fmla="*/ 0 h 166303"/>
              <a:gd name="connsiteX18" fmla="*/ 954316 w 1077549"/>
              <a:gd name="connsiteY18" fmla="*/ 166303 h 166303"/>
              <a:gd name="connsiteX19" fmla="*/ 1033217 w 1077549"/>
              <a:gd name="connsiteY19" fmla="*/ 166303 h 166303"/>
            </a:gdLst>
            <a:ahLst/>
            <a:cxnLst/>
            <a:rect l="l" t="t" r="r" b="b"/>
            <a:pathLst>
              <a:path w="1077549" h="166303">
                <a:moveTo>
                  <a:pt x="123233" y="0"/>
                </a:moveTo>
                <a:lnTo>
                  <a:pt x="44332" y="0"/>
                </a:lnTo>
                <a:lnTo>
                  <a:pt x="0" y="166303"/>
                </a:lnTo>
                <a:lnTo>
                  <a:pt x="78901" y="166303"/>
                </a:lnTo>
                <a:close/>
                <a:moveTo>
                  <a:pt x="361812" y="0"/>
                </a:moveTo>
                <a:lnTo>
                  <a:pt x="282911" y="0"/>
                </a:lnTo>
                <a:lnTo>
                  <a:pt x="238579" y="166303"/>
                </a:lnTo>
                <a:lnTo>
                  <a:pt x="317480" y="166303"/>
                </a:lnTo>
                <a:close/>
                <a:moveTo>
                  <a:pt x="600391" y="0"/>
                </a:moveTo>
                <a:lnTo>
                  <a:pt x="521490" y="0"/>
                </a:lnTo>
                <a:lnTo>
                  <a:pt x="477158" y="166303"/>
                </a:lnTo>
                <a:lnTo>
                  <a:pt x="556059" y="166303"/>
                </a:lnTo>
                <a:close/>
                <a:moveTo>
                  <a:pt x="838970" y="0"/>
                </a:moveTo>
                <a:lnTo>
                  <a:pt x="760069" y="0"/>
                </a:lnTo>
                <a:lnTo>
                  <a:pt x="715737" y="166303"/>
                </a:lnTo>
                <a:lnTo>
                  <a:pt x="794638" y="166303"/>
                </a:lnTo>
                <a:close/>
                <a:moveTo>
                  <a:pt x="1077549" y="0"/>
                </a:moveTo>
                <a:lnTo>
                  <a:pt x="998648" y="0"/>
                </a:lnTo>
                <a:lnTo>
                  <a:pt x="954316" y="166303"/>
                </a:lnTo>
                <a:lnTo>
                  <a:pt x="1033217" y="166303"/>
                </a:lnTo>
                <a:close/>
              </a:path>
            </a:pathLst>
          </a:custGeom>
          <a:solidFill>
            <a:schemeClr val="accent2">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722630" y="2086669"/>
            <a:ext cx="5663948" cy="1597125"/>
          </a:xfrm>
          <a:prstGeom prst="rect">
            <a:avLst/>
          </a:prstGeom>
          <a:noFill/>
          <a:ln>
            <a:noFill/>
          </a:ln>
        </p:spPr>
        <p:txBody>
          <a:bodyPr vert="horz" wrap="square" lIns="0" tIns="0" rIns="0" bIns="0" rtlCol="0" anchor="t"/>
          <a:lstStyle/>
          <a:p>
            <a:pPr algn="l">
              <a:lnSpc>
                <a:spcPct val="130000"/>
              </a:lnSpc>
            </a:pPr>
            <a:r>
              <a:rPr kumimoji="1" lang="en-US" altLang="zh-CN" sz="4700">
                <a:ln w="12700">
                  <a:noFill/>
                </a:ln>
                <a:solidFill>
                  <a:srgbClr val="0451C5">
                    <a:alpha val="100000"/>
                  </a:srgbClr>
                </a:solidFill>
                <a:latin typeface="Source Han Sans CN Bold Bold"/>
                <a:ea typeface="Source Han Sans CN Bold Bold"/>
                <a:cs typeface="Source Han Sans CN Bold Bold"/>
              </a:rPr>
              <a:t>谢谢大家</a:t>
            </a:r>
            <a:endParaRPr kumimoji="1" lang="zh-CN" altLang="en-US"/>
          </a:p>
        </p:txBody>
      </p:sp>
      <p:sp>
        <p:nvSpPr>
          <p:cNvPr id="22" name="标题 1"/>
          <p:cNvSpPr txBox="1"/>
          <p:nvPr/>
        </p:nvSpPr>
        <p:spPr>
          <a:xfrm>
            <a:off x="1175267" y="4854572"/>
            <a:ext cx="899351" cy="280759"/>
          </a:xfrm>
          <a:prstGeom prst="rect">
            <a:avLst/>
          </a:prstGeom>
          <a:noFill/>
          <a:ln>
            <a:noFill/>
          </a:ln>
        </p:spPr>
        <p:txBody>
          <a:bodyPr vert="horz" wrap="square" lIns="0" tIns="0" rIns="0" bIns="0" rtlCol="0" anchor="ctr"/>
          <a:lstStyle/>
          <a:p>
            <a:pPr algn="l">
              <a:lnSpc>
                <a:spcPct val="110000"/>
              </a:lnSpc>
            </a:pPr>
            <a:r>
              <a:rPr kumimoji="1" lang="en-US" altLang="zh-CN" sz="1400">
                <a:ln w="12700">
                  <a:noFill/>
                </a:ln>
                <a:solidFill>
                  <a:srgbClr val="FFFFFF">
                    <a:alpha val="100000"/>
                  </a:srgbClr>
                </a:solidFill>
                <a:latin typeface="Source Han Sans CN Normal"/>
                <a:ea typeface="Source Han Sans CN Normal"/>
                <a:cs typeface="Source Han Sans CN Normal"/>
              </a:rPr>
              <a:t>团队编号：</a:t>
            </a:r>
            <a:endParaRPr kumimoji="1" lang="zh-CN" altLang="en-US"/>
          </a:p>
        </p:txBody>
      </p:sp>
      <p:sp>
        <p:nvSpPr>
          <p:cNvPr id="23" name="标题 1"/>
          <p:cNvSpPr txBox="1"/>
          <p:nvPr/>
        </p:nvSpPr>
        <p:spPr>
          <a:xfrm>
            <a:off x="1998418" y="4854572"/>
            <a:ext cx="971952" cy="280759"/>
          </a:xfrm>
          <a:prstGeom prst="rect">
            <a:avLst/>
          </a:prstGeom>
          <a:noFill/>
          <a:ln>
            <a:noFill/>
          </a:ln>
        </p:spPr>
        <p:txBody>
          <a:bodyPr vert="horz" wrap="square" lIns="0" tIns="0" rIns="0" bIns="0" rtlCol="0" anchor="ctr"/>
          <a:lstStyle/>
          <a:p>
            <a:pPr algn="l">
              <a:lnSpc>
                <a:spcPct val="110000"/>
              </a:lnSpc>
            </a:pPr>
            <a:r>
              <a:rPr kumimoji="1" lang="en-US" altLang="zh-CN" sz="1700">
                <a:ln w="12700">
                  <a:noFill/>
                </a:ln>
                <a:solidFill>
                  <a:srgbClr val="FFFFFF">
                    <a:alpha val="100000"/>
                  </a:srgbClr>
                </a:solidFill>
                <a:latin typeface="Source Han Sans CN Normal"/>
                <a:ea typeface="Source Han Sans CN Normal"/>
                <a:cs typeface="Source Han Sans CN Normal"/>
              </a:rPr>
              <a:t>T2402057</a:t>
            </a:r>
            <a:endParaRPr kumimoji="1" lang="zh-CN" altLang="en-US"/>
          </a:p>
        </p:txBody>
      </p:sp>
      <p:sp>
        <p:nvSpPr>
          <p:cNvPr id="24" name="标题 1"/>
          <p:cNvSpPr txBox="1"/>
          <p:nvPr/>
        </p:nvSpPr>
        <p:spPr>
          <a:xfrm>
            <a:off x="4066806" y="4863992"/>
            <a:ext cx="679552" cy="261918"/>
          </a:xfrm>
          <a:prstGeom prst="rect">
            <a:avLst/>
          </a:prstGeom>
          <a:noFill/>
          <a:ln>
            <a:noFill/>
          </a:ln>
        </p:spPr>
        <p:txBody>
          <a:bodyPr vert="horz" wrap="square" lIns="0" tIns="0" rIns="0" bIns="0" rtlCol="0" anchor="ctr"/>
          <a:lstStyle/>
          <a:p>
            <a:pPr algn="l">
              <a:lnSpc>
                <a:spcPct val="110000"/>
              </a:lnSpc>
            </a:pPr>
            <a:r>
              <a:rPr kumimoji="1" lang="en-US" altLang="zh-CN" sz="1700">
                <a:ln w="12700">
                  <a:noFill/>
                </a:ln>
                <a:solidFill>
                  <a:srgbClr val="FFFFFF">
                    <a:alpha val="100000"/>
                  </a:srgbClr>
                </a:solidFill>
                <a:latin typeface="Source Han Sans CN Normal"/>
                <a:ea typeface="Source Han Sans CN Normal"/>
                <a:cs typeface="Source Han Sans CN Normal"/>
              </a:rPr>
              <a:t>时间：</a:t>
            </a:r>
            <a:endParaRPr kumimoji="1" lang="zh-CN" altLang="en-US"/>
          </a:p>
        </p:txBody>
      </p:sp>
      <p:sp>
        <p:nvSpPr>
          <p:cNvPr id="25" name="标题 1"/>
          <p:cNvSpPr txBox="1"/>
          <p:nvPr/>
        </p:nvSpPr>
        <p:spPr>
          <a:xfrm>
            <a:off x="4750545" y="4863992"/>
            <a:ext cx="742969" cy="261918"/>
          </a:xfrm>
          <a:prstGeom prst="rect">
            <a:avLst/>
          </a:prstGeom>
          <a:noFill/>
          <a:ln>
            <a:noFill/>
          </a:ln>
        </p:spPr>
        <p:txBody>
          <a:bodyPr vert="horz" wrap="square" lIns="0" tIns="0" rIns="0" bIns="0" rtlCol="0" anchor="ctr"/>
          <a:lstStyle/>
          <a:p>
            <a:pPr algn="l">
              <a:lnSpc>
                <a:spcPct val="110000"/>
              </a:lnSpc>
            </a:pPr>
            <a:r>
              <a:rPr kumimoji="1" lang="en-US" altLang="zh-CN" sz="1700">
                <a:ln w="12700">
                  <a:noFill/>
                </a:ln>
                <a:solidFill>
                  <a:srgbClr val="FFFFFF">
                    <a:alpha val="100000"/>
                  </a:srgbClr>
                </a:solidFill>
                <a:latin typeface="Source Han Sans CN Normal"/>
                <a:ea typeface="Source Han Sans CN Normal"/>
                <a:cs typeface="Source Han Sans CN Normal"/>
              </a:rPr>
              <a:t>2025.4</a:t>
            </a:r>
            <a:endParaRPr kumimoji="1" lang="zh-CN" altLang="en-US"/>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0F1423"/>
      </a:dk2>
      <a:lt2>
        <a:srgbClr val="FFFFFF"/>
      </a:lt2>
      <a:accent1>
        <a:srgbClr val="0451C5"/>
      </a:accent1>
      <a:accent2>
        <a:srgbClr val="428A33"/>
      </a:accent2>
      <a:accent3>
        <a:srgbClr val="0451C5"/>
      </a:accent3>
      <a:accent4>
        <a:srgbClr val="428A33"/>
      </a:accent4>
      <a:accent5>
        <a:srgbClr val="0451C5"/>
      </a:accent5>
      <a:accent6>
        <a:srgbClr val="428A33"/>
      </a:accent6>
      <a:hlink>
        <a:srgbClr val="0026E5"/>
      </a:hlink>
      <a:folHlink>
        <a:srgbClr val="7E1FAD"/>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4869</Words>
  <Application>Microsoft Office PowerPoint</Application>
  <PresentationFormat>宽屏</PresentationFormat>
  <Paragraphs>143</Paragraphs>
  <Slides>19</Slides>
  <Notes>19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Source Han Sans CN Bold Bold</vt:lpstr>
      <vt:lpstr>OPPOSans H</vt:lpstr>
      <vt:lpstr>Cambria Math</vt:lpstr>
      <vt:lpstr>Arial</vt:lpstr>
      <vt:lpstr>HelloFont WenYiHei</vt:lpstr>
      <vt:lpstr>OPPOSans B</vt:lpstr>
      <vt:lpstr>Source Han Sans CN Normal</vt:lpstr>
      <vt:lpstr>Inter</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dechao Liu</cp:lastModifiedBy>
  <cp:revision>15</cp:revision>
  <dcterms:modified xsi:type="dcterms:W3CDTF">2025-04-16T12:01:09Z</dcterms:modified>
</cp:coreProperties>
</file>